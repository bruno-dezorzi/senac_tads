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2" r:id="rId2"/>
    <p:sldId id="291" r:id="rId3"/>
    <p:sldId id="292" r:id="rId4"/>
    <p:sldId id="293" r:id="rId5"/>
    <p:sldId id="309" r:id="rId6"/>
    <p:sldId id="31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271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074087B3-BF74-45E8-8484-F7B34847A730}"/>
    <pc:docChg chg="custSel addSld delSld modSld">
      <pc:chgData name="matheus raffael simon" userId="b81fe4e685964744" providerId="LiveId" clId="{074087B3-BF74-45E8-8484-F7B34847A730}" dt="2024-08-26T22:16:32.440" v="43" actId="47"/>
      <pc:docMkLst>
        <pc:docMk/>
      </pc:docMkLst>
      <pc:sldChg chg="del">
        <pc:chgData name="matheus raffael simon" userId="b81fe4e685964744" providerId="LiveId" clId="{074087B3-BF74-45E8-8484-F7B34847A730}" dt="2024-08-26T22:16:32.440" v="43" actId="47"/>
        <pc:sldMkLst>
          <pc:docMk/>
          <pc:sldMk cId="4247130675" sldId="258"/>
        </pc:sldMkLst>
      </pc:sldChg>
      <pc:sldChg chg="addSp delSp modSp add mod">
        <pc:chgData name="matheus raffael simon" userId="b81fe4e685964744" providerId="LiveId" clId="{074087B3-BF74-45E8-8484-F7B34847A730}" dt="2024-08-26T22:14:27.469" v="39" actId="20577"/>
        <pc:sldMkLst>
          <pc:docMk/>
          <pc:sldMk cId="2679711177" sldId="309"/>
        </pc:sldMkLst>
      </pc:sldChg>
      <pc:sldChg chg="add del">
        <pc:chgData name="matheus raffael simon" userId="b81fe4e685964744" providerId="LiveId" clId="{074087B3-BF74-45E8-8484-F7B34847A730}" dt="2024-08-26T22:16:23.658" v="41"/>
        <pc:sldMkLst>
          <pc:docMk/>
          <pc:sldMk cId="1839132641" sldId="310"/>
        </pc:sldMkLst>
      </pc:sldChg>
      <pc:sldChg chg="add">
        <pc:chgData name="matheus raffael simon" userId="b81fe4e685964744" providerId="LiveId" clId="{074087B3-BF74-45E8-8484-F7B34847A730}" dt="2024-08-26T22:16:29.910" v="42"/>
        <pc:sldMkLst>
          <pc:docMk/>
          <pc:sldMk cId="2136392277" sldId="312"/>
        </pc:sldMkLst>
      </pc:sldChg>
    </pc:docChg>
  </pc:docChgLst>
  <pc:docChgLst>
    <pc:chgData name="matheus raffael simon" userId="b81fe4e685964744" providerId="LiveId" clId="{DF2B6EE0-4260-4309-A092-44F9CB5049A0}"/>
    <pc:docChg chg="addSld modSld sldOrd">
      <pc:chgData name="matheus raffael simon" userId="b81fe4e685964744" providerId="LiveId" clId="{DF2B6EE0-4260-4309-A092-44F9CB5049A0}" dt="2025-03-17T19:04:40.965" v="88" actId="20577"/>
      <pc:docMkLst>
        <pc:docMk/>
      </pc:docMkLst>
      <pc:sldChg chg="modSp add mod ord">
        <pc:chgData name="matheus raffael simon" userId="b81fe4e685964744" providerId="LiveId" clId="{DF2B6EE0-4260-4309-A092-44F9CB5049A0}" dt="2025-03-17T19:04:40.965" v="88" actId="20577"/>
        <pc:sldMkLst>
          <pc:docMk/>
          <pc:sldMk cId="3260305737" sldId="313"/>
        </pc:sldMkLst>
        <pc:spChg chg="mod">
          <ac:chgData name="matheus raffael simon" userId="b81fe4e685964744" providerId="LiveId" clId="{DF2B6EE0-4260-4309-A092-44F9CB5049A0}" dt="2025-03-17T19:03:51.588" v="25" actId="20577"/>
          <ac:spMkLst>
            <pc:docMk/>
            <pc:sldMk cId="3260305737" sldId="313"/>
            <ac:spMk id="2" creationId="{F6373A36-4D76-E067-D1B0-586E015FF630}"/>
          </ac:spMkLst>
        </pc:spChg>
        <pc:spChg chg="mod">
          <ac:chgData name="matheus raffael simon" userId="b81fe4e685964744" providerId="LiveId" clId="{DF2B6EE0-4260-4309-A092-44F9CB5049A0}" dt="2025-03-17T19:04:40.965" v="88" actId="20577"/>
          <ac:spMkLst>
            <pc:docMk/>
            <pc:sldMk cId="3260305737" sldId="313"/>
            <ac:spMk id="3" creationId="{12DDD5B7-3538-CD77-5DD9-F6971969533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50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49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08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263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338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0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483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45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366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115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02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786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9" y="297480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09"/>
            <a:ext cx="11679810" cy="728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 dirty="0"/>
              <a:t>BANCO DE DADOS II</a:t>
            </a: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7" y="5142306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213639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BANCOS DE DADOS ATIVOS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Um banco de dados é ativo quando eventos gerados interna ou externamente ao sistema provocam uma resposta do próprio banco de dados (BD), independente da solicitação do usuário. Neste caso, alguma ação é tomada automaticamente dependendo das condições que foram especificadas sobre o estado do banco de dados. Este paradigma é útil para implementar várias funções do próprio banco de dados ou mesmo para estendê-las.</a:t>
            </a:r>
          </a:p>
          <a:p>
            <a:r>
              <a:rPr lang="pt-BR" dirty="0"/>
              <a:t>Alguns exemplos de aplicações são: controle de integridade, controle de acesso, políticas de segurança e atualização.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28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BANCOS DE DADOS ATIVOS</a:t>
            </a:r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7316" y="1415577"/>
            <a:ext cx="7580328" cy="4956155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1545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TRIGGER PROCEDURES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É possível definir para ativar comportamentos específicos quando há mudança nos dados ou eventos no banco de dados.</a:t>
            </a:r>
          </a:p>
          <a:p>
            <a:r>
              <a:rPr lang="pt-BR" dirty="0"/>
              <a:t>Uma TRIGGER é criada no </a:t>
            </a:r>
            <a:r>
              <a:rPr lang="pt-BR" dirty="0" err="1"/>
              <a:t>postgreSQL</a:t>
            </a:r>
            <a:r>
              <a:rPr lang="pt-BR" dirty="0"/>
              <a:t> através do comando:</a:t>
            </a:r>
          </a:p>
          <a:p>
            <a:r>
              <a:rPr lang="pt-BR" dirty="0"/>
              <a:t>CREATE FUNCTION</a:t>
            </a:r>
          </a:p>
          <a:p>
            <a:r>
              <a:rPr lang="pt-BR" dirty="0"/>
              <a:t>Sem argumentos</a:t>
            </a:r>
          </a:p>
          <a:p>
            <a:r>
              <a:rPr lang="pt-BR" dirty="0"/>
              <a:t>Tipo de retorno: trigger ou </a:t>
            </a:r>
            <a:r>
              <a:rPr lang="pt-BR" dirty="0" err="1"/>
              <a:t>event_trigger</a:t>
            </a:r>
            <a:endParaRPr lang="pt-BR" dirty="0"/>
          </a:p>
          <a:p>
            <a:r>
              <a:rPr lang="pt-BR" dirty="0"/>
              <a:t>A função deve retornar:</a:t>
            </a:r>
          </a:p>
          <a:p>
            <a:r>
              <a:rPr lang="pt-BR" dirty="0"/>
              <a:t>NULL</a:t>
            </a:r>
          </a:p>
          <a:p>
            <a:r>
              <a:rPr lang="pt-BR" dirty="0"/>
              <a:t>Uma linha tendo exatamente a estrutura da tabela 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5557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TRIGGER PROCEDURES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“Trigger” - Michel Jackson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Pessoas no palco iluminado tocando instrumentos e cantando&#10;&#10;Descrição gerada automaticamente com confiança média">
            <a:extLst>
              <a:ext uri="{FF2B5EF4-FFF2-40B4-BE49-F238E27FC236}">
                <a16:creationId xmlns:a16="http://schemas.microsoft.com/office/drawing/2014/main" id="{18E04046-8595-5476-A691-CFDEDA7AB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585" y="2821114"/>
            <a:ext cx="4374830" cy="326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11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052DD-3F63-ED13-D923-388AAE19F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5F2C1166-A283-807F-BE98-D3A86EB8B00D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373A36-4D76-E067-D1B0-586E015F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Antes dos exemplos...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DDD5B7-3538-CD77-5DD9-F69719695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Crie a tabela ator com id e nome. </a:t>
            </a:r>
          </a:p>
          <a:p>
            <a:r>
              <a:rPr lang="pt-BR" dirty="0"/>
              <a:t>Insira 5 registros.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DC1DC23-F22F-CFAB-0389-040EBBC01DA9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30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TRIGGER POR MUDANÇA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rgbClr val="FF0000"/>
                </a:solidFill>
              </a:rPr>
              <a:t>alter table </a:t>
            </a:r>
            <a:r>
              <a:rPr lang="en-US" dirty="0" err="1">
                <a:solidFill>
                  <a:srgbClr val="FF0000"/>
                </a:solidFill>
              </a:rPr>
              <a:t>ator</a:t>
            </a:r>
            <a:r>
              <a:rPr lang="en-US" dirty="0">
                <a:solidFill>
                  <a:srgbClr val="FF0000"/>
                </a:solidFill>
              </a:rPr>
              <a:t> add column </a:t>
            </a:r>
            <a:r>
              <a:rPr lang="en-US" dirty="0" err="1">
                <a:solidFill>
                  <a:srgbClr val="FF0000"/>
                </a:solidFill>
              </a:rPr>
              <a:t>ultima_atualizacao</a:t>
            </a:r>
            <a:r>
              <a:rPr lang="en-US" dirty="0">
                <a:solidFill>
                  <a:srgbClr val="FF0000"/>
                </a:solidFill>
              </a:rPr>
              <a:t> Timestamp with Time Zone</a:t>
            </a:r>
          </a:p>
          <a:p>
            <a:pPr algn="ctr"/>
            <a:r>
              <a:rPr lang="en-US" dirty="0"/>
              <a:t>CREATE OR REPLACE FUNCTION </a:t>
            </a:r>
            <a:r>
              <a:rPr lang="en-US" dirty="0" err="1"/>
              <a:t>log_ator</a:t>
            </a:r>
            <a:r>
              <a:rPr lang="en-US" dirty="0"/>
              <a:t>()</a:t>
            </a:r>
          </a:p>
          <a:p>
            <a:pPr marL="0" indent="0" algn="ctr">
              <a:buNone/>
            </a:pPr>
            <a:r>
              <a:rPr lang="en-US" dirty="0"/>
              <a:t>RETURNS </a:t>
            </a:r>
            <a:r>
              <a:rPr lang="en-US" dirty="0">
                <a:solidFill>
                  <a:srgbClr val="FF0000"/>
                </a:solidFill>
              </a:rPr>
              <a:t>trigger</a:t>
            </a:r>
            <a:r>
              <a:rPr lang="en-US" dirty="0"/>
              <a:t> AS $$</a:t>
            </a:r>
          </a:p>
          <a:p>
            <a:pPr marL="0" indent="0" algn="ctr">
              <a:buNone/>
            </a:pPr>
            <a:r>
              <a:rPr lang="en-US" dirty="0"/>
              <a:t>BEGIN</a:t>
            </a:r>
          </a:p>
          <a:p>
            <a:pPr marL="0" indent="0" algn="ctr">
              <a:buNone/>
            </a:pPr>
            <a:r>
              <a:rPr lang="en-US" dirty="0"/>
              <a:t>UPDATE </a:t>
            </a:r>
            <a:r>
              <a:rPr lang="en-US" dirty="0" err="1"/>
              <a:t>ator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SET </a:t>
            </a:r>
            <a:r>
              <a:rPr lang="en-US" dirty="0" err="1"/>
              <a:t>ultima_atualizacao</a:t>
            </a:r>
            <a:r>
              <a:rPr lang="en-US" dirty="0"/>
              <a:t> = now()</a:t>
            </a:r>
          </a:p>
          <a:p>
            <a:pPr marL="0" indent="0" algn="ctr">
              <a:buNone/>
            </a:pPr>
            <a:r>
              <a:rPr lang="en-US" dirty="0"/>
              <a:t>WHERE </a:t>
            </a:r>
            <a:r>
              <a:rPr lang="en-US" dirty="0" err="1"/>
              <a:t>idator</a:t>
            </a:r>
            <a:r>
              <a:rPr lang="en-US" dirty="0"/>
              <a:t> = </a:t>
            </a:r>
            <a:r>
              <a:rPr lang="en-US" dirty="0" err="1">
                <a:solidFill>
                  <a:srgbClr val="FF0000"/>
                </a:solidFill>
              </a:rPr>
              <a:t>NEW.idator</a:t>
            </a:r>
            <a:r>
              <a:rPr lang="en-US" dirty="0"/>
              <a:t>;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RETURN NEW</a:t>
            </a:r>
            <a:r>
              <a:rPr lang="en-US" dirty="0"/>
              <a:t>;</a:t>
            </a:r>
          </a:p>
          <a:p>
            <a:pPr marL="0" indent="0" algn="ctr">
              <a:buNone/>
            </a:pPr>
            <a:r>
              <a:rPr lang="en-US" dirty="0"/>
              <a:t>END;</a:t>
            </a:r>
          </a:p>
          <a:p>
            <a:pPr marL="0" indent="0" algn="ctr">
              <a:buNone/>
            </a:pPr>
            <a:r>
              <a:rPr lang="en-US" dirty="0"/>
              <a:t>$$ LANGUAGE </a:t>
            </a:r>
            <a:r>
              <a:rPr lang="en-US" dirty="0" err="1"/>
              <a:t>plpgsql</a:t>
            </a:r>
            <a:r>
              <a:rPr lang="en-US" dirty="0"/>
              <a:t>;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912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TRIGGER POR MUDANÇA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CREATE TRIGGER </a:t>
            </a:r>
            <a:r>
              <a:rPr lang="en-US" dirty="0" err="1"/>
              <a:t>log_ator</a:t>
            </a:r>
            <a:r>
              <a:rPr lang="en-US" dirty="0"/>
              <a:t> AFTER INSERT ON </a:t>
            </a:r>
            <a:r>
              <a:rPr lang="en-US" dirty="0" err="1"/>
              <a:t>ator</a:t>
            </a:r>
            <a:endParaRPr lang="en-US" dirty="0"/>
          </a:p>
          <a:p>
            <a:r>
              <a:rPr lang="en-US" dirty="0"/>
              <a:t>FOR EACH ROW EXECUTE PROCEDURE </a:t>
            </a:r>
            <a:r>
              <a:rPr lang="en-US" dirty="0" err="1"/>
              <a:t>log_ator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insert into </a:t>
            </a:r>
            <a:r>
              <a:rPr lang="en-US" dirty="0" err="1"/>
              <a:t>ator</a:t>
            </a:r>
            <a:r>
              <a:rPr lang="en-US" dirty="0"/>
              <a:t> (</a:t>
            </a:r>
            <a:r>
              <a:rPr lang="en-US" dirty="0" err="1"/>
              <a:t>nome</a:t>
            </a:r>
            <a:r>
              <a:rPr lang="en-US" dirty="0"/>
              <a:t>)values ('</a:t>
            </a:r>
            <a:r>
              <a:rPr lang="en-US" dirty="0" err="1"/>
              <a:t>Didi</a:t>
            </a:r>
            <a:r>
              <a:rPr lang="en-US" dirty="0"/>
              <a:t>')</a:t>
            </a:r>
          </a:p>
          <a:p>
            <a:endParaRPr lang="en-US" dirty="0"/>
          </a:p>
          <a:p>
            <a:r>
              <a:rPr lang="en-US" dirty="0"/>
              <a:t>select * from </a:t>
            </a:r>
            <a:r>
              <a:rPr lang="en-US" dirty="0" err="1"/>
              <a:t>ator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862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TRIGGER POR MUDANÇA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Deve ser criada:</a:t>
            </a:r>
          </a:p>
          <a:p>
            <a:r>
              <a:rPr lang="pt-BR" dirty="0"/>
              <a:t>Sem argumentos</a:t>
            </a:r>
          </a:p>
          <a:p>
            <a:r>
              <a:rPr lang="pt-BR" dirty="0"/>
              <a:t>Mesmo se ela espera receber algum argumento.</a:t>
            </a:r>
          </a:p>
          <a:p>
            <a:r>
              <a:rPr lang="pt-BR" dirty="0"/>
              <a:t>Os argumentos serão passados via o </a:t>
            </a:r>
            <a:r>
              <a:rPr lang="pt-BR" dirty="0" err="1"/>
              <a:t>array</a:t>
            </a:r>
            <a:r>
              <a:rPr lang="pt-BR" dirty="0"/>
              <a:t> TG_ARGV</a:t>
            </a:r>
          </a:p>
          <a:p>
            <a:endParaRPr lang="pt-BR" dirty="0"/>
          </a:p>
          <a:p>
            <a:r>
              <a:rPr lang="pt-BR" dirty="0"/>
              <a:t> Tipo de retorno: trigger</a:t>
            </a:r>
          </a:p>
          <a:p>
            <a:r>
              <a:rPr lang="pt-BR" dirty="0"/>
              <a:t>No exemplo anterior ao se inserir uma linha na tabela monitorada haverá também uma atualização no campo "</a:t>
            </a:r>
            <a:r>
              <a:rPr lang="pt-BR" dirty="0" err="1"/>
              <a:t>ultima_atualizacao</a:t>
            </a:r>
            <a:r>
              <a:rPr lang="pt-BR" dirty="0"/>
              <a:t>".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608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TRIGGER FUNCTIONS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Quando uma função é executada como uma trigger, algumas variáveis específicas são criadas automaticamente:</a:t>
            </a:r>
          </a:p>
          <a:p>
            <a:r>
              <a:rPr lang="pt-BR" b="1" dirty="0"/>
              <a:t>NEW</a:t>
            </a:r>
          </a:p>
          <a:p>
            <a:r>
              <a:rPr lang="pt-BR" dirty="0"/>
              <a:t>Contém a nova linha do banco de dados para as operações </a:t>
            </a:r>
            <a:r>
              <a:rPr lang="pt-BR" dirty="0" err="1"/>
              <a:t>insert</a:t>
            </a:r>
            <a:r>
              <a:rPr lang="pt-BR" dirty="0"/>
              <a:t> e </a:t>
            </a:r>
            <a:r>
              <a:rPr lang="pt-BR" dirty="0" err="1"/>
              <a:t>update</a:t>
            </a:r>
            <a:r>
              <a:rPr lang="pt-BR" dirty="0"/>
              <a:t>.</a:t>
            </a:r>
          </a:p>
          <a:p>
            <a:r>
              <a:rPr lang="pt-BR" dirty="0"/>
              <a:t>Não se aplica a operação delete.</a:t>
            </a:r>
          </a:p>
          <a:p>
            <a:r>
              <a:rPr lang="pt-BR" b="1" dirty="0"/>
              <a:t>OLD</a:t>
            </a:r>
          </a:p>
          <a:p>
            <a:r>
              <a:rPr lang="pt-BR" dirty="0"/>
              <a:t>Contém a antiga linha do banco de dados para as operações delete e </a:t>
            </a:r>
            <a:r>
              <a:rPr lang="pt-BR" dirty="0" err="1"/>
              <a:t>update</a:t>
            </a:r>
            <a:r>
              <a:rPr lang="pt-BR" dirty="0"/>
              <a:t>.</a:t>
            </a:r>
          </a:p>
          <a:p>
            <a:r>
              <a:rPr lang="pt-BR" dirty="0"/>
              <a:t>Não se aplica a operação </a:t>
            </a:r>
            <a:r>
              <a:rPr lang="pt-BR" dirty="0" err="1"/>
              <a:t>insert</a:t>
            </a:r>
            <a:r>
              <a:rPr lang="pt-BR" dirty="0"/>
              <a:t>.</a:t>
            </a:r>
          </a:p>
          <a:p>
            <a:r>
              <a:rPr lang="pt-BR" b="1" dirty="0"/>
              <a:t>TG_NAME</a:t>
            </a:r>
          </a:p>
          <a:p>
            <a:r>
              <a:rPr lang="pt-BR" dirty="0"/>
              <a:t>Contém uma </a:t>
            </a:r>
            <a:r>
              <a:rPr lang="pt-BR" dirty="0" err="1"/>
              <a:t>string</a:t>
            </a:r>
            <a:r>
              <a:rPr lang="pt-BR" dirty="0"/>
              <a:t> com o nome da trigger disparada.</a:t>
            </a:r>
          </a:p>
          <a:p>
            <a:r>
              <a:rPr lang="pt-BR" b="1" dirty="0"/>
              <a:t>TG_WHEN</a:t>
            </a:r>
          </a:p>
          <a:p>
            <a:r>
              <a:rPr lang="en-US" dirty="0"/>
              <a:t>• </a:t>
            </a:r>
            <a:r>
              <a:rPr lang="en-US" dirty="0" err="1"/>
              <a:t>Contém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string BEFORE, AFTER, or INSTEAD OF, </a:t>
            </a:r>
            <a:r>
              <a:rPr lang="en-US" dirty="0" err="1"/>
              <a:t>dependendo</a:t>
            </a:r>
            <a:r>
              <a:rPr lang="en-US" dirty="0"/>
              <a:t> da </a:t>
            </a:r>
            <a:r>
              <a:rPr lang="pt-BR" dirty="0"/>
              <a:t>definição da trigger.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5281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TRIGGER FUNCTIONS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/>
              <a:t>TG_LEVEL</a:t>
            </a:r>
          </a:p>
          <a:p>
            <a:r>
              <a:rPr lang="pt-BR" dirty="0"/>
              <a:t>Contém uma </a:t>
            </a:r>
            <a:r>
              <a:rPr lang="pt-BR" dirty="0" err="1"/>
              <a:t>string</a:t>
            </a:r>
            <a:r>
              <a:rPr lang="pt-BR" dirty="0"/>
              <a:t> contendo ROW ou STATEMENT, dependendo da definição da trigger.</a:t>
            </a:r>
          </a:p>
          <a:p>
            <a:r>
              <a:rPr lang="pt-BR" b="1" dirty="0"/>
              <a:t>TG_OP</a:t>
            </a:r>
          </a:p>
          <a:p>
            <a:r>
              <a:rPr lang="pt-BR" dirty="0"/>
              <a:t>Contém uma </a:t>
            </a:r>
            <a:r>
              <a:rPr lang="pt-BR" dirty="0" err="1"/>
              <a:t>string</a:t>
            </a:r>
            <a:r>
              <a:rPr lang="pt-BR" dirty="0"/>
              <a:t> INSERT, UPDATE, DELETE, ou TRUNCATE indicando qual operação disparou a trigger.</a:t>
            </a:r>
          </a:p>
          <a:p>
            <a:r>
              <a:rPr lang="pt-BR" b="1" dirty="0"/>
              <a:t>TG_RELID</a:t>
            </a:r>
          </a:p>
          <a:p>
            <a:r>
              <a:rPr lang="pt-BR" dirty="0"/>
              <a:t>Contém o </a:t>
            </a:r>
            <a:r>
              <a:rPr lang="pt-BR" dirty="0" err="1"/>
              <a:t>oid</a:t>
            </a:r>
            <a:r>
              <a:rPr lang="pt-BR" dirty="0"/>
              <a:t> (</a:t>
            </a:r>
            <a:r>
              <a:rPr lang="pt-BR" dirty="0" err="1"/>
              <a:t>object</a:t>
            </a:r>
            <a:r>
              <a:rPr lang="pt-BR" dirty="0"/>
              <a:t> id) da tabela que gerou o disparo.</a:t>
            </a:r>
          </a:p>
          <a:p>
            <a:r>
              <a:rPr lang="pt-BR" b="1" dirty="0"/>
              <a:t>TG_TABLE_NAME</a:t>
            </a:r>
          </a:p>
          <a:p>
            <a:r>
              <a:rPr lang="pt-BR" dirty="0"/>
              <a:t>Contém o nome da tabela que gerou o evento.</a:t>
            </a:r>
          </a:p>
          <a:p>
            <a:r>
              <a:rPr lang="pt-BR" b="1" dirty="0"/>
              <a:t>TG_TABLE_SCHEMA</a:t>
            </a:r>
          </a:p>
          <a:p>
            <a:r>
              <a:rPr lang="pt-BR" dirty="0"/>
              <a:t>Contém o nome do </a:t>
            </a:r>
            <a:r>
              <a:rPr lang="pt-BR" dirty="0" err="1"/>
              <a:t>schema</a:t>
            </a:r>
            <a:r>
              <a:rPr lang="pt-BR" dirty="0"/>
              <a:t> da tabela que gerou o evento.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205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TRIGGER FUNCTIONS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/>
              <a:t>TG_NARGS</a:t>
            </a:r>
          </a:p>
          <a:p>
            <a:r>
              <a:rPr lang="pt-BR" dirty="0"/>
              <a:t>O número de argumentos definidos na declaração CREATE TRIGGER.</a:t>
            </a:r>
          </a:p>
          <a:p>
            <a:r>
              <a:rPr lang="pt-BR" b="1" dirty="0"/>
              <a:t>TG_ARGV[]</a:t>
            </a:r>
          </a:p>
          <a:p>
            <a:r>
              <a:rPr lang="pt-BR" dirty="0"/>
              <a:t>Lista de argumentos passados no evento.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2719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BEFORE, INSTEAD OF, AFTER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 instante de execução da função pode se dar antes, depois do evento motivador do gatilho.</a:t>
            </a:r>
          </a:p>
          <a:p>
            <a:r>
              <a:rPr lang="pt-BR" b="1" dirty="0"/>
              <a:t>BEFORE</a:t>
            </a:r>
          </a:p>
          <a:p>
            <a:r>
              <a:rPr lang="pt-BR" dirty="0"/>
              <a:t>A função será executada antes da execução do INSERT/DELETE/UPDATE.</a:t>
            </a:r>
          </a:p>
          <a:p>
            <a:r>
              <a:rPr lang="pt-BR" dirty="0"/>
              <a:t>A função pode retornar NULL para sinalizar que a operação deve ser pulada.</a:t>
            </a:r>
          </a:p>
          <a:p>
            <a:r>
              <a:rPr lang="pt-BR" dirty="0"/>
              <a:t>Retornando um valor não NULL a operação será executada.</a:t>
            </a:r>
          </a:p>
          <a:p>
            <a:r>
              <a:rPr lang="pt-BR" dirty="0"/>
              <a:t>Para continuar normalmente deve ser retornado o NEW.</a:t>
            </a:r>
          </a:p>
          <a:p>
            <a:r>
              <a:rPr lang="pt-BR" dirty="0"/>
              <a:t>Em gatilhos Delete o valor de NEW será NULL.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492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BEFORE, INSTEAD OF, AFTER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/>
              <a:t>AFTER</a:t>
            </a:r>
          </a:p>
          <a:p>
            <a:r>
              <a:rPr lang="pt-BR" dirty="0"/>
              <a:t>A função será executada antes da execução do INSERT/DELETE/UPDATE.</a:t>
            </a:r>
          </a:p>
          <a:p>
            <a:r>
              <a:rPr lang="pt-BR" b="1" dirty="0"/>
              <a:t>INSTEAD OF</a:t>
            </a:r>
          </a:p>
          <a:p>
            <a:r>
              <a:rPr lang="pt-BR" dirty="0"/>
              <a:t>Permite utilizar funções para manipulação de dados em </a:t>
            </a:r>
            <a:r>
              <a:rPr lang="pt-BR" dirty="0" err="1"/>
              <a:t>Views</a:t>
            </a:r>
            <a:r>
              <a:rPr lang="pt-BR" dirty="0"/>
              <a:t>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649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DESENVOLVENDO TESTES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dirty="0"/>
              <a:t>CREATE TABLE </a:t>
            </a:r>
            <a:r>
              <a:rPr lang="pt-BR" dirty="0" err="1"/>
              <a:t>emp</a:t>
            </a:r>
            <a:r>
              <a:rPr lang="pt-BR" dirty="0"/>
              <a:t> (</a:t>
            </a:r>
          </a:p>
          <a:p>
            <a:pPr marL="0" indent="0">
              <a:buNone/>
            </a:pPr>
            <a:r>
              <a:rPr lang="pt-BR" dirty="0" err="1"/>
              <a:t>empname</a:t>
            </a:r>
            <a:r>
              <a:rPr lang="pt-BR" dirty="0"/>
              <a:t> </a:t>
            </a:r>
            <a:r>
              <a:rPr lang="pt-BR" dirty="0" err="1"/>
              <a:t>text</a:t>
            </a:r>
            <a:r>
              <a:rPr lang="pt-BR" dirty="0"/>
              <a:t>,</a:t>
            </a:r>
          </a:p>
          <a:p>
            <a:pPr marL="0" indent="0">
              <a:buNone/>
            </a:pPr>
            <a:r>
              <a:rPr lang="pt-BR" dirty="0" err="1"/>
              <a:t>salary</a:t>
            </a:r>
            <a:r>
              <a:rPr lang="pt-BR" dirty="0"/>
              <a:t> </a:t>
            </a:r>
            <a:r>
              <a:rPr lang="pt-BR" dirty="0" err="1"/>
              <a:t>integer</a:t>
            </a:r>
            <a:r>
              <a:rPr lang="pt-BR" dirty="0"/>
              <a:t>,</a:t>
            </a:r>
          </a:p>
          <a:p>
            <a:pPr marL="0" indent="0">
              <a:buNone/>
            </a:pPr>
            <a:r>
              <a:rPr lang="pt-BR" dirty="0" err="1"/>
              <a:t>last_date</a:t>
            </a:r>
            <a:r>
              <a:rPr lang="pt-BR" dirty="0"/>
              <a:t> </a:t>
            </a:r>
            <a:r>
              <a:rPr lang="pt-BR" dirty="0" err="1"/>
              <a:t>timestamp</a:t>
            </a:r>
            <a:r>
              <a:rPr lang="pt-BR" dirty="0"/>
              <a:t>,</a:t>
            </a:r>
          </a:p>
          <a:p>
            <a:pPr marL="0" indent="0">
              <a:buNone/>
            </a:pPr>
            <a:r>
              <a:rPr lang="pt-BR" dirty="0" err="1"/>
              <a:t>last_user</a:t>
            </a:r>
            <a:r>
              <a:rPr lang="pt-BR" dirty="0"/>
              <a:t> </a:t>
            </a:r>
            <a:r>
              <a:rPr lang="pt-BR" dirty="0" err="1"/>
              <a:t>text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);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CREATE TABLE </a:t>
            </a:r>
            <a:r>
              <a:rPr lang="pt-BR" dirty="0" err="1"/>
              <a:t>emp_audit</a:t>
            </a:r>
            <a:r>
              <a:rPr lang="pt-BR" dirty="0"/>
              <a:t>(</a:t>
            </a:r>
          </a:p>
          <a:p>
            <a:pPr marL="0" indent="0">
              <a:buNone/>
            </a:pPr>
            <a:r>
              <a:rPr lang="pt-BR" dirty="0" err="1"/>
              <a:t>operation</a:t>
            </a:r>
            <a:r>
              <a:rPr lang="pt-BR" dirty="0"/>
              <a:t> char(1) NOT NULL,</a:t>
            </a:r>
          </a:p>
          <a:p>
            <a:pPr marL="0" indent="0">
              <a:buNone/>
            </a:pPr>
            <a:r>
              <a:rPr lang="pt-BR" dirty="0" err="1"/>
              <a:t>userid</a:t>
            </a:r>
            <a:r>
              <a:rPr lang="pt-BR" dirty="0"/>
              <a:t> </a:t>
            </a:r>
            <a:r>
              <a:rPr lang="pt-BR" dirty="0" err="1"/>
              <a:t>text</a:t>
            </a:r>
            <a:r>
              <a:rPr lang="pt-BR" dirty="0"/>
              <a:t> NOT NULL,</a:t>
            </a:r>
          </a:p>
          <a:p>
            <a:pPr marL="0" indent="0">
              <a:buNone/>
            </a:pPr>
            <a:r>
              <a:rPr lang="pt-BR" dirty="0" err="1"/>
              <a:t>empname</a:t>
            </a:r>
            <a:r>
              <a:rPr lang="pt-BR" dirty="0"/>
              <a:t> </a:t>
            </a:r>
            <a:r>
              <a:rPr lang="pt-BR" dirty="0" err="1"/>
              <a:t>text</a:t>
            </a:r>
            <a:r>
              <a:rPr lang="pt-BR" dirty="0"/>
              <a:t> NOT NULL,</a:t>
            </a:r>
          </a:p>
          <a:p>
            <a:pPr marL="0" indent="0">
              <a:buNone/>
            </a:pPr>
            <a:r>
              <a:rPr lang="pt-BR" dirty="0" err="1"/>
              <a:t>salary</a:t>
            </a:r>
            <a:r>
              <a:rPr lang="pt-BR" dirty="0"/>
              <a:t> </a:t>
            </a:r>
            <a:r>
              <a:rPr lang="pt-BR" dirty="0" err="1"/>
              <a:t>integer</a:t>
            </a:r>
            <a:r>
              <a:rPr lang="pt-BR" dirty="0"/>
              <a:t>,</a:t>
            </a:r>
          </a:p>
          <a:p>
            <a:pPr marL="0" indent="0">
              <a:buNone/>
            </a:pPr>
            <a:r>
              <a:rPr lang="pt-BR" dirty="0" err="1"/>
              <a:t>stamp</a:t>
            </a:r>
            <a:r>
              <a:rPr lang="pt-BR" dirty="0"/>
              <a:t> </a:t>
            </a:r>
            <a:r>
              <a:rPr lang="pt-BR" dirty="0" err="1"/>
              <a:t>timestamp</a:t>
            </a:r>
            <a:r>
              <a:rPr lang="pt-BR" dirty="0"/>
              <a:t> NOT NULL</a:t>
            </a:r>
          </a:p>
          <a:p>
            <a:pPr marL="0" indent="0">
              <a:buNone/>
            </a:pPr>
            <a:r>
              <a:rPr lang="pt-BR" dirty="0"/>
              <a:t>);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7275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51628" y="365125"/>
            <a:ext cx="4802171" cy="1325563"/>
          </a:xfrm>
        </p:spPr>
        <p:txBody>
          <a:bodyPr/>
          <a:lstStyle/>
          <a:p>
            <a:pPr algn="ctr"/>
            <a:r>
              <a:rPr lang="pt-BR" dirty="0"/>
              <a:t>TRIGGER BEFORE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54524"/>
            <a:ext cx="10515600" cy="638194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CREATE OR REPLACE FUNCTION </a:t>
            </a:r>
            <a:r>
              <a:rPr lang="en-US" dirty="0" err="1"/>
              <a:t>emp_stamp</a:t>
            </a:r>
            <a:r>
              <a:rPr lang="en-US" dirty="0"/>
              <a:t>() RETURNS trigger AS $</a:t>
            </a:r>
            <a:r>
              <a:rPr lang="en-US" dirty="0" err="1"/>
              <a:t>emp_stamp</a:t>
            </a:r>
            <a:r>
              <a:rPr lang="en-US" dirty="0"/>
              <a:t>$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-- Check that </a:t>
            </a:r>
            <a:r>
              <a:rPr lang="en-US" dirty="0" err="1"/>
              <a:t>empname</a:t>
            </a:r>
            <a:r>
              <a:rPr lang="en-US" dirty="0"/>
              <a:t> and salary are given</a:t>
            </a:r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>
                <a:solidFill>
                  <a:srgbClr val="FF0000"/>
                </a:solidFill>
              </a:rPr>
              <a:t>NEW</a:t>
            </a:r>
            <a:r>
              <a:rPr lang="en-US" dirty="0" err="1"/>
              <a:t>.empname</a:t>
            </a:r>
            <a:r>
              <a:rPr lang="en-US" dirty="0"/>
              <a:t> IS NULL THEN</a:t>
            </a:r>
          </a:p>
          <a:p>
            <a:pPr marL="0" indent="0">
              <a:buNone/>
            </a:pPr>
            <a:r>
              <a:rPr lang="en-US" dirty="0"/>
              <a:t>RAISE EXCEPTION '</a:t>
            </a:r>
            <a:r>
              <a:rPr lang="en-US" dirty="0" err="1"/>
              <a:t>empname</a:t>
            </a:r>
            <a:r>
              <a:rPr lang="en-US" dirty="0"/>
              <a:t> cannot be null';</a:t>
            </a:r>
          </a:p>
          <a:p>
            <a:pPr marL="0" indent="0">
              <a:buNone/>
            </a:pPr>
            <a:r>
              <a:rPr lang="en-US" dirty="0"/>
              <a:t>END IF;</a:t>
            </a:r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>
                <a:solidFill>
                  <a:srgbClr val="FF0000"/>
                </a:solidFill>
              </a:rPr>
              <a:t>NEW</a:t>
            </a:r>
            <a:r>
              <a:rPr lang="en-US" dirty="0" err="1"/>
              <a:t>.salary</a:t>
            </a:r>
            <a:r>
              <a:rPr lang="en-US" dirty="0"/>
              <a:t> IS NULL THEN</a:t>
            </a:r>
          </a:p>
          <a:p>
            <a:pPr marL="0" indent="0">
              <a:buNone/>
            </a:pPr>
            <a:r>
              <a:rPr lang="en-US" dirty="0"/>
              <a:t>RAISE EXCEPTION '% cannot have null salary', </a:t>
            </a:r>
            <a:r>
              <a:rPr lang="en-US" dirty="0" err="1"/>
              <a:t>NEW.empname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END IF;</a:t>
            </a:r>
          </a:p>
          <a:p>
            <a:pPr marL="0" indent="0">
              <a:buNone/>
            </a:pPr>
            <a:r>
              <a:rPr lang="en-US" dirty="0"/>
              <a:t>-- Who works for us when they must pay for it?</a:t>
            </a:r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>
                <a:solidFill>
                  <a:srgbClr val="FF0000"/>
                </a:solidFill>
              </a:rPr>
              <a:t>NEW</a:t>
            </a:r>
            <a:r>
              <a:rPr lang="en-US" dirty="0" err="1"/>
              <a:t>.salary</a:t>
            </a:r>
            <a:r>
              <a:rPr lang="en-US" dirty="0"/>
              <a:t> &lt;= 0 THEN</a:t>
            </a:r>
          </a:p>
          <a:p>
            <a:pPr marL="0" indent="0">
              <a:buNone/>
            </a:pPr>
            <a:r>
              <a:rPr lang="en-US" dirty="0"/>
              <a:t>RAISE EXCEPTION '% cannot have a negative or null salary', </a:t>
            </a:r>
            <a:r>
              <a:rPr lang="en-US" dirty="0" err="1"/>
              <a:t>NEW.empname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END IF;</a:t>
            </a:r>
          </a:p>
          <a:p>
            <a:pPr marL="0" indent="0">
              <a:buNone/>
            </a:pPr>
            <a:r>
              <a:rPr lang="en-US" dirty="0"/>
              <a:t>-- Remember who changed the payroll when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NEW.last_date</a:t>
            </a:r>
            <a:r>
              <a:rPr lang="en-US" dirty="0">
                <a:solidFill>
                  <a:srgbClr val="FF0000"/>
                </a:solidFill>
              </a:rPr>
              <a:t> := </a:t>
            </a:r>
            <a:r>
              <a:rPr lang="en-US" dirty="0" err="1">
                <a:solidFill>
                  <a:srgbClr val="FF0000"/>
                </a:solidFill>
              </a:rPr>
              <a:t>current_timestamp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NEW.last_user</a:t>
            </a:r>
            <a:r>
              <a:rPr lang="en-US" dirty="0">
                <a:solidFill>
                  <a:srgbClr val="FF0000"/>
                </a:solidFill>
              </a:rPr>
              <a:t> := </a:t>
            </a:r>
            <a:r>
              <a:rPr lang="en-US" dirty="0" err="1">
                <a:solidFill>
                  <a:srgbClr val="FF0000"/>
                </a:solidFill>
              </a:rPr>
              <a:t>current_user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RETURN NEW;</a:t>
            </a:r>
          </a:p>
          <a:p>
            <a:pPr marL="0" indent="0">
              <a:buNone/>
            </a:pPr>
            <a:r>
              <a:rPr lang="en-US" dirty="0"/>
              <a:t>END;</a:t>
            </a:r>
          </a:p>
          <a:p>
            <a:pPr marL="0" indent="0">
              <a:buNone/>
            </a:pPr>
            <a:r>
              <a:rPr lang="en-US" dirty="0"/>
              <a:t>$</a:t>
            </a:r>
            <a:r>
              <a:rPr lang="en-US" dirty="0" err="1"/>
              <a:t>emp_stamp</a:t>
            </a:r>
            <a:r>
              <a:rPr lang="en-US" dirty="0"/>
              <a:t>$ LANGUAGE </a:t>
            </a:r>
            <a:r>
              <a:rPr lang="en-US" dirty="0" err="1"/>
              <a:t>plpgsql</a:t>
            </a:r>
            <a:r>
              <a:rPr lang="en-US" dirty="0"/>
              <a:t>;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49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TRIGGER BEFORE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TRIGGER </a:t>
            </a:r>
            <a:r>
              <a:rPr lang="en-US" dirty="0" err="1"/>
              <a:t>emp_stamp</a:t>
            </a:r>
            <a:r>
              <a:rPr lang="en-US" dirty="0"/>
              <a:t> BEFORE INSERT OR UPDATE ON </a:t>
            </a:r>
            <a:r>
              <a:rPr lang="en-US" dirty="0" err="1"/>
              <a:t>emp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 EACH ROW EXECUTE PROCEDURE </a:t>
            </a:r>
            <a:r>
              <a:rPr lang="en-US" dirty="0" err="1"/>
              <a:t>emp_stamp</a:t>
            </a:r>
            <a:r>
              <a:rPr lang="en-US" dirty="0"/>
              <a:t>();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8337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TRIGGER BEFORE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en-US" dirty="0"/>
              <a:t>insert into </a:t>
            </a:r>
            <a:r>
              <a:rPr lang="en-US" dirty="0" err="1"/>
              <a:t>emp</a:t>
            </a:r>
            <a:r>
              <a:rPr lang="en-US" dirty="0"/>
              <a:t> (</a:t>
            </a:r>
            <a:r>
              <a:rPr lang="en-US" dirty="0" err="1"/>
              <a:t>empname</a:t>
            </a:r>
            <a:r>
              <a:rPr lang="en-US" dirty="0"/>
              <a:t>, salary) values ('</a:t>
            </a:r>
            <a:r>
              <a:rPr lang="en-US" dirty="0" err="1"/>
              <a:t>Juquinha</a:t>
            </a:r>
            <a:r>
              <a:rPr lang="en-US" dirty="0"/>
              <a:t>', 10000)</a:t>
            </a:r>
          </a:p>
          <a:p>
            <a:r>
              <a:rPr lang="en-US" dirty="0"/>
              <a:t>select *from </a:t>
            </a:r>
            <a:r>
              <a:rPr lang="en-US" dirty="0" err="1"/>
              <a:t>emp</a:t>
            </a:r>
            <a:endParaRPr lang="en-US" dirty="0"/>
          </a:p>
          <a:p>
            <a:r>
              <a:rPr lang="en-US" dirty="0"/>
              <a:t>insert into </a:t>
            </a:r>
            <a:r>
              <a:rPr lang="en-US" dirty="0" err="1"/>
              <a:t>emp</a:t>
            </a:r>
            <a:r>
              <a:rPr lang="en-US" dirty="0"/>
              <a:t> (</a:t>
            </a:r>
            <a:r>
              <a:rPr lang="en-US" dirty="0" err="1"/>
              <a:t>empname</a:t>
            </a:r>
            <a:r>
              <a:rPr lang="en-US" dirty="0"/>
              <a:t>) values ('Juquinha2')</a:t>
            </a:r>
          </a:p>
          <a:p>
            <a:r>
              <a:rPr lang="en-US" dirty="0"/>
              <a:t>insert into </a:t>
            </a:r>
            <a:r>
              <a:rPr lang="en-US" dirty="0" err="1"/>
              <a:t>emp</a:t>
            </a:r>
            <a:r>
              <a:rPr lang="en-US" dirty="0"/>
              <a:t> ( salary) values ( 20000)</a:t>
            </a:r>
          </a:p>
          <a:p>
            <a:r>
              <a:rPr lang="en-US" dirty="0"/>
              <a:t>insert into </a:t>
            </a:r>
            <a:r>
              <a:rPr lang="en-US" dirty="0" err="1"/>
              <a:t>emp</a:t>
            </a:r>
            <a:r>
              <a:rPr lang="en-US" dirty="0"/>
              <a:t> (</a:t>
            </a:r>
            <a:r>
              <a:rPr lang="en-US" dirty="0" err="1"/>
              <a:t>empname</a:t>
            </a:r>
            <a:r>
              <a:rPr lang="en-US" dirty="0"/>
              <a:t>, salary) values ('Juquinha2', -20000)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0644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93929" y="1269133"/>
            <a:ext cx="4283697" cy="1325563"/>
          </a:xfrm>
        </p:spPr>
        <p:txBody>
          <a:bodyPr/>
          <a:lstStyle/>
          <a:p>
            <a:pPr algn="ctr"/>
            <a:r>
              <a:rPr lang="pt-BR" dirty="0"/>
              <a:t>TRIGGER AFTER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8536"/>
            <a:ext cx="10785049" cy="644793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CREATE OR REPLACE FUNCTION </a:t>
            </a:r>
            <a:r>
              <a:rPr lang="en-US" dirty="0" err="1"/>
              <a:t>process_emp_audit</a:t>
            </a:r>
            <a:r>
              <a:rPr lang="en-US" dirty="0"/>
              <a:t>() RETURNS TRIGGER AS $</a:t>
            </a:r>
            <a:r>
              <a:rPr lang="en-US" dirty="0" err="1"/>
              <a:t>emp_audit</a:t>
            </a:r>
            <a:r>
              <a:rPr lang="en-US" dirty="0"/>
              <a:t>$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-- Create a row in </a:t>
            </a:r>
            <a:r>
              <a:rPr lang="en-US" dirty="0" err="1"/>
              <a:t>emp_audit</a:t>
            </a:r>
            <a:r>
              <a:rPr lang="en-US" dirty="0"/>
              <a:t> to reflect the operation performed on </a:t>
            </a:r>
            <a:r>
              <a:rPr lang="en-US" dirty="0" err="1"/>
              <a:t>emp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-- make use of the special variable TG_OP to work out the operation.</a:t>
            </a:r>
          </a:p>
          <a:p>
            <a:pPr marL="0" indent="0">
              <a:buNone/>
            </a:pP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IF (TG_OP = 'DELETE') THEN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emp_audit</a:t>
            </a:r>
            <a:r>
              <a:rPr lang="en-US" dirty="0"/>
              <a:t> SELECT 'D', user, </a:t>
            </a:r>
            <a:r>
              <a:rPr lang="en-US" dirty="0">
                <a:solidFill>
                  <a:srgbClr val="FF0000"/>
                </a:solidFill>
              </a:rPr>
              <a:t>OLD</a:t>
            </a:r>
            <a:r>
              <a:rPr lang="en-US" dirty="0"/>
              <a:t>.EMPNAME, </a:t>
            </a:r>
            <a:r>
              <a:rPr lang="en-US" dirty="0">
                <a:solidFill>
                  <a:srgbClr val="FF0000"/>
                </a:solidFill>
              </a:rPr>
              <a:t>OLD</a:t>
            </a:r>
            <a:r>
              <a:rPr lang="en-US" dirty="0"/>
              <a:t>.SALARY, now();</a:t>
            </a:r>
          </a:p>
          <a:p>
            <a:pPr marL="0" indent="0">
              <a:buNone/>
            </a:pPr>
            <a:r>
              <a:rPr lang="en-US" dirty="0"/>
              <a:t>RETURN OLD;</a:t>
            </a:r>
          </a:p>
          <a:p>
            <a:pPr marL="0" indent="0">
              <a:buNone/>
            </a:pPr>
            <a:r>
              <a:rPr lang="en-US" dirty="0"/>
              <a:t>ELSIF (TG_OP = 'UPDATE') THEN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emp_audit</a:t>
            </a:r>
            <a:r>
              <a:rPr lang="en-US" dirty="0"/>
              <a:t> SELECT 'U', user,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.EMPNAME,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.SALARY, now();</a:t>
            </a:r>
          </a:p>
          <a:p>
            <a:pPr marL="0" indent="0">
              <a:buNone/>
            </a:pPr>
            <a:r>
              <a:rPr lang="en-US" dirty="0"/>
              <a:t>RETURN NEW;</a:t>
            </a:r>
          </a:p>
          <a:p>
            <a:pPr marL="0" indent="0">
              <a:buNone/>
            </a:pPr>
            <a:r>
              <a:rPr lang="en-US" dirty="0"/>
              <a:t>ELSIF (TG_OP = 'INSERT') THEN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emp_audit</a:t>
            </a:r>
            <a:r>
              <a:rPr lang="en-US" dirty="0"/>
              <a:t> SELECT 'I', user,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.EMPNAME,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.SALARY, now();</a:t>
            </a:r>
          </a:p>
          <a:p>
            <a:pPr marL="0" indent="0">
              <a:buNone/>
            </a:pPr>
            <a:r>
              <a:rPr lang="en-US" dirty="0"/>
              <a:t>RETURN NEW;</a:t>
            </a:r>
          </a:p>
          <a:p>
            <a:pPr marL="0" indent="0">
              <a:buNone/>
            </a:pPr>
            <a:r>
              <a:rPr lang="en-US" dirty="0"/>
              <a:t>END IF;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RETURN NULL; -- result is ignored since this is an AFTER trigger</a:t>
            </a:r>
          </a:p>
          <a:p>
            <a:pPr marL="0" indent="0">
              <a:buNone/>
            </a:pPr>
            <a:r>
              <a:rPr lang="en-US" dirty="0"/>
              <a:t>END;</a:t>
            </a:r>
          </a:p>
          <a:p>
            <a:pPr marL="0" indent="0">
              <a:buNone/>
            </a:pPr>
            <a:r>
              <a:rPr lang="en-US" dirty="0"/>
              <a:t>$</a:t>
            </a:r>
            <a:r>
              <a:rPr lang="en-US" dirty="0" err="1"/>
              <a:t>emp_audit</a:t>
            </a:r>
            <a:r>
              <a:rPr lang="en-US" dirty="0"/>
              <a:t>$ LANGUAGE </a:t>
            </a:r>
            <a:r>
              <a:rPr lang="en-US" dirty="0" err="1"/>
              <a:t>plpgsql</a:t>
            </a:r>
            <a:r>
              <a:rPr lang="en-US" dirty="0"/>
              <a:t>;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031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TRIGGER AFTER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TRIGGER </a:t>
            </a:r>
            <a:r>
              <a:rPr lang="en-US" dirty="0" err="1"/>
              <a:t>emp_audit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AFTER INSERT OR UPDATE OR DELETE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emp</a:t>
            </a:r>
            <a:r>
              <a:rPr lang="en-US" dirty="0"/>
              <a:t> FOR EACH ROW EXECUTE PROCEDURE </a:t>
            </a:r>
            <a:r>
              <a:rPr lang="en-US" dirty="0" err="1"/>
              <a:t>process_emp_audit</a:t>
            </a:r>
            <a:r>
              <a:rPr lang="en-US" dirty="0"/>
              <a:t>();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718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TRIGGER AFTER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en-US" dirty="0"/>
              <a:t>insert into </a:t>
            </a:r>
            <a:r>
              <a:rPr lang="en-US" dirty="0" err="1"/>
              <a:t>emp</a:t>
            </a:r>
            <a:r>
              <a:rPr lang="en-US" dirty="0"/>
              <a:t> (</a:t>
            </a:r>
            <a:r>
              <a:rPr lang="en-US" dirty="0" err="1"/>
              <a:t>empname</a:t>
            </a:r>
            <a:r>
              <a:rPr lang="en-US" dirty="0"/>
              <a:t>, salary) values ('</a:t>
            </a:r>
            <a:r>
              <a:rPr lang="en-US" dirty="0" err="1"/>
              <a:t>Juquinha</a:t>
            </a:r>
            <a:r>
              <a:rPr lang="en-US" dirty="0"/>
              <a:t> Segundo', 20000)</a:t>
            </a:r>
          </a:p>
          <a:p>
            <a:r>
              <a:rPr lang="en-US" dirty="0"/>
              <a:t>select *from </a:t>
            </a:r>
            <a:r>
              <a:rPr lang="en-US" dirty="0" err="1"/>
              <a:t>emp</a:t>
            </a:r>
            <a:endParaRPr lang="en-US" dirty="0"/>
          </a:p>
          <a:p>
            <a:r>
              <a:rPr lang="en-US" dirty="0"/>
              <a:t>update </a:t>
            </a:r>
            <a:r>
              <a:rPr lang="en-US" dirty="0" err="1"/>
              <a:t>emp</a:t>
            </a:r>
            <a:r>
              <a:rPr lang="en-US" dirty="0"/>
              <a:t> set </a:t>
            </a:r>
            <a:r>
              <a:rPr lang="en-US" dirty="0" err="1"/>
              <a:t>empname</a:t>
            </a:r>
            <a:r>
              <a:rPr lang="en-US" dirty="0"/>
              <a:t>='</a:t>
            </a:r>
            <a:r>
              <a:rPr lang="en-US" dirty="0" err="1"/>
              <a:t>Juquinha</a:t>
            </a:r>
            <a:r>
              <a:rPr lang="en-US" dirty="0"/>
              <a:t> </a:t>
            </a:r>
            <a:r>
              <a:rPr lang="en-US" dirty="0" err="1"/>
              <a:t>Snaidis</a:t>
            </a:r>
            <a:r>
              <a:rPr lang="en-US" dirty="0"/>
              <a:t>' where </a:t>
            </a:r>
            <a:r>
              <a:rPr lang="en-US" dirty="0" err="1"/>
              <a:t>empname</a:t>
            </a:r>
            <a:r>
              <a:rPr lang="en-US" dirty="0"/>
              <a:t>='</a:t>
            </a:r>
            <a:r>
              <a:rPr lang="en-US" dirty="0" err="1"/>
              <a:t>Juquinha</a:t>
            </a:r>
            <a:r>
              <a:rPr lang="en-US" dirty="0"/>
              <a:t> Segundo'</a:t>
            </a:r>
          </a:p>
          <a:p>
            <a:r>
              <a:rPr lang="en-US" dirty="0"/>
              <a:t>select *from </a:t>
            </a:r>
            <a:r>
              <a:rPr lang="en-US" dirty="0" err="1"/>
              <a:t>emp_audit</a:t>
            </a:r>
            <a:endParaRPr lang="en-US" dirty="0"/>
          </a:p>
          <a:p>
            <a:r>
              <a:rPr lang="en-US" dirty="0"/>
              <a:t>delete from </a:t>
            </a:r>
            <a:r>
              <a:rPr lang="en-US" dirty="0" err="1"/>
              <a:t>emp</a:t>
            </a:r>
            <a:r>
              <a:rPr lang="en-US" dirty="0"/>
              <a:t> where </a:t>
            </a:r>
            <a:r>
              <a:rPr lang="en-US" dirty="0" err="1"/>
              <a:t>empname</a:t>
            </a:r>
            <a:r>
              <a:rPr lang="en-US" dirty="0"/>
              <a:t>='</a:t>
            </a:r>
            <a:r>
              <a:rPr lang="en-US" dirty="0" err="1"/>
              <a:t>Juquinha</a:t>
            </a:r>
            <a:r>
              <a:rPr lang="en-US" dirty="0"/>
              <a:t> </a:t>
            </a:r>
            <a:r>
              <a:rPr lang="en-US" dirty="0" err="1"/>
              <a:t>Snaidis</a:t>
            </a:r>
            <a:r>
              <a:rPr lang="en-US" dirty="0"/>
              <a:t>'</a:t>
            </a:r>
          </a:p>
          <a:p>
            <a:r>
              <a:rPr lang="en-US" dirty="0"/>
              <a:t>select *from </a:t>
            </a:r>
            <a:r>
              <a:rPr lang="en-US" dirty="0" err="1"/>
              <a:t>emp_audit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4689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REFERÊNCIAS</a:t>
            </a:r>
            <a:br>
              <a:rPr lang="pt-BR" dirty="0"/>
            </a:br>
            <a:r>
              <a:rPr lang="pt-BR" dirty="0"/>
              <a:t>BIBLIOGRÁFICAS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 err="1"/>
              <a:t>PostgreSQL</a:t>
            </a:r>
            <a:r>
              <a:rPr lang="pt-BR" dirty="0"/>
              <a:t> 9.0.22 </a:t>
            </a:r>
            <a:r>
              <a:rPr lang="pt-BR" dirty="0" err="1"/>
              <a:t>Documentation</a:t>
            </a:r>
            <a:r>
              <a:rPr lang="pt-BR" dirty="0"/>
              <a:t>. Disponível em: &lt;https://www.postgresql.org/files/documentation/pdf/9. 0/postgresql-9.0-US.pdf&gt;. Acesso em 03 Jan. 2024.</a:t>
            </a:r>
          </a:p>
          <a:p>
            <a:r>
              <a:rPr lang="pt-BR" dirty="0" err="1"/>
              <a:t>PostgresSQL</a:t>
            </a:r>
            <a:r>
              <a:rPr lang="pt-BR" dirty="0"/>
              <a:t> triggers: Trabalhando com gatilhos em banco de dados. Disponível em: &lt;http://www.devmedia.com.br/trabalhando-com-triggers-nopostgresql/33531&gt; Acesso em </a:t>
            </a:r>
            <a:r>
              <a:rPr lang="pt-BR"/>
              <a:t>05 Abril 2024.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4465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2054</TotalTime>
  <Words>1285</Words>
  <Application>Microsoft Office PowerPoint</Application>
  <PresentationFormat>Widescreen</PresentationFormat>
  <Paragraphs>166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do Office</vt:lpstr>
      <vt:lpstr>Apresentação do PowerPoint</vt:lpstr>
      <vt:lpstr>BANCOS DE DADOS ATIVOS</vt:lpstr>
      <vt:lpstr>BANCOS DE DADOS ATIVOS</vt:lpstr>
      <vt:lpstr>TRIGGER PROCEDURES</vt:lpstr>
      <vt:lpstr>TRIGGER PROCEDURES</vt:lpstr>
      <vt:lpstr>Antes dos exemplos...</vt:lpstr>
      <vt:lpstr>TRIGGER POR MUDANÇA DE DADOS</vt:lpstr>
      <vt:lpstr>TRIGGER POR MUDANÇA DE DADOS</vt:lpstr>
      <vt:lpstr>TRIGGER POR MUDANÇA DE DADOS</vt:lpstr>
      <vt:lpstr>TRIGGER FUNCTIONS</vt:lpstr>
      <vt:lpstr>TRIGGER FUNCTIONS</vt:lpstr>
      <vt:lpstr>TRIGGER FUNCTIONS</vt:lpstr>
      <vt:lpstr>BEFORE, INSTEAD OF, AFTER</vt:lpstr>
      <vt:lpstr>BEFORE, INSTEAD OF, AFTER</vt:lpstr>
      <vt:lpstr>DESENVOLVENDO TESTES</vt:lpstr>
      <vt:lpstr>TRIGGER BEFORE</vt:lpstr>
      <vt:lpstr>TRIGGER BEFORE</vt:lpstr>
      <vt:lpstr>TRIGGER BEFORE</vt:lpstr>
      <vt:lpstr>TRIGGER AFTER</vt:lpstr>
      <vt:lpstr>TRIGGER AFTER</vt:lpstr>
      <vt:lpstr>TRIGGER AFTER</vt:lpstr>
      <vt:lpstr>REFERÊNCIAS BIBLIOGRÁFICAS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85</cp:revision>
  <dcterms:created xsi:type="dcterms:W3CDTF">2023-01-24T23:29:32Z</dcterms:created>
  <dcterms:modified xsi:type="dcterms:W3CDTF">2025-03-17T19:04:54Z</dcterms:modified>
</cp:coreProperties>
</file>