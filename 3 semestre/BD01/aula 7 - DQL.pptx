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98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71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4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9500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497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1087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2636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3385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305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54830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3458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73660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1152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2022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D9F01-DE70-421D-913C-5540CBA8C3E6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7869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29" y="297480"/>
            <a:ext cx="3093359" cy="1809615"/>
          </a:xfrm>
          <a:prstGeom prst="rect">
            <a:avLst/>
          </a:prstGeom>
        </p:spPr>
      </p:pic>
      <p:sp>
        <p:nvSpPr>
          <p:cNvPr id="13" name="Título 1"/>
          <p:cNvSpPr txBox="1">
            <a:spLocks/>
          </p:cNvSpPr>
          <p:nvPr/>
        </p:nvSpPr>
        <p:spPr>
          <a:xfrm>
            <a:off x="245097" y="3786809"/>
            <a:ext cx="11679810" cy="7286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800" smtClean="0"/>
              <a:t>BANCO DE DADOS I</a:t>
            </a:r>
            <a:endParaRPr lang="pt-BR" sz="2800" dirty="0"/>
          </a:p>
        </p:txBody>
      </p:sp>
      <p:sp>
        <p:nvSpPr>
          <p:cNvPr id="14" name="Subtítulo 2"/>
          <p:cNvSpPr txBox="1">
            <a:spLocks/>
          </p:cNvSpPr>
          <p:nvPr/>
        </p:nvSpPr>
        <p:spPr>
          <a:xfrm>
            <a:off x="245097" y="5142306"/>
            <a:ext cx="11679809" cy="7531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dirty="0" smtClean="0"/>
              <a:t>Prof. Me. Matheus </a:t>
            </a:r>
            <a:r>
              <a:rPr lang="pt-BR" dirty="0" err="1" smtClean="0"/>
              <a:t>Raffael</a:t>
            </a:r>
            <a:r>
              <a:rPr lang="pt-BR" dirty="0" smtClean="0"/>
              <a:t> Simon</a:t>
            </a:r>
            <a:endParaRPr lang="pt-BR" dirty="0"/>
          </a:p>
        </p:txBody>
      </p:sp>
      <p:sp>
        <p:nvSpPr>
          <p:cNvPr id="15" name="Título 1"/>
          <p:cNvSpPr txBox="1">
            <a:spLocks/>
          </p:cNvSpPr>
          <p:nvPr/>
        </p:nvSpPr>
        <p:spPr>
          <a:xfrm>
            <a:off x="964096" y="2353636"/>
            <a:ext cx="10127973" cy="13209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900" dirty="0"/>
              <a:t>TECNOLOGIA EM ANÁLISE E DESENVOLVIMENTO DE SISTEMAS</a:t>
            </a:r>
          </a:p>
        </p:txBody>
      </p:sp>
    </p:spTree>
    <p:extLst>
      <p:ext uri="{BB962C8B-B14F-4D97-AF65-F5344CB8AC3E}">
        <p14:creationId xmlns:p14="http://schemas.microsoft.com/office/powerpoint/2010/main" val="917300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COMANDO SELECT - QUERY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O comando responsável por obter dados em um banco de dados </a:t>
            </a:r>
            <a:r>
              <a:rPr lang="pt-BR" dirty="0" smtClean="0"/>
              <a:t>é chamado </a:t>
            </a:r>
            <a:r>
              <a:rPr lang="pt-BR" dirty="0"/>
              <a:t>query.</a:t>
            </a:r>
          </a:p>
          <a:p>
            <a:r>
              <a:rPr lang="pt-BR" dirty="0" smtClean="0"/>
              <a:t>A </a:t>
            </a:r>
            <a:r>
              <a:rPr lang="pt-BR" dirty="0"/>
              <a:t>sintaxe de uma query é composta basicamente por</a:t>
            </a:r>
            <a:r>
              <a:rPr lang="pt-BR" dirty="0" smtClean="0"/>
              <a:t>:</a:t>
            </a:r>
          </a:p>
          <a:p>
            <a:r>
              <a:rPr lang="pt-BR" dirty="0"/>
              <a:t>SELECT </a:t>
            </a:r>
            <a:r>
              <a:rPr lang="pt-BR" dirty="0" err="1"/>
              <a:t>Lista_seleção</a:t>
            </a:r>
            <a:r>
              <a:rPr lang="pt-BR" dirty="0"/>
              <a:t> FROM </a:t>
            </a:r>
            <a:r>
              <a:rPr lang="pt-BR" dirty="0" err="1"/>
              <a:t>Expressão_Table</a:t>
            </a:r>
            <a:r>
              <a:rPr lang="pt-BR" dirty="0"/>
              <a:t> [Filtros] [Ordenação] </a:t>
            </a:r>
            <a:r>
              <a:rPr lang="pt-BR" dirty="0" smtClean="0"/>
              <a:t>[...]</a:t>
            </a:r>
          </a:p>
          <a:p>
            <a:r>
              <a:rPr lang="pt-BR" dirty="0" err="1"/>
              <a:t>Lista_seleção</a:t>
            </a:r>
            <a:r>
              <a:rPr lang="pt-BR" dirty="0"/>
              <a:t>: Lista de colunas selecionadas;</a:t>
            </a:r>
          </a:p>
          <a:p>
            <a:r>
              <a:rPr lang="pt-BR" dirty="0" err="1" smtClean="0"/>
              <a:t>Expressão_Table</a:t>
            </a:r>
            <a:r>
              <a:rPr lang="pt-BR" dirty="0"/>
              <a:t>: Tabela a ser consultada pela query;</a:t>
            </a:r>
          </a:p>
          <a:p>
            <a:r>
              <a:rPr lang="pt-BR" dirty="0" smtClean="0"/>
              <a:t>Filtros</a:t>
            </a:r>
            <a:r>
              <a:rPr lang="pt-BR" dirty="0"/>
              <a:t>: Critérios para seleção dos dados da tabela;</a:t>
            </a:r>
          </a:p>
          <a:p>
            <a:r>
              <a:rPr lang="pt-BR" dirty="0" smtClean="0"/>
              <a:t>Ordenação</a:t>
            </a:r>
            <a:r>
              <a:rPr lang="pt-BR" dirty="0"/>
              <a:t>: Ordem de apresentação dos dados selecionados;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11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COMANDO SELECT - QUERY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O comando SELECT, seleciona dados e os retorna.</a:t>
            </a:r>
          </a:p>
          <a:p>
            <a:r>
              <a:rPr lang="pt-BR" dirty="0" smtClean="0"/>
              <a:t>Exemplos:</a:t>
            </a:r>
          </a:p>
          <a:p>
            <a:r>
              <a:rPr lang="pt-BR" dirty="0"/>
              <a:t>SELECT 4 *5</a:t>
            </a:r>
            <a:r>
              <a:rPr lang="pt-BR" dirty="0" smtClean="0"/>
              <a:t>;</a:t>
            </a:r>
          </a:p>
          <a:p>
            <a:r>
              <a:rPr lang="pt-BR" dirty="0"/>
              <a:t>SELECT ‘EXEMPLO QUERY</a:t>
            </a:r>
            <a:r>
              <a:rPr lang="pt-BR" dirty="0" smtClean="0"/>
              <a:t>’;</a:t>
            </a:r>
          </a:p>
          <a:p>
            <a:r>
              <a:rPr lang="pt-BR" dirty="0"/>
              <a:t>SELECT * FROM ATOR;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7610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SELEÇÃO DE CAMPOS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A lista de seleção pode ser:</a:t>
            </a:r>
          </a:p>
          <a:p>
            <a:r>
              <a:rPr lang="pt-BR" dirty="0" smtClean="0"/>
              <a:t>Um </a:t>
            </a:r>
            <a:r>
              <a:rPr lang="pt-BR" dirty="0"/>
              <a:t>subconjunto das colunas disponíveis na tabela;</a:t>
            </a:r>
          </a:p>
          <a:p>
            <a:r>
              <a:rPr lang="pt-BR" dirty="0" smtClean="0"/>
              <a:t>Cálculos </a:t>
            </a:r>
            <a:r>
              <a:rPr lang="pt-BR" dirty="0"/>
              <a:t>sobre um subconjunto de campos;</a:t>
            </a:r>
          </a:p>
          <a:p>
            <a:r>
              <a:rPr lang="pt-BR" dirty="0" smtClean="0"/>
              <a:t>* </a:t>
            </a:r>
            <a:r>
              <a:rPr lang="pt-BR" dirty="0"/>
              <a:t>- </a:t>
            </a:r>
            <a:r>
              <a:rPr lang="pt-BR" dirty="0" smtClean="0"/>
              <a:t>Tudo</a:t>
            </a:r>
          </a:p>
          <a:p>
            <a:r>
              <a:rPr lang="pt-BR" dirty="0"/>
              <a:t>SELECT titulo, descrição FROM </a:t>
            </a:r>
            <a:r>
              <a:rPr lang="pt-BR" dirty="0" smtClean="0"/>
              <a:t>Filme</a:t>
            </a:r>
          </a:p>
          <a:p>
            <a:r>
              <a:rPr lang="pt-BR" dirty="0"/>
              <a:t>SELECT titulo, descrição, (2 * taxa) FROM Filme</a:t>
            </a:r>
          </a:p>
          <a:p>
            <a:r>
              <a:rPr lang="pt-BR" dirty="0"/>
              <a:t>SELECT * FROM Filme</a:t>
            </a:r>
          </a:p>
          <a:p>
            <a:r>
              <a:rPr lang="pt-BR" dirty="0"/>
              <a:t>SELECT *, (2 * taxa) FROM Filme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6903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EXPRESSÃO TABLE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 A expressão TABLE computa uma tabela e contém:</a:t>
            </a:r>
          </a:p>
          <a:p>
            <a:r>
              <a:rPr lang="pt-BR" dirty="0" smtClean="0"/>
              <a:t>Uma </a:t>
            </a:r>
            <a:r>
              <a:rPr lang="pt-BR" dirty="0"/>
              <a:t>cláusula FROM;</a:t>
            </a:r>
          </a:p>
          <a:p>
            <a:r>
              <a:rPr lang="pt-BR" dirty="0" smtClean="0"/>
              <a:t>Pode </a:t>
            </a:r>
            <a:r>
              <a:rPr lang="pt-BR" dirty="0"/>
              <a:t>conter, opcionalmente</a:t>
            </a:r>
            <a:r>
              <a:rPr lang="pt-BR" dirty="0" smtClean="0"/>
              <a:t>: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r>
              <a:rPr lang="en-US" dirty="0"/>
              <a:t>SELECT * FROM ATOR WHERE </a:t>
            </a:r>
            <a:r>
              <a:rPr lang="en-US" dirty="0" err="1"/>
              <a:t>ator_id</a:t>
            </a:r>
            <a:r>
              <a:rPr lang="en-US" dirty="0"/>
              <a:t> = 5;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7312" y="3492402"/>
            <a:ext cx="5342801" cy="185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68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EXPRESSÃO TABLE - FROM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A cláusula FROM especifica:</a:t>
            </a:r>
          </a:p>
          <a:p>
            <a:r>
              <a:rPr lang="pt-BR" dirty="0" smtClean="0"/>
              <a:t>Uma </a:t>
            </a:r>
            <a:r>
              <a:rPr lang="pt-BR" dirty="0"/>
              <a:t>tabela;</a:t>
            </a:r>
          </a:p>
          <a:p>
            <a:r>
              <a:rPr lang="pt-BR" dirty="0" smtClean="0"/>
              <a:t>Uma </a:t>
            </a:r>
            <a:r>
              <a:rPr lang="pt-BR" dirty="0" err="1"/>
              <a:t>subquery</a:t>
            </a:r>
            <a:r>
              <a:rPr lang="pt-BR" dirty="0"/>
              <a:t>;</a:t>
            </a:r>
          </a:p>
          <a:p>
            <a:r>
              <a:rPr lang="pt-BR" dirty="0" smtClean="0"/>
              <a:t>Um </a:t>
            </a:r>
            <a:r>
              <a:rPr lang="pt-BR" dirty="0"/>
              <a:t>JOIN ( junção de tabelas);</a:t>
            </a:r>
          </a:p>
          <a:p>
            <a:r>
              <a:rPr lang="pt-BR" dirty="0" smtClean="0"/>
              <a:t>Combinações </a:t>
            </a:r>
            <a:r>
              <a:rPr lang="pt-BR" dirty="0"/>
              <a:t>das opções anteriores</a:t>
            </a:r>
            <a:r>
              <a:rPr lang="pt-BR" dirty="0" smtClean="0"/>
              <a:t>...</a:t>
            </a:r>
          </a:p>
          <a:p>
            <a:r>
              <a:rPr lang="en-US" dirty="0"/>
              <a:t>SELECT * FROM ATOR;</a:t>
            </a:r>
          </a:p>
          <a:p>
            <a:r>
              <a:rPr lang="en-US" dirty="0"/>
              <a:t>SELECT * FROM ATOR WHERE </a:t>
            </a:r>
            <a:r>
              <a:rPr lang="en-US" dirty="0" err="1"/>
              <a:t>ator_id</a:t>
            </a:r>
            <a:r>
              <a:rPr lang="en-US" dirty="0"/>
              <a:t> = 5;</a:t>
            </a:r>
          </a:p>
          <a:p>
            <a:r>
              <a:rPr lang="en-US" dirty="0"/>
              <a:t>SELECT * FROM ATOR ORDER BY </a:t>
            </a:r>
            <a:r>
              <a:rPr lang="en-US" dirty="0" err="1"/>
              <a:t>nome</a:t>
            </a:r>
            <a:r>
              <a:rPr lang="en-US" dirty="0"/>
              <a:t>;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2164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EXPRESSÃO TABLE - ORDER BY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 A cláusula ORDER BY é utilizada para ordenar a output </a:t>
            </a:r>
            <a:r>
              <a:rPr lang="pt-BR" dirty="0" err="1"/>
              <a:t>table</a:t>
            </a:r>
            <a:r>
              <a:rPr lang="pt-BR" dirty="0"/>
              <a:t> a</a:t>
            </a:r>
          </a:p>
          <a:p>
            <a:pPr marL="0" indent="0">
              <a:buNone/>
            </a:pPr>
            <a:r>
              <a:rPr lang="pt-BR" dirty="0" smtClean="0"/>
              <a:t> partir </a:t>
            </a:r>
            <a:r>
              <a:rPr lang="pt-BR" dirty="0"/>
              <a:t>dos valores de uma ou mais </a:t>
            </a:r>
            <a:r>
              <a:rPr lang="pt-BR" dirty="0" smtClean="0"/>
              <a:t>colunas.</a:t>
            </a:r>
          </a:p>
          <a:p>
            <a:r>
              <a:rPr lang="en-US" dirty="0"/>
              <a:t>SELECT * FROM ATOR ORDER BY </a:t>
            </a:r>
            <a:r>
              <a:rPr lang="en-US" dirty="0" err="1"/>
              <a:t>nome</a:t>
            </a:r>
            <a:r>
              <a:rPr lang="en-US" dirty="0" smtClean="0"/>
              <a:t>;</a:t>
            </a:r>
          </a:p>
          <a:p>
            <a:r>
              <a:rPr lang="pt-BR" dirty="0"/>
              <a:t>Por padrão o ORDER BY ordena os registros em ordem </a:t>
            </a:r>
            <a:r>
              <a:rPr lang="pt-BR" dirty="0" err="1"/>
              <a:t>ASCendente</a:t>
            </a:r>
            <a:r>
              <a:rPr lang="pt-BR" dirty="0"/>
              <a:t>.</a:t>
            </a:r>
          </a:p>
          <a:p>
            <a:r>
              <a:rPr lang="pt-BR" dirty="0" smtClean="0"/>
              <a:t>Para </a:t>
            </a:r>
            <a:r>
              <a:rPr lang="pt-BR" dirty="0"/>
              <a:t>ordenar em ordem </a:t>
            </a:r>
            <a:r>
              <a:rPr lang="pt-BR" dirty="0" err="1"/>
              <a:t>DESCendente</a:t>
            </a:r>
            <a:r>
              <a:rPr lang="pt-BR" dirty="0"/>
              <a:t>, utilize o termo DESC</a:t>
            </a:r>
            <a:r>
              <a:rPr lang="pt-BR" dirty="0" smtClean="0"/>
              <a:t>.</a:t>
            </a:r>
          </a:p>
          <a:p>
            <a:r>
              <a:rPr lang="en-US" dirty="0"/>
              <a:t>SELECT * FROM ATOR ORDER BY </a:t>
            </a:r>
            <a:r>
              <a:rPr lang="en-US" dirty="0" err="1"/>
              <a:t>nome</a:t>
            </a:r>
            <a:r>
              <a:rPr lang="en-US" dirty="0"/>
              <a:t> </a:t>
            </a:r>
            <a:r>
              <a:rPr lang="en-US" dirty="0" err="1"/>
              <a:t>desc</a:t>
            </a:r>
            <a:r>
              <a:rPr lang="en-US" dirty="0"/>
              <a:t>;</a:t>
            </a:r>
          </a:p>
          <a:p>
            <a:r>
              <a:rPr lang="en-US" dirty="0"/>
              <a:t>SELECT * FROM ATOR ORDER BY </a:t>
            </a:r>
            <a:r>
              <a:rPr lang="en-US" dirty="0" err="1"/>
              <a:t>nome</a:t>
            </a:r>
            <a:r>
              <a:rPr lang="en-US" dirty="0"/>
              <a:t> </a:t>
            </a:r>
            <a:r>
              <a:rPr lang="en-US" dirty="0" err="1"/>
              <a:t>asc</a:t>
            </a:r>
            <a:r>
              <a:rPr lang="en-US" dirty="0"/>
              <a:t>;</a:t>
            </a:r>
            <a:endParaRPr lang="pt-BR" dirty="0" smtClean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259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EXPRESSÃO TABLE - WHERE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 err="1"/>
              <a:t>Where</a:t>
            </a:r>
            <a:r>
              <a:rPr lang="pt-BR" dirty="0"/>
              <a:t> define uma condição:</a:t>
            </a:r>
          </a:p>
          <a:p>
            <a:r>
              <a:rPr lang="pt-BR" dirty="0" smtClean="0"/>
              <a:t>Qualquer </a:t>
            </a:r>
            <a:r>
              <a:rPr lang="pt-BR" dirty="0"/>
              <a:t>expressão que retorne um valor do tipo booleano.</a:t>
            </a:r>
          </a:p>
          <a:p>
            <a:r>
              <a:rPr lang="pt-BR" dirty="0" smtClean="0"/>
              <a:t>Cada </a:t>
            </a:r>
            <a:r>
              <a:rPr lang="pt-BR" dirty="0"/>
              <a:t>linha da tabela virtual gerada pela cláusula FROM, </a:t>
            </a:r>
            <a:r>
              <a:rPr lang="pt-BR" dirty="0" smtClean="0"/>
              <a:t>é checada </a:t>
            </a:r>
            <a:r>
              <a:rPr lang="pt-BR" dirty="0"/>
              <a:t>de acordo com a condição WHERE.</a:t>
            </a:r>
          </a:p>
          <a:p>
            <a:r>
              <a:rPr lang="pt-BR" dirty="0" smtClean="0"/>
              <a:t>Se </a:t>
            </a:r>
            <a:r>
              <a:rPr lang="pt-BR" dirty="0"/>
              <a:t>o resultado for TRUE, a linha será considerada na tabela </a:t>
            </a:r>
            <a:r>
              <a:rPr lang="pt-BR" dirty="0" smtClean="0"/>
              <a:t>de saída </a:t>
            </a:r>
            <a:r>
              <a:rPr lang="pt-BR" dirty="0"/>
              <a:t>(output </a:t>
            </a:r>
            <a:r>
              <a:rPr lang="pt-BR" dirty="0" err="1"/>
              <a:t>table</a:t>
            </a:r>
            <a:r>
              <a:rPr lang="pt-BR" dirty="0"/>
              <a:t>).</a:t>
            </a:r>
          </a:p>
          <a:p>
            <a:r>
              <a:rPr lang="pt-BR" dirty="0" smtClean="0"/>
              <a:t>Se </a:t>
            </a:r>
            <a:r>
              <a:rPr lang="pt-BR" dirty="0"/>
              <a:t>o resultado dor FALSE ou NULL, a linha é descartada.</a:t>
            </a:r>
          </a:p>
          <a:p>
            <a:r>
              <a:rPr lang="pt-BR" dirty="0" smtClean="0"/>
              <a:t>A </a:t>
            </a:r>
            <a:r>
              <a:rPr lang="pt-BR" dirty="0"/>
              <a:t>condição WHERE, normalmente referencia uma coluna da </a:t>
            </a:r>
            <a:r>
              <a:rPr lang="pt-BR" dirty="0" smtClean="0"/>
              <a:t>tabela gerada </a:t>
            </a:r>
            <a:r>
              <a:rPr lang="pt-BR" dirty="0"/>
              <a:t>pela query.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300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EXPRESSÃO TABLE - WHERE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Exemplos de sentenças WHERE</a:t>
            </a:r>
            <a:r>
              <a:rPr lang="pt-BR" dirty="0" smtClean="0"/>
              <a:t>:</a:t>
            </a:r>
          </a:p>
          <a:p>
            <a:r>
              <a:rPr lang="en-US" dirty="0"/>
              <a:t>SELECT * FROM </a:t>
            </a:r>
            <a:r>
              <a:rPr lang="en-US" dirty="0" err="1"/>
              <a:t>Filme</a:t>
            </a:r>
            <a:r>
              <a:rPr lang="en-US" dirty="0"/>
              <a:t> WHERE taxa &lt;= 10</a:t>
            </a:r>
            <a:r>
              <a:rPr lang="en-US" dirty="0" smtClean="0"/>
              <a:t>;</a:t>
            </a:r>
          </a:p>
          <a:p>
            <a:r>
              <a:rPr lang="pt-BR" dirty="0"/>
              <a:t> LIKE – Utilizado para comparar </a:t>
            </a:r>
            <a:r>
              <a:rPr lang="pt-BR" dirty="0" smtClean="0"/>
              <a:t>texto</a:t>
            </a:r>
          </a:p>
          <a:p>
            <a:r>
              <a:rPr lang="en-US" dirty="0"/>
              <a:t>SELECT * FROM </a:t>
            </a:r>
            <a:r>
              <a:rPr lang="en-US" dirty="0" err="1"/>
              <a:t>ator</a:t>
            </a:r>
            <a:r>
              <a:rPr lang="en-US" dirty="0"/>
              <a:t> WHERE </a:t>
            </a:r>
            <a:r>
              <a:rPr lang="en-US" dirty="0" err="1"/>
              <a:t>nome</a:t>
            </a:r>
            <a:r>
              <a:rPr lang="en-US" dirty="0"/>
              <a:t> like 'Emilia</a:t>
            </a:r>
            <a:r>
              <a:rPr lang="en-US" dirty="0" smtClean="0"/>
              <a:t>';</a:t>
            </a:r>
          </a:p>
          <a:p>
            <a:pPr algn="ctr"/>
            <a:r>
              <a:rPr lang="pt-BR" dirty="0"/>
              <a:t>Um nome igual a ‘</a:t>
            </a:r>
            <a:r>
              <a:rPr lang="pt-BR" dirty="0" err="1"/>
              <a:t>Emilia</a:t>
            </a:r>
            <a:r>
              <a:rPr lang="pt-BR" dirty="0"/>
              <a:t>’</a:t>
            </a:r>
            <a:endParaRPr lang="en-US" dirty="0"/>
          </a:p>
          <a:p>
            <a:r>
              <a:rPr lang="en-US" dirty="0" smtClean="0"/>
              <a:t>SELECT </a:t>
            </a:r>
            <a:r>
              <a:rPr lang="en-US" dirty="0"/>
              <a:t>* FROM </a:t>
            </a:r>
            <a:r>
              <a:rPr lang="en-US" dirty="0" err="1"/>
              <a:t>ator</a:t>
            </a:r>
            <a:r>
              <a:rPr lang="en-US" dirty="0"/>
              <a:t> WHERE </a:t>
            </a:r>
            <a:r>
              <a:rPr lang="en-US" dirty="0" err="1"/>
              <a:t>nome</a:t>
            </a:r>
            <a:r>
              <a:rPr lang="en-US" dirty="0"/>
              <a:t> like 'Emi</a:t>
            </a:r>
            <a:r>
              <a:rPr lang="en-US" dirty="0" smtClean="0"/>
              <a:t>%';</a:t>
            </a:r>
          </a:p>
          <a:p>
            <a:pPr algn="ctr"/>
            <a:r>
              <a:rPr lang="pt-BR" dirty="0"/>
              <a:t>Um nome iniciado por ‘</a:t>
            </a:r>
            <a:r>
              <a:rPr lang="pt-BR" dirty="0" err="1"/>
              <a:t>Emi</a:t>
            </a:r>
            <a:r>
              <a:rPr lang="pt-BR" dirty="0"/>
              <a:t>’</a:t>
            </a:r>
            <a:endParaRPr lang="en-US" dirty="0"/>
          </a:p>
          <a:p>
            <a:r>
              <a:rPr lang="en-US" dirty="0"/>
              <a:t>SELECT * FROM </a:t>
            </a:r>
            <a:r>
              <a:rPr lang="en-US" dirty="0" err="1"/>
              <a:t>ator</a:t>
            </a:r>
            <a:r>
              <a:rPr lang="en-US" dirty="0"/>
              <a:t> WHERE </a:t>
            </a:r>
            <a:r>
              <a:rPr lang="en-US" dirty="0" err="1"/>
              <a:t>nome</a:t>
            </a:r>
            <a:r>
              <a:rPr lang="en-US" dirty="0"/>
              <a:t> like ‘E</a:t>
            </a:r>
            <a:r>
              <a:rPr lang="en-US" dirty="0" smtClean="0"/>
              <a:t>%';</a:t>
            </a:r>
          </a:p>
          <a:p>
            <a:pPr algn="ctr"/>
            <a:r>
              <a:rPr lang="pt-BR" dirty="0"/>
              <a:t>Um nome iniciado pela letra ‘E’</a:t>
            </a:r>
            <a:endParaRPr lang="en-US" dirty="0"/>
          </a:p>
          <a:p>
            <a:r>
              <a:rPr lang="en-US" dirty="0"/>
              <a:t>SELECT * FROM </a:t>
            </a:r>
            <a:r>
              <a:rPr lang="en-US" dirty="0" err="1"/>
              <a:t>ator</a:t>
            </a:r>
            <a:r>
              <a:rPr lang="en-US" dirty="0"/>
              <a:t> WHERE </a:t>
            </a:r>
            <a:r>
              <a:rPr lang="en-US" dirty="0" err="1"/>
              <a:t>nome</a:t>
            </a:r>
            <a:r>
              <a:rPr lang="en-US" dirty="0"/>
              <a:t> like ‘%a</a:t>
            </a:r>
            <a:r>
              <a:rPr lang="en-US" dirty="0" smtClean="0"/>
              <a:t>%';</a:t>
            </a:r>
          </a:p>
          <a:p>
            <a:pPr algn="ctr"/>
            <a:r>
              <a:rPr lang="pt-BR" dirty="0"/>
              <a:t>Um nome que contenha a letra ‘a’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8998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EXPRESSÃO TABLE - WHERE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BETWEEN – Entre um valor E </a:t>
            </a:r>
            <a:r>
              <a:rPr lang="pt-BR" dirty="0" smtClean="0"/>
              <a:t>outro</a:t>
            </a:r>
          </a:p>
          <a:p>
            <a:r>
              <a:rPr lang="en-US" dirty="0"/>
              <a:t>SELECT * FROM </a:t>
            </a:r>
            <a:r>
              <a:rPr lang="en-US" dirty="0" err="1"/>
              <a:t>Filme</a:t>
            </a:r>
            <a:r>
              <a:rPr lang="en-US" dirty="0"/>
              <a:t> WHERE taxa BETWEEN 5 AND 10</a:t>
            </a:r>
            <a:r>
              <a:rPr lang="en-US" dirty="0" smtClean="0"/>
              <a:t>;</a:t>
            </a:r>
          </a:p>
          <a:p>
            <a:r>
              <a:rPr lang="pt-BR" dirty="0"/>
              <a:t> IN – Define uma lista de </a:t>
            </a:r>
            <a:r>
              <a:rPr lang="pt-BR" dirty="0" smtClean="0"/>
              <a:t>itens</a:t>
            </a:r>
          </a:p>
          <a:p>
            <a:r>
              <a:rPr lang="en-US" dirty="0"/>
              <a:t>SELECT * FROM </a:t>
            </a:r>
            <a:r>
              <a:rPr lang="en-US" dirty="0" err="1"/>
              <a:t>Idioma</a:t>
            </a:r>
            <a:r>
              <a:rPr lang="en-US" dirty="0"/>
              <a:t> WHERE </a:t>
            </a:r>
            <a:r>
              <a:rPr lang="en-US" dirty="0" err="1"/>
              <a:t>nome</a:t>
            </a:r>
            <a:r>
              <a:rPr lang="en-US" dirty="0"/>
              <a:t> IN ('</a:t>
            </a:r>
            <a:r>
              <a:rPr lang="en-US" dirty="0" err="1"/>
              <a:t>Portugues</a:t>
            </a:r>
            <a:r>
              <a:rPr lang="en-US" dirty="0"/>
              <a:t>','</a:t>
            </a:r>
            <a:r>
              <a:rPr lang="en-US" dirty="0" err="1"/>
              <a:t>Inglês</a:t>
            </a:r>
            <a:r>
              <a:rPr lang="en-US" dirty="0"/>
              <a:t>');</a:t>
            </a:r>
          </a:p>
          <a:p>
            <a:r>
              <a:rPr lang="en-US" dirty="0"/>
              <a:t>SELECT * FROM </a:t>
            </a:r>
            <a:r>
              <a:rPr lang="en-US" dirty="0" err="1"/>
              <a:t>Filme</a:t>
            </a:r>
            <a:r>
              <a:rPr lang="en-US" dirty="0"/>
              <a:t> WHERE </a:t>
            </a:r>
            <a:r>
              <a:rPr lang="en-US" dirty="0" err="1"/>
              <a:t>Filme_id</a:t>
            </a:r>
            <a:r>
              <a:rPr lang="en-US" dirty="0"/>
              <a:t> IN (1,2);</a:t>
            </a:r>
          </a:p>
          <a:p>
            <a:r>
              <a:rPr lang="en-US" dirty="0"/>
              <a:t>SELECT * FROM </a:t>
            </a:r>
            <a:r>
              <a:rPr lang="en-US" dirty="0" err="1"/>
              <a:t>ator</a:t>
            </a:r>
            <a:r>
              <a:rPr lang="en-US" dirty="0"/>
              <a:t> WHERE </a:t>
            </a:r>
            <a:r>
              <a:rPr lang="en-US" dirty="0" err="1"/>
              <a:t>ator_id</a:t>
            </a:r>
            <a:r>
              <a:rPr lang="en-US" dirty="0"/>
              <a:t> </a:t>
            </a:r>
            <a:r>
              <a:rPr lang="en-US" dirty="0" smtClean="0"/>
              <a:t>IN (SELECT </a:t>
            </a:r>
            <a:r>
              <a:rPr lang="en-US" dirty="0" err="1"/>
              <a:t>ator_id</a:t>
            </a:r>
            <a:r>
              <a:rPr lang="en-US" dirty="0"/>
              <a:t> FROM </a:t>
            </a:r>
            <a:r>
              <a:rPr lang="en-US" dirty="0" err="1"/>
              <a:t>ator_filme</a:t>
            </a:r>
            <a:r>
              <a:rPr lang="en-US" dirty="0"/>
              <a:t> WHERE </a:t>
            </a:r>
            <a:r>
              <a:rPr lang="en-US" dirty="0" err="1"/>
              <a:t>filme_id</a:t>
            </a:r>
            <a:r>
              <a:rPr lang="en-US" dirty="0"/>
              <a:t> = 1);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050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EXPRESSÃO TABLE - GROUP BY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Após o filtro WHERE, seu conjunto de dados pode ainda precisar de </a:t>
            </a:r>
            <a:r>
              <a:rPr lang="pt-BR" dirty="0" smtClean="0"/>
              <a:t>um agrupamento </a:t>
            </a:r>
            <a:r>
              <a:rPr lang="pt-BR" dirty="0"/>
              <a:t>para linhas que tenham os mesmos valores em uma ou mais </a:t>
            </a:r>
            <a:r>
              <a:rPr lang="pt-BR" dirty="0" smtClean="0"/>
              <a:t>colunas. Isso </a:t>
            </a:r>
            <a:r>
              <a:rPr lang="pt-BR" dirty="0"/>
              <a:t>é possível utilizando o GROUP BY (e o HAVING).</a:t>
            </a:r>
          </a:p>
          <a:p>
            <a:r>
              <a:rPr lang="pt-BR" dirty="0" smtClean="0"/>
              <a:t>As </a:t>
            </a:r>
            <a:r>
              <a:rPr lang="pt-BR" dirty="0"/>
              <a:t>redundâncias são eliminadas;</a:t>
            </a:r>
          </a:p>
          <a:p>
            <a:r>
              <a:rPr lang="pt-BR" dirty="0" smtClean="0"/>
              <a:t>Permite </a:t>
            </a:r>
            <a:r>
              <a:rPr lang="pt-BR" dirty="0"/>
              <a:t>a utilização de funções de agregação como “soma”, “contagem</a:t>
            </a:r>
            <a:r>
              <a:rPr lang="pt-BR" dirty="0" smtClean="0"/>
              <a:t>”, “</a:t>
            </a:r>
            <a:r>
              <a:rPr lang="pt-BR" dirty="0"/>
              <a:t>média”, </a:t>
            </a:r>
            <a:r>
              <a:rPr lang="pt-BR" dirty="0" smtClean="0"/>
              <a:t>...;</a:t>
            </a:r>
          </a:p>
          <a:p>
            <a:r>
              <a:rPr lang="en-US" dirty="0"/>
              <a:t>SELECT * FROM </a:t>
            </a:r>
            <a:r>
              <a:rPr lang="en-US" dirty="0" err="1"/>
              <a:t>ator_filme</a:t>
            </a:r>
            <a:r>
              <a:rPr lang="en-US" dirty="0"/>
              <a:t>;</a:t>
            </a:r>
          </a:p>
          <a:p>
            <a:r>
              <a:rPr lang="en-US" dirty="0"/>
              <a:t>SELECT </a:t>
            </a:r>
            <a:r>
              <a:rPr lang="en-US" dirty="0" err="1"/>
              <a:t>filme_id</a:t>
            </a:r>
            <a:r>
              <a:rPr lang="en-US" dirty="0"/>
              <a:t>, COUNT(</a:t>
            </a:r>
            <a:r>
              <a:rPr lang="en-US" dirty="0" err="1"/>
              <a:t>ator_id</a:t>
            </a:r>
            <a:r>
              <a:rPr lang="en-US" dirty="0"/>
              <a:t>) FROM </a:t>
            </a:r>
            <a:r>
              <a:rPr lang="en-US" dirty="0" err="1"/>
              <a:t>ator_filme</a:t>
            </a: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GROUP BY </a:t>
            </a:r>
            <a:r>
              <a:rPr lang="en-US" dirty="0" err="1"/>
              <a:t>filme_id</a:t>
            </a:r>
            <a:r>
              <a:rPr lang="en-US" dirty="0"/>
              <a:t>;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3465" y="3530968"/>
            <a:ext cx="2196868" cy="3232396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492" y="5547580"/>
            <a:ext cx="2336420" cy="121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242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EXPRESSÃO TABLE - AGGREGATE FUNCTIONS (FUNÇÕES DE AGREGAÇÃO)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 SQL </a:t>
            </a:r>
            <a:r>
              <a:rPr lang="pt-BR" dirty="0" err="1"/>
              <a:t>aggregate</a:t>
            </a:r>
            <a:r>
              <a:rPr lang="pt-BR" dirty="0"/>
              <a:t> </a:t>
            </a:r>
            <a:r>
              <a:rPr lang="pt-BR" dirty="0" err="1"/>
              <a:t>functions</a:t>
            </a:r>
            <a:r>
              <a:rPr lang="pt-BR" dirty="0"/>
              <a:t> retornam um valor único, calculado dos</a:t>
            </a:r>
          </a:p>
          <a:p>
            <a:r>
              <a:rPr lang="pt-BR" dirty="0"/>
              <a:t>valores de uma coluna.</a:t>
            </a:r>
          </a:p>
          <a:p>
            <a:r>
              <a:rPr lang="pt-BR" dirty="0" err="1" smtClean="0"/>
              <a:t>Aggregate</a:t>
            </a:r>
            <a:r>
              <a:rPr lang="pt-BR" dirty="0" smtClean="0"/>
              <a:t> </a:t>
            </a:r>
            <a:r>
              <a:rPr lang="pt-BR" dirty="0" err="1"/>
              <a:t>functions</a:t>
            </a:r>
            <a:r>
              <a:rPr lang="pt-BR" dirty="0"/>
              <a:t> úteis:</a:t>
            </a:r>
          </a:p>
          <a:p>
            <a:r>
              <a:rPr lang="pt-BR" dirty="0" smtClean="0"/>
              <a:t>AVG</a:t>
            </a:r>
            <a:r>
              <a:rPr lang="pt-BR" dirty="0"/>
              <a:t>() – </a:t>
            </a:r>
            <a:r>
              <a:rPr lang="pt-BR" dirty="0" err="1"/>
              <a:t>Returna</a:t>
            </a:r>
            <a:r>
              <a:rPr lang="pt-BR" dirty="0"/>
              <a:t> o valor da media;</a:t>
            </a:r>
          </a:p>
          <a:p>
            <a:r>
              <a:rPr lang="pt-BR" dirty="0" smtClean="0"/>
              <a:t>COUNT</a:t>
            </a:r>
            <a:r>
              <a:rPr lang="pt-BR" dirty="0"/>
              <a:t>() – </a:t>
            </a:r>
            <a:r>
              <a:rPr lang="pt-BR" dirty="0" err="1"/>
              <a:t>Returna</a:t>
            </a:r>
            <a:r>
              <a:rPr lang="pt-BR" dirty="0"/>
              <a:t> o número de linhas;</a:t>
            </a:r>
          </a:p>
          <a:p>
            <a:r>
              <a:rPr lang="pt-BR" dirty="0" smtClean="0"/>
              <a:t>MAX</a:t>
            </a:r>
            <a:r>
              <a:rPr lang="pt-BR" dirty="0"/>
              <a:t>() – </a:t>
            </a:r>
            <a:r>
              <a:rPr lang="pt-BR" dirty="0" err="1"/>
              <a:t>Returna</a:t>
            </a:r>
            <a:r>
              <a:rPr lang="pt-BR" dirty="0"/>
              <a:t> o maior valor;</a:t>
            </a:r>
          </a:p>
          <a:p>
            <a:r>
              <a:rPr lang="pt-BR" dirty="0" smtClean="0"/>
              <a:t>MIN</a:t>
            </a:r>
            <a:r>
              <a:rPr lang="pt-BR" dirty="0"/>
              <a:t>() – </a:t>
            </a:r>
            <a:r>
              <a:rPr lang="pt-BR" dirty="0" err="1"/>
              <a:t>Returna</a:t>
            </a:r>
            <a:r>
              <a:rPr lang="pt-BR" dirty="0"/>
              <a:t> o menor valor;</a:t>
            </a:r>
          </a:p>
          <a:p>
            <a:r>
              <a:rPr lang="pt-BR" dirty="0" smtClean="0"/>
              <a:t>SUM</a:t>
            </a:r>
            <a:r>
              <a:rPr lang="pt-BR" dirty="0"/>
              <a:t>() – </a:t>
            </a:r>
            <a:r>
              <a:rPr lang="pt-BR" dirty="0" err="1"/>
              <a:t>Returna</a:t>
            </a:r>
            <a:r>
              <a:rPr lang="pt-BR" dirty="0"/>
              <a:t> a soma dos valores;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702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EXPRESSÃO TABLE - AGGREGATE FUNCTIONS (FUNÇÕES DE AGREGAÇÃO)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SELECT SUM(</a:t>
            </a:r>
            <a:r>
              <a:rPr lang="pt-BR" dirty="0" err="1"/>
              <a:t>taxa_aluguel</a:t>
            </a:r>
            <a:r>
              <a:rPr lang="pt-BR" dirty="0"/>
              <a:t>) FROM filme;</a:t>
            </a:r>
          </a:p>
          <a:p>
            <a:r>
              <a:rPr lang="pt-BR" dirty="0" smtClean="0"/>
              <a:t>SELECT </a:t>
            </a:r>
            <a:r>
              <a:rPr lang="pt-BR" dirty="0"/>
              <a:t>AVG(</a:t>
            </a:r>
            <a:r>
              <a:rPr lang="pt-BR" dirty="0" err="1"/>
              <a:t>taxa_aluguel</a:t>
            </a:r>
            <a:r>
              <a:rPr lang="pt-BR" dirty="0"/>
              <a:t>) FROM filme;</a:t>
            </a:r>
          </a:p>
          <a:p>
            <a:r>
              <a:rPr lang="pt-BR" dirty="0" smtClean="0"/>
              <a:t>SELECT </a:t>
            </a:r>
            <a:r>
              <a:rPr lang="pt-BR" dirty="0"/>
              <a:t>MAX(</a:t>
            </a:r>
            <a:r>
              <a:rPr lang="pt-BR" dirty="0" err="1"/>
              <a:t>taxa_aluguel</a:t>
            </a:r>
            <a:r>
              <a:rPr lang="pt-BR" dirty="0"/>
              <a:t>) FROM filme;</a:t>
            </a:r>
          </a:p>
          <a:p>
            <a:r>
              <a:rPr lang="pt-BR" dirty="0" smtClean="0"/>
              <a:t>SELECT </a:t>
            </a:r>
            <a:r>
              <a:rPr lang="pt-BR" dirty="0"/>
              <a:t>MIN(</a:t>
            </a:r>
            <a:r>
              <a:rPr lang="pt-BR" dirty="0" err="1"/>
              <a:t>taxa_aluguel</a:t>
            </a:r>
            <a:r>
              <a:rPr lang="pt-BR" dirty="0"/>
              <a:t>) FROM filme</a:t>
            </a:r>
            <a:r>
              <a:rPr lang="pt-BR" dirty="0" smtClean="0"/>
              <a:t>;</a:t>
            </a:r>
          </a:p>
          <a:p>
            <a:endParaRPr lang="pt-BR" dirty="0"/>
          </a:p>
          <a:p>
            <a:endParaRPr lang="pt-BR" dirty="0" smtClean="0"/>
          </a:p>
          <a:p>
            <a:r>
              <a:rPr lang="en-US" dirty="0"/>
              <a:t>SELECT </a:t>
            </a:r>
            <a:r>
              <a:rPr lang="en-US" dirty="0" err="1"/>
              <a:t>filme_id</a:t>
            </a:r>
            <a:r>
              <a:rPr lang="en-US" dirty="0"/>
              <a:t>, COUNT(</a:t>
            </a:r>
            <a:r>
              <a:rPr lang="en-US" dirty="0" err="1"/>
              <a:t>ator_id</a:t>
            </a:r>
            <a:r>
              <a:rPr lang="en-US" dirty="0"/>
              <a:t>) FROM </a:t>
            </a:r>
            <a:r>
              <a:rPr lang="en-US" dirty="0" err="1"/>
              <a:t>ator_filme</a:t>
            </a:r>
            <a:r>
              <a:rPr lang="en-US" dirty="0"/>
              <a:t> GROUP BY </a:t>
            </a:r>
            <a:r>
              <a:rPr lang="en-US" dirty="0" err="1"/>
              <a:t>filme_id</a:t>
            </a:r>
            <a:r>
              <a:rPr lang="en-US" dirty="0"/>
              <a:t>;</a:t>
            </a:r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7729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EXPRESSÃO TABLE - HAVING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A cláusula HAVING foi adicionada pois a WHERE não pode ser </a:t>
            </a:r>
            <a:r>
              <a:rPr lang="pt-BR" dirty="0" smtClean="0"/>
              <a:t>utilizada com </a:t>
            </a:r>
            <a:r>
              <a:rPr lang="pt-BR" dirty="0"/>
              <a:t>funções de agregação</a:t>
            </a:r>
            <a:r>
              <a:rPr lang="pt-BR" dirty="0" smtClean="0"/>
              <a:t>.</a:t>
            </a:r>
          </a:p>
          <a:p>
            <a:r>
              <a:rPr lang="en-US" dirty="0"/>
              <a:t>SELECT </a:t>
            </a:r>
            <a:r>
              <a:rPr lang="en-US" dirty="0" err="1"/>
              <a:t>filme_id</a:t>
            </a:r>
            <a:r>
              <a:rPr lang="en-US" dirty="0"/>
              <a:t>, COUNT(</a:t>
            </a:r>
            <a:r>
              <a:rPr lang="en-US" dirty="0" err="1"/>
              <a:t>ator_id</a:t>
            </a:r>
            <a:r>
              <a:rPr lang="en-US" dirty="0" smtClean="0"/>
              <a:t>) FROM </a:t>
            </a:r>
            <a:r>
              <a:rPr lang="en-US" dirty="0" err="1" smtClean="0"/>
              <a:t>ator_filme</a:t>
            </a:r>
            <a:r>
              <a:rPr lang="en-US" dirty="0" smtClean="0"/>
              <a:t> GROUP </a:t>
            </a:r>
            <a:r>
              <a:rPr lang="en-US" dirty="0"/>
              <a:t>BY </a:t>
            </a:r>
            <a:r>
              <a:rPr lang="en-US" dirty="0" err="1" smtClean="0"/>
              <a:t>filme_id</a:t>
            </a:r>
            <a:r>
              <a:rPr lang="en-US" dirty="0" smtClean="0"/>
              <a:t> HAVING </a:t>
            </a:r>
            <a:r>
              <a:rPr lang="en-US" dirty="0"/>
              <a:t>COUNT(</a:t>
            </a:r>
            <a:r>
              <a:rPr lang="en-US" dirty="0" err="1"/>
              <a:t>ator_id</a:t>
            </a:r>
            <a:r>
              <a:rPr lang="en-US" dirty="0"/>
              <a:t>) &gt;1;</a:t>
            </a:r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r>
              <a:rPr lang="en-US" dirty="0"/>
              <a:t>SELECT </a:t>
            </a:r>
            <a:r>
              <a:rPr lang="en-US" dirty="0" err="1"/>
              <a:t>filme_id</a:t>
            </a:r>
            <a:r>
              <a:rPr lang="en-US" dirty="0"/>
              <a:t>, COUNT(</a:t>
            </a:r>
            <a:r>
              <a:rPr lang="en-US" dirty="0" err="1"/>
              <a:t>ator_id</a:t>
            </a:r>
            <a:r>
              <a:rPr lang="en-US" dirty="0" smtClean="0"/>
              <a:t>) FROM </a:t>
            </a:r>
            <a:r>
              <a:rPr lang="en-US" dirty="0" err="1" smtClean="0"/>
              <a:t>ator_filme</a:t>
            </a:r>
            <a:r>
              <a:rPr lang="en-US" dirty="0" smtClean="0"/>
              <a:t> GROUP </a:t>
            </a:r>
            <a:r>
              <a:rPr lang="en-US" dirty="0"/>
              <a:t>BY </a:t>
            </a:r>
            <a:r>
              <a:rPr lang="en-US" dirty="0" err="1"/>
              <a:t>filme_id</a:t>
            </a:r>
            <a:r>
              <a:rPr lang="en-US" dirty="0"/>
              <a:t>;</a:t>
            </a:r>
            <a:endParaRPr lang="pt-BR" dirty="0" smtClean="0"/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892" y="3564128"/>
            <a:ext cx="2643570" cy="1070016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253" y="5262237"/>
            <a:ext cx="2545745" cy="1307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763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EXPRESSÃO TABLE - LIMIT E OFFSET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LIMIT e OFFSET permitem recuperar apenas um subconjunto </a:t>
            </a:r>
            <a:r>
              <a:rPr lang="pt-BR" dirty="0" smtClean="0"/>
              <a:t>das linhas </a:t>
            </a:r>
            <a:r>
              <a:rPr lang="pt-BR" dirty="0"/>
              <a:t>que forem geradas pela query;</a:t>
            </a:r>
          </a:p>
          <a:p>
            <a:r>
              <a:rPr lang="pt-BR" dirty="0" smtClean="0"/>
              <a:t>A </a:t>
            </a:r>
            <a:r>
              <a:rPr lang="pt-BR" dirty="0"/>
              <a:t>cláusula LIMIT restringe a quantidade máxima de linhas que </a:t>
            </a:r>
            <a:r>
              <a:rPr lang="pt-BR" dirty="0" smtClean="0"/>
              <a:t>será recuperada </a:t>
            </a:r>
            <a:r>
              <a:rPr lang="pt-BR" dirty="0"/>
              <a:t>do </a:t>
            </a:r>
            <a:r>
              <a:rPr lang="pt-BR" dirty="0" err="1"/>
              <a:t>select</a:t>
            </a:r>
            <a:r>
              <a:rPr lang="pt-BR" dirty="0" smtClean="0"/>
              <a:t>:</a:t>
            </a:r>
          </a:p>
          <a:p>
            <a:r>
              <a:rPr lang="en-US" dirty="0"/>
              <a:t>SELECT * FROM </a:t>
            </a:r>
            <a:r>
              <a:rPr lang="en-US" dirty="0" err="1"/>
              <a:t>ator_filme</a:t>
            </a:r>
            <a:r>
              <a:rPr lang="en-US" dirty="0"/>
              <a:t> LIMIT 10</a:t>
            </a:r>
            <a:r>
              <a:rPr lang="en-US" dirty="0" smtClean="0"/>
              <a:t>;</a:t>
            </a:r>
          </a:p>
          <a:p>
            <a:r>
              <a:rPr lang="pt-BR" dirty="0"/>
              <a:t>A cláusula OFFSET diz para pular uma quantidade de linhas </a:t>
            </a:r>
            <a:r>
              <a:rPr lang="pt-BR" dirty="0" smtClean="0"/>
              <a:t>antes de </a:t>
            </a:r>
            <a:r>
              <a:rPr lang="pt-BR" dirty="0"/>
              <a:t>retornar as linhas da query</a:t>
            </a:r>
            <a:r>
              <a:rPr lang="pt-BR" dirty="0" smtClean="0"/>
              <a:t>.</a:t>
            </a:r>
          </a:p>
          <a:p>
            <a:r>
              <a:rPr lang="en-US" dirty="0"/>
              <a:t>SELECT * FROM </a:t>
            </a:r>
            <a:r>
              <a:rPr lang="en-US" dirty="0" err="1"/>
              <a:t>ator_filme</a:t>
            </a:r>
            <a:r>
              <a:rPr lang="en-US" dirty="0"/>
              <a:t> OFFSET 10;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8923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EXERCÍCIOS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1. Escreva um comando SQL que liste os idiomas existentes no banco </a:t>
            </a:r>
            <a:r>
              <a:rPr lang="pt-BR" dirty="0" smtClean="0"/>
              <a:t>de dados </a:t>
            </a:r>
            <a:r>
              <a:rPr lang="pt-BR" dirty="0" err="1"/>
              <a:t>LocadoraDVD</a:t>
            </a:r>
            <a:r>
              <a:rPr lang="pt-BR" dirty="0"/>
              <a:t>;</a:t>
            </a:r>
          </a:p>
          <a:p>
            <a:r>
              <a:rPr lang="pt-BR" dirty="0" smtClean="0"/>
              <a:t>Resultado </a:t>
            </a:r>
            <a:r>
              <a:rPr lang="pt-BR" dirty="0"/>
              <a:t>Esperado: Português; Inglês; Espanhol; Italiano; Francês; Japonês; Chinês</a:t>
            </a:r>
            <a:r>
              <a:rPr lang="pt-BR" dirty="0" smtClean="0"/>
              <a:t>;...</a:t>
            </a:r>
          </a:p>
          <a:p>
            <a:r>
              <a:rPr lang="pt-BR" dirty="0" smtClean="0"/>
              <a:t>Crie uma tabela IDIOMA com os campos </a:t>
            </a:r>
            <a:r>
              <a:rPr lang="pt-BR" dirty="0" err="1" smtClean="0"/>
              <a:t>id_idioma</a:t>
            </a:r>
            <a:r>
              <a:rPr lang="pt-BR" dirty="0" smtClean="0"/>
              <a:t> e idioma e preencha eles com 100 idiomas.</a:t>
            </a:r>
            <a:endParaRPr lang="pt-BR" dirty="0"/>
          </a:p>
          <a:p>
            <a:r>
              <a:rPr lang="pt-BR" dirty="0"/>
              <a:t>2. Escreva um comando SQL que liste os atores existentes no banco </a:t>
            </a:r>
            <a:r>
              <a:rPr lang="pt-BR" dirty="0" smtClean="0"/>
              <a:t>de dados </a:t>
            </a:r>
            <a:r>
              <a:rPr lang="pt-BR" dirty="0" err="1"/>
              <a:t>LocadoraDVD</a:t>
            </a:r>
            <a:r>
              <a:rPr lang="pt-BR" dirty="0"/>
              <a:t>, em ordem alfabética decrescente</a:t>
            </a:r>
            <a:r>
              <a:rPr lang="pt-BR" dirty="0" smtClean="0"/>
              <a:t>;</a:t>
            </a:r>
          </a:p>
          <a:p>
            <a:r>
              <a:rPr lang="pt-BR" dirty="0"/>
              <a:t>Crie uma tabela </a:t>
            </a:r>
            <a:r>
              <a:rPr lang="pt-BR" dirty="0" smtClean="0"/>
              <a:t>ATOR com </a:t>
            </a:r>
            <a:r>
              <a:rPr lang="pt-BR" dirty="0"/>
              <a:t>os campos </a:t>
            </a:r>
            <a:r>
              <a:rPr lang="pt-BR" dirty="0" err="1" smtClean="0"/>
              <a:t>id_ator</a:t>
            </a:r>
            <a:r>
              <a:rPr lang="pt-BR" dirty="0"/>
              <a:t>,</a:t>
            </a:r>
            <a:r>
              <a:rPr lang="pt-BR" dirty="0" smtClean="0"/>
              <a:t> nome, sobrenome idade e </a:t>
            </a:r>
            <a:r>
              <a:rPr lang="pt-BR" dirty="0"/>
              <a:t>preencha eles com 100 </a:t>
            </a:r>
            <a:r>
              <a:rPr lang="pt-BR" dirty="0" smtClean="0"/>
              <a:t>atores.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8667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EXERCÍCIOS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lnSpcReduction="10000"/>
          </a:bodyPr>
          <a:lstStyle/>
          <a:p>
            <a:r>
              <a:rPr lang="pt-BR" dirty="0" smtClean="0"/>
              <a:t>3. </a:t>
            </a:r>
            <a:r>
              <a:rPr lang="pt-BR" dirty="0"/>
              <a:t>Escreva um comando SQL que mostre apenas nome e sobrenome </a:t>
            </a:r>
            <a:r>
              <a:rPr lang="pt-BR" dirty="0" smtClean="0"/>
              <a:t>do seu </a:t>
            </a:r>
            <a:r>
              <a:rPr lang="pt-BR" dirty="0"/>
              <a:t>ator favorito. A consulta deve ser formulada a partir das </a:t>
            </a:r>
            <a:r>
              <a:rPr lang="pt-BR" dirty="0" smtClean="0"/>
              <a:t>3 primeiras </a:t>
            </a:r>
            <a:r>
              <a:rPr lang="pt-BR" dirty="0"/>
              <a:t>letras do nome.</a:t>
            </a:r>
          </a:p>
          <a:p>
            <a:r>
              <a:rPr lang="pt-BR" dirty="0" smtClean="0"/>
              <a:t>4. </a:t>
            </a:r>
            <a:r>
              <a:rPr lang="pt-BR" dirty="0"/>
              <a:t>Escreva um comando SQL que liste a média de </a:t>
            </a:r>
            <a:r>
              <a:rPr lang="pt-BR" dirty="0" smtClean="0"/>
              <a:t>idade dos atores;</a:t>
            </a:r>
            <a:endParaRPr lang="pt-BR" dirty="0"/>
          </a:p>
          <a:p>
            <a:r>
              <a:rPr lang="pt-BR" dirty="0" smtClean="0"/>
              <a:t>5. </a:t>
            </a:r>
            <a:r>
              <a:rPr lang="pt-BR" dirty="0"/>
              <a:t>Escreva um comando SQL que liste </a:t>
            </a:r>
            <a:r>
              <a:rPr lang="pt-BR" dirty="0" smtClean="0"/>
              <a:t>os atores com mais de 40 anos.</a:t>
            </a:r>
          </a:p>
          <a:p>
            <a:r>
              <a:rPr lang="pt-BR" dirty="0" smtClean="0"/>
              <a:t>6. Escreva um comando SQL que liste o nome dos atores de forma decrescente;</a:t>
            </a:r>
          </a:p>
          <a:p>
            <a:r>
              <a:rPr lang="pt-BR" dirty="0" smtClean="0"/>
              <a:t>7. Escreva um comando SQL que conte o número de atores, outro SQL que traga o ator mais velho e outro que traga o ator mais novo;</a:t>
            </a:r>
          </a:p>
          <a:p>
            <a:r>
              <a:rPr lang="pt-BR" dirty="0" smtClean="0"/>
              <a:t>8. </a:t>
            </a:r>
            <a:r>
              <a:rPr lang="pt-BR" dirty="0"/>
              <a:t>Escreva um comando SQL </a:t>
            </a:r>
            <a:r>
              <a:rPr lang="pt-BR" dirty="0" smtClean="0"/>
              <a:t>que traga todos os </a:t>
            </a:r>
            <a:r>
              <a:rPr lang="pt-BR" smtClean="0"/>
              <a:t>atores entre 20 e 30 anos.</a:t>
            </a:r>
            <a:endParaRPr lang="pt-BR" dirty="0" smtClean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2089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REFERÊNCIAS</a:t>
            </a:r>
            <a:br>
              <a:rPr lang="pt-BR" dirty="0"/>
            </a:br>
            <a:r>
              <a:rPr lang="pt-BR" dirty="0"/>
              <a:t>BIBLIOGRÁFICAS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 err="1"/>
              <a:t>PostgreSQL</a:t>
            </a:r>
            <a:r>
              <a:rPr lang="pt-BR" dirty="0"/>
              <a:t> 9.0.22 </a:t>
            </a:r>
            <a:r>
              <a:rPr lang="pt-BR" dirty="0" err="1"/>
              <a:t>Documentation</a:t>
            </a:r>
            <a:r>
              <a:rPr lang="pt-BR" dirty="0"/>
              <a:t>. Disponível em</a:t>
            </a:r>
            <a:r>
              <a:rPr lang="pt-BR" dirty="0" smtClean="0"/>
              <a:t>: &lt;</a:t>
            </a:r>
            <a:r>
              <a:rPr lang="pt-BR" dirty="0"/>
              <a:t>https://www.postgresql.org/files/documentation/pdf/9</a:t>
            </a:r>
            <a:r>
              <a:rPr lang="pt-BR" dirty="0" smtClean="0"/>
              <a:t>. 0/postgresql-9.0-US.pdf</a:t>
            </a:r>
            <a:r>
              <a:rPr lang="pt-BR" dirty="0"/>
              <a:t>&gt;. Acesso em </a:t>
            </a:r>
            <a:r>
              <a:rPr lang="pt-BR" dirty="0" smtClean="0"/>
              <a:t>03 Jan. 2024.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4446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1710</TotalTime>
  <Words>1146</Words>
  <Application>Microsoft Office PowerPoint</Application>
  <PresentationFormat>Widescreen</PresentationFormat>
  <Paragraphs>130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Tema do Office</vt:lpstr>
      <vt:lpstr>Apresentação do PowerPoint</vt:lpstr>
      <vt:lpstr>COMANDO SELECT - QUERY</vt:lpstr>
      <vt:lpstr>COMANDO SELECT - QUERY</vt:lpstr>
      <vt:lpstr>SELEÇÃO DE CAMPOS</vt:lpstr>
      <vt:lpstr>EXPRESSÃO TABLE</vt:lpstr>
      <vt:lpstr>EXPRESSÃO TABLE - FROM</vt:lpstr>
      <vt:lpstr>EXPRESSÃO TABLE - ORDER BY</vt:lpstr>
      <vt:lpstr>EXPRESSÃO TABLE - WHERE</vt:lpstr>
      <vt:lpstr>EXPRESSÃO TABLE - WHERE</vt:lpstr>
      <vt:lpstr>EXPRESSÃO TABLE - WHERE</vt:lpstr>
      <vt:lpstr>EXPRESSÃO TABLE - GROUP BY</vt:lpstr>
      <vt:lpstr>EXPRESSÃO TABLE - AGGREGATE FUNCTIONS (FUNÇÕES DE AGREGAÇÃO)</vt:lpstr>
      <vt:lpstr>EXPRESSÃO TABLE - AGGREGATE FUNCTIONS (FUNÇÕES DE AGREGAÇÃO)</vt:lpstr>
      <vt:lpstr>EXPRESSÃO TABLE - HAVING</vt:lpstr>
      <vt:lpstr>EXPRESSÃO TABLE - LIMIT E OFFSET</vt:lpstr>
      <vt:lpstr>EXERCÍCIOS</vt:lpstr>
      <vt:lpstr>EXERCÍCIOS</vt:lpstr>
      <vt:lpstr>REFERÊNCIAS BIBLIOGRÁFICAS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Circuitos lógicos combinacionais e sequenciais</dc:title>
  <dc:creator>Matheus</dc:creator>
  <cp:lastModifiedBy>Matheus</cp:lastModifiedBy>
  <cp:revision>61</cp:revision>
  <dcterms:created xsi:type="dcterms:W3CDTF">2023-01-24T23:29:32Z</dcterms:created>
  <dcterms:modified xsi:type="dcterms:W3CDTF">2024-04-04T18:15:41Z</dcterms:modified>
</cp:coreProperties>
</file>