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2" r:id="rId2"/>
    <p:sldId id="259" r:id="rId3"/>
    <p:sldId id="272" r:id="rId4"/>
    <p:sldId id="273" r:id="rId5"/>
    <p:sldId id="274" r:id="rId6"/>
    <p:sldId id="275" r:id="rId7"/>
    <p:sldId id="276" r:id="rId8"/>
    <p:sldId id="277" r:id="rId9"/>
    <p:sldId id="283" r:id="rId10"/>
    <p:sldId id="278" r:id="rId11"/>
    <p:sldId id="279" r:id="rId12"/>
    <p:sldId id="280" r:id="rId13"/>
    <p:sldId id="281" r:id="rId14"/>
    <p:sldId id="271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5FEA4003-9820-4FBB-960E-E3BEFD4B7556}"/>
    <pc:docChg chg="undo custSel addSld modSld sldOrd">
      <pc:chgData name="matheus raffael simon" userId="b81fe4e685964744" providerId="LiveId" clId="{5FEA4003-9820-4FBB-960E-E3BEFD4B7556}" dt="2024-08-20T18:27:12.518" v="290" actId="20577"/>
      <pc:docMkLst>
        <pc:docMk/>
      </pc:docMkLst>
      <pc:sldChg chg="modSp mod">
        <pc:chgData name="matheus raffael simon" userId="b81fe4e685964744" providerId="LiveId" clId="{5FEA4003-9820-4FBB-960E-E3BEFD4B7556}" dt="2024-08-19T19:40:57.501" v="28" actId="6549"/>
        <pc:sldMkLst>
          <pc:docMk/>
          <pc:sldMk cId="3086868849" sldId="278"/>
        </pc:sldMkLst>
        <pc:spChg chg="mod">
          <ac:chgData name="matheus raffael simon" userId="b81fe4e685964744" providerId="LiveId" clId="{5FEA4003-9820-4FBB-960E-E3BEFD4B7556}" dt="2024-08-19T19:40:57.501" v="28" actId="6549"/>
          <ac:spMkLst>
            <pc:docMk/>
            <pc:sldMk cId="3086868849" sldId="278"/>
            <ac:spMk id="3" creationId="{00000000-0000-0000-0000-000000000000}"/>
          </ac:spMkLst>
        </pc:spChg>
      </pc:sldChg>
      <pc:sldChg chg="modSp mod">
        <pc:chgData name="matheus raffael simon" userId="b81fe4e685964744" providerId="LiveId" clId="{5FEA4003-9820-4FBB-960E-E3BEFD4B7556}" dt="2024-08-20T01:37:37.980" v="105" actId="1076"/>
        <pc:sldMkLst>
          <pc:docMk/>
          <pc:sldMk cId="704347541" sldId="279"/>
        </pc:sldMkLst>
        <pc:picChg chg="mod">
          <ac:chgData name="matheus raffael simon" userId="b81fe4e685964744" providerId="LiveId" clId="{5FEA4003-9820-4FBB-960E-E3BEFD4B7556}" dt="2024-08-20T01:37:37.980" v="105" actId="1076"/>
          <ac:picMkLst>
            <pc:docMk/>
            <pc:sldMk cId="704347541" sldId="279"/>
            <ac:picMk id="6" creationId="{00000000-0000-0000-0000-000000000000}"/>
          </ac:picMkLst>
        </pc:picChg>
      </pc:sldChg>
      <pc:sldChg chg="modSp mod ord">
        <pc:chgData name="matheus raffael simon" userId="b81fe4e685964744" providerId="LiveId" clId="{5FEA4003-9820-4FBB-960E-E3BEFD4B7556}" dt="2024-08-20T18:27:12.518" v="290" actId="20577"/>
        <pc:sldMkLst>
          <pc:docMk/>
          <pc:sldMk cId="480946753" sldId="281"/>
        </pc:sldMkLst>
        <pc:spChg chg="mod">
          <ac:chgData name="matheus raffael simon" userId="b81fe4e685964744" providerId="LiveId" clId="{5FEA4003-9820-4FBB-960E-E3BEFD4B7556}" dt="2024-08-20T18:27:12.518" v="290" actId="20577"/>
          <ac:spMkLst>
            <pc:docMk/>
            <pc:sldMk cId="480946753" sldId="281"/>
            <ac:spMk id="3" creationId="{00000000-0000-0000-0000-000000000000}"/>
          </ac:spMkLst>
        </pc:spChg>
      </pc:sldChg>
      <pc:sldChg chg="delSp modSp add mod">
        <pc:chgData name="matheus raffael simon" userId="b81fe4e685964744" providerId="LiveId" clId="{5FEA4003-9820-4FBB-960E-E3BEFD4B7556}" dt="2024-08-19T19:42:47.440" v="104" actId="20577"/>
        <pc:sldMkLst>
          <pc:docMk/>
          <pc:sldMk cId="1646057888" sldId="283"/>
        </pc:sldMkLst>
        <pc:spChg chg="mod">
          <ac:chgData name="matheus raffael simon" userId="b81fe4e685964744" providerId="LiveId" clId="{5FEA4003-9820-4FBB-960E-E3BEFD4B7556}" dt="2024-08-19T19:42:47.440" v="104" actId="20577"/>
          <ac:spMkLst>
            <pc:docMk/>
            <pc:sldMk cId="1646057888" sldId="283"/>
            <ac:spMk id="3" creationId="{00000000-0000-0000-0000-000000000000}"/>
          </ac:spMkLst>
        </pc:spChg>
        <pc:picChg chg="del">
          <ac:chgData name="matheus raffael simon" userId="b81fe4e685964744" providerId="LiveId" clId="{5FEA4003-9820-4FBB-960E-E3BEFD4B7556}" dt="2024-08-19T19:42:20.084" v="31" actId="478"/>
          <ac:picMkLst>
            <pc:docMk/>
            <pc:sldMk cId="1646057888" sldId="283"/>
            <ac:picMk id="5" creationId="{00000000-0000-0000-0000-000000000000}"/>
          </ac:picMkLst>
        </pc:picChg>
        <pc:picChg chg="del">
          <ac:chgData name="matheus raffael simon" userId="b81fe4e685964744" providerId="LiveId" clId="{5FEA4003-9820-4FBB-960E-E3BEFD4B7556}" dt="2024-08-19T19:42:18.871" v="30" actId="478"/>
          <ac:picMkLst>
            <pc:docMk/>
            <pc:sldMk cId="1646057888" sldId="283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postgresqlbr.blogspot.com.br/2007/07/o-comando-copy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/>
              <a:t>BANCO DE DADOS I</a:t>
            </a:r>
            <a:endParaRPr lang="pt-BR" sz="2800" dirty="0"/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93115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INSERT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Uma tabela criada não contém nenhum dado. Ela define um tipo de dado.</a:t>
            </a:r>
          </a:p>
          <a:p>
            <a:r>
              <a:rPr lang="pt-BR" dirty="0"/>
              <a:t>Os dados são inseridos nas tabelas em formas de </a:t>
            </a:r>
            <a:r>
              <a:rPr lang="pt-BR" dirty="0" err="1"/>
              <a:t>tuplas</a:t>
            </a:r>
            <a:r>
              <a:rPr lang="pt-BR" dirty="0"/>
              <a:t> (linhas), uma de cada vez (ou várias de uma vez).</a:t>
            </a:r>
          </a:p>
          <a:p>
            <a:r>
              <a:rPr lang="pt-BR" dirty="0"/>
              <a:t>A menor unidade de medida de uma tabela é uma linha, ainda que ela não contenha todos os campos.</a:t>
            </a:r>
          </a:p>
          <a:p>
            <a:r>
              <a:rPr lang="pt-BR" dirty="0"/>
              <a:t>O comando INSERT é utilizado para criar uma nova linha.</a:t>
            </a:r>
          </a:p>
          <a:p>
            <a:r>
              <a:rPr lang="pt-BR" dirty="0"/>
              <a:t>O comando requer o nome da tabela e os valores da linha.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38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INSERT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Para inserir linhas nas tabelas definidas com o comando CREATE TABLE, utilizaremos o comando INSERT: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527" y="2948662"/>
            <a:ext cx="9600495" cy="341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7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INSERT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 ordem das colunas é flexível, mas os valores devem estar alinhados com a declaração.</a:t>
            </a:r>
          </a:p>
          <a:p>
            <a:r>
              <a:rPr lang="pt-BR" dirty="0"/>
              <a:t>Tipos de dados que não sejam tipos numéricos simples, normalmente devem estar entre aspas simples ( ‘ ), ou duplas em alguns </a:t>
            </a:r>
            <a:r>
              <a:rPr lang="pt-BR" dirty="0" err="1"/>
              <a:t>SGBDs</a:t>
            </a:r>
            <a:r>
              <a:rPr lang="pt-BR" dirty="0"/>
              <a:t>, datas, por exemplo.</a:t>
            </a:r>
          </a:p>
          <a:p>
            <a:r>
              <a:rPr lang="pt-BR" dirty="0"/>
              <a:t>O comando pode ser escrito em múltiplas linhas.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7" y="4768712"/>
            <a:ext cx="10167269" cy="124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14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INSERT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Não é obrigatório listar o nome dos campos.</a:t>
            </a:r>
          </a:p>
          <a:p>
            <a:r>
              <a:rPr lang="pt-BR" dirty="0"/>
              <a:t>Os valores, nesse caso, devem ser listados na ordem em que foram declarados na tabela.</a:t>
            </a:r>
          </a:p>
          <a:p>
            <a:r>
              <a:rPr lang="en-US" dirty="0"/>
              <a:t>INSERT INTO ATOR VALUES(DEFAULT, ‘Lena', ‘Headey');</a:t>
            </a:r>
          </a:p>
          <a:p>
            <a:r>
              <a:rPr lang="pt-BR" dirty="0"/>
              <a:t>O termo DEFAULT faz com que o </a:t>
            </a:r>
            <a:r>
              <a:rPr lang="pt-BR" dirty="0" err="1"/>
              <a:t>PostgreSQL</a:t>
            </a:r>
            <a:r>
              <a:rPr lang="pt-BR" dirty="0"/>
              <a:t> utilize o valor padrão definido para a coluna.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17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INSERT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É possível inserir múltiplas linhas com um único comando: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159" y="3099071"/>
            <a:ext cx="5966977" cy="19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Popule</a:t>
            </a:r>
            <a:r>
              <a:rPr lang="pt-BR" dirty="0"/>
              <a:t> a TABELA IDIOMA com os idiomas abaixo:</a:t>
            </a:r>
          </a:p>
          <a:p>
            <a:r>
              <a:rPr lang="pt-BR" dirty="0"/>
              <a:t>Português; Inglês; Espanhol; Italiano; Francês; Japonês; Chinês;</a:t>
            </a:r>
          </a:p>
          <a:p>
            <a:r>
              <a:rPr lang="pt-BR" dirty="0" err="1"/>
              <a:t>Popule</a:t>
            </a:r>
            <a:r>
              <a:rPr lang="pt-BR" dirty="0"/>
              <a:t> a TABELA FILME com seus dois filmes ou séries favoritos.</a:t>
            </a:r>
          </a:p>
          <a:p>
            <a:r>
              <a:rPr lang="pt-BR" dirty="0" err="1"/>
              <a:t>Popule</a:t>
            </a:r>
            <a:r>
              <a:rPr lang="pt-BR" dirty="0"/>
              <a:t> a TABELA ATOR com os 5 (ou mais) principais atores de cada filme/série.</a:t>
            </a:r>
          </a:p>
          <a:p>
            <a:r>
              <a:rPr lang="pt-BR" dirty="0"/>
              <a:t>o Insira os vínculos entre as linhas da tabela ATOR e FILME, </a:t>
            </a:r>
            <a:r>
              <a:rPr lang="pt-BR" dirty="0" err="1"/>
              <a:t>populando</a:t>
            </a:r>
            <a:r>
              <a:rPr lang="pt-BR" dirty="0"/>
              <a:t> a tabela ATOR_FILME.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6638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COPY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comando COPY move dados entre tabelas do </a:t>
            </a:r>
            <a:r>
              <a:rPr lang="pt-BR" dirty="0" err="1"/>
              <a:t>PostgreSQL</a:t>
            </a:r>
            <a:r>
              <a:rPr lang="pt-BR" dirty="0"/>
              <a:t> e arquivos padronizados.</a:t>
            </a:r>
          </a:p>
          <a:p>
            <a:r>
              <a:rPr lang="pt-BR" dirty="0"/>
              <a:t>COPY TO copia conteúdo de uma tabela para um arquivo.</a:t>
            </a:r>
          </a:p>
          <a:p>
            <a:r>
              <a:rPr lang="pt-BR" dirty="0"/>
              <a:t>COPY FROM copia dados de um arquivo para uma tabela.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35" y="4000155"/>
            <a:ext cx="3993226" cy="111261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934" y="4019206"/>
            <a:ext cx="3802710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313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COPY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Crie uma tabela chamada ATOR com os campos NOME e </a:t>
            </a:r>
            <a:r>
              <a:rPr lang="pt-BR"/>
              <a:t>SOBRENOME apenas. 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057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COPY - OPTIONS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NULL ‘*’ = </a:t>
            </a:r>
            <a:r>
              <a:rPr lang="pt-BR" dirty="0">
                <a:solidFill>
                  <a:srgbClr val="FF0000"/>
                </a:solidFill>
              </a:rPr>
              <a:t>Especifica a </a:t>
            </a:r>
            <a:r>
              <a:rPr lang="pt-BR" dirty="0" err="1">
                <a:solidFill>
                  <a:srgbClr val="FF0000"/>
                </a:solidFill>
              </a:rPr>
              <a:t>string</a:t>
            </a:r>
            <a:r>
              <a:rPr lang="pt-BR" dirty="0">
                <a:solidFill>
                  <a:srgbClr val="FF0000"/>
                </a:solidFill>
              </a:rPr>
              <a:t> que representa um valor nulo no arquivo sendo copiado</a:t>
            </a:r>
          </a:p>
          <a:p>
            <a:r>
              <a:rPr lang="pt-BR" dirty="0"/>
              <a:t>CSV = </a:t>
            </a:r>
            <a:r>
              <a:rPr lang="pt-BR" dirty="0">
                <a:solidFill>
                  <a:srgbClr val="FF0000"/>
                </a:solidFill>
              </a:rPr>
              <a:t>Indica que o arquivo sendo copiado está no formato CSV</a:t>
            </a:r>
          </a:p>
          <a:p>
            <a:r>
              <a:rPr lang="pt-BR" dirty="0"/>
              <a:t>CSV HEADER = </a:t>
            </a:r>
            <a:r>
              <a:rPr lang="pt-BR" dirty="0">
                <a:solidFill>
                  <a:srgbClr val="FF0000"/>
                </a:solidFill>
              </a:rPr>
              <a:t>Usado quando o arquivo CSV contém uma linha de cabeçalho com nomes de colunas no início do arquivo; essa linha inicial será ignorada durante a cópia</a:t>
            </a:r>
          </a:p>
          <a:p>
            <a:r>
              <a:rPr lang="pt-BR" dirty="0"/>
              <a:t>DELIMITER = </a:t>
            </a:r>
            <a:r>
              <a:rPr lang="pt-BR" dirty="0">
                <a:solidFill>
                  <a:srgbClr val="FF0000"/>
                </a:solidFill>
              </a:rPr>
              <a:t>Permite especificar um caractere diferente como delimitador de campo em vez da vírgula padrão para arquivos CSV.</a:t>
            </a:r>
          </a:p>
          <a:p>
            <a:r>
              <a:rPr lang="pt-BR" dirty="0"/>
              <a:t>...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86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COPY FROM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Importar atores de um arquivo ‘atores.txt’;</a:t>
            </a:r>
          </a:p>
          <a:p>
            <a:r>
              <a:rPr lang="pt-BR" dirty="0"/>
              <a:t>Os campos NOME e SOBRENOME estão separados por ( , );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66" y="4106712"/>
            <a:ext cx="3657917" cy="111261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718" y="4129574"/>
            <a:ext cx="3535986" cy="10668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516" y="3161750"/>
            <a:ext cx="2682472" cy="30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47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COPY 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Exportar atores para o arquivo ‘atores2.txt’.</a:t>
            </a:r>
          </a:p>
          <a:p>
            <a:r>
              <a:rPr lang="pt-BR" dirty="0"/>
              <a:t>o Os campos NOME e SOBRENOME devem ser separados por ( | ).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96" y="4121953"/>
            <a:ext cx="3627434" cy="10973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634" y="4184033"/>
            <a:ext cx="3619814" cy="1089754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263" y="3151433"/>
            <a:ext cx="2682472" cy="315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58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Busque uma lista de países, prepare um arquivo com esses países e copie os dados para a tabela PAÍS={id, descrição, sigla}. Separe os dados no arquivo com ‘;’.</a:t>
            </a:r>
          </a:p>
          <a:p>
            <a:r>
              <a:rPr lang="pt-BR" dirty="0"/>
              <a:t>Busque uma lista de cidades brasileiras, prepare um arquivo com essas cidades e copie os dados para a tabela CIDADE={id, descrição, apelido}. Separe os dados no arquivo com ‘,’.</a:t>
            </a:r>
          </a:p>
          <a:p>
            <a:r>
              <a:rPr lang="pt-BR" dirty="0"/>
              <a:t>Exporte os dados das tabelas País e Cidade para arquivos distintos utilizando </a:t>
            </a:r>
            <a:r>
              <a:rPr lang="pt-BR"/>
              <a:t>o comando COPY.</a:t>
            </a:r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946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</a:t>
            </a:r>
            <a:br>
              <a:rPr lang="pt-BR" dirty="0"/>
            </a:br>
            <a:r>
              <a:rPr lang="pt-BR" dirty="0"/>
              <a:t>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PostgreSQL</a:t>
            </a:r>
            <a:r>
              <a:rPr lang="pt-BR" dirty="0"/>
              <a:t> 9.0.22 </a:t>
            </a:r>
            <a:r>
              <a:rPr lang="pt-BR" dirty="0" err="1"/>
              <a:t>Documentation</a:t>
            </a:r>
            <a:r>
              <a:rPr lang="pt-BR" dirty="0"/>
              <a:t>. Disponível em: &lt;https://www.postgresql.org/files/documentation/pdf/9. 0/postgresql-9.0-US.pdf&gt;. Acesso em 03 Jan. 2024.</a:t>
            </a:r>
          </a:p>
          <a:p>
            <a:r>
              <a:rPr lang="pt-BR" dirty="0"/>
              <a:t>O Comando </a:t>
            </a:r>
            <a:r>
              <a:rPr lang="pt-BR" dirty="0" err="1"/>
              <a:t>Copy</a:t>
            </a:r>
            <a:r>
              <a:rPr lang="pt-BR" dirty="0"/>
              <a:t>. Disponível em: </a:t>
            </a:r>
            <a:r>
              <a:rPr lang="pt-BR" dirty="0">
                <a:hlinkClick r:id="rId2"/>
              </a:rPr>
              <a:t>http://postgresqlbr.blogspot.com.br/2007/07/o-comando-copy.html</a:t>
            </a:r>
            <a:r>
              <a:rPr lang="pt-BR" dirty="0"/>
              <a:t> . Acesso em 3 Jan. </a:t>
            </a:r>
            <a:r>
              <a:rPr lang="pt-BR"/>
              <a:t>2024.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446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2712</TotalTime>
  <Words>662</Words>
  <Application>Microsoft Office PowerPoint</Application>
  <PresentationFormat>Widescreen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Apresentação do PowerPoint</vt:lpstr>
      <vt:lpstr>COMANDO INSERT</vt:lpstr>
      <vt:lpstr>COMANDO INSERT</vt:lpstr>
      <vt:lpstr>COMANDO INSERT</vt:lpstr>
      <vt:lpstr>COMANDO INSERT</vt:lpstr>
      <vt:lpstr>COMANDO INSERT</vt:lpstr>
      <vt:lpstr>EXERCÍCIO</vt:lpstr>
      <vt:lpstr>COPY</vt:lpstr>
      <vt:lpstr>COPY</vt:lpstr>
      <vt:lpstr>COPY - OPTIONS</vt:lpstr>
      <vt:lpstr>COPY FROM</vt:lpstr>
      <vt:lpstr>COPY TO</vt:lpstr>
      <vt:lpstr>EXERCÍCIO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54</cp:revision>
  <dcterms:created xsi:type="dcterms:W3CDTF">2023-01-24T23:29:32Z</dcterms:created>
  <dcterms:modified xsi:type="dcterms:W3CDTF">2024-08-20T18:27:13Z</dcterms:modified>
</cp:coreProperties>
</file>