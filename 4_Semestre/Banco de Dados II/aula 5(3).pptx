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2" r:id="rId2"/>
    <p:sldId id="291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14" r:id="rId14"/>
    <p:sldId id="313" r:id="rId15"/>
    <p:sldId id="303" r:id="rId16"/>
    <p:sldId id="305" r:id="rId17"/>
    <p:sldId id="306" r:id="rId18"/>
    <p:sldId id="307" r:id="rId19"/>
    <p:sldId id="308" r:id="rId20"/>
    <p:sldId id="309" r:id="rId21"/>
    <p:sldId id="310" r:id="rId22"/>
    <p:sldId id="271" r:id="rId23"/>
    <p:sldId id="304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9C6FD-C2A2-4416-A17F-79D866658EC2}" v="15" dt="2024-08-19T19:17:54.6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5AA9C6FD-C2A2-4416-A17F-79D866658EC2}"/>
    <pc:docChg chg="undo custSel addSld delSld modSld">
      <pc:chgData name="matheus raffael simon" userId="b81fe4e685964744" providerId="LiveId" clId="{5AA9C6FD-C2A2-4416-A17F-79D866658EC2}" dt="2024-08-19T19:33:11.728" v="77" actId="47"/>
      <pc:docMkLst>
        <pc:docMk/>
      </pc:docMkLst>
      <pc:sldChg chg="del">
        <pc:chgData name="matheus raffael simon" userId="b81fe4e685964744" providerId="LiveId" clId="{5AA9C6FD-C2A2-4416-A17F-79D866658EC2}" dt="2024-08-19T19:02:51.263" v="1" actId="47"/>
        <pc:sldMkLst>
          <pc:docMk/>
          <pc:sldMk cId="4247130675" sldId="258"/>
        </pc:sldMkLst>
      </pc:sldChg>
      <pc:sldChg chg="modSp mod">
        <pc:chgData name="matheus raffael simon" userId="b81fe4e685964744" providerId="LiveId" clId="{5AA9C6FD-C2A2-4416-A17F-79D866658EC2}" dt="2024-08-19T19:04:27.060" v="6" actId="20577"/>
        <pc:sldMkLst>
          <pc:docMk/>
          <pc:sldMk cId="47285200" sldId="291"/>
        </pc:sldMkLst>
        <pc:spChg chg="mod">
          <ac:chgData name="matheus raffael simon" userId="b81fe4e685964744" providerId="LiveId" clId="{5AA9C6FD-C2A2-4416-A17F-79D866658EC2}" dt="2024-08-19T19:04:27.060" v="6" actId="20577"/>
          <ac:spMkLst>
            <pc:docMk/>
            <pc:sldMk cId="47285200" sldId="291"/>
            <ac:spMk id="3" creationId="{00000000-0000-0000-0000-000000000000}"/>
          </ac:spMkLst>
        </pc:spChg>
      </pc:sldChg>
      <pc:sldChg chg="addSp delSp modSp mod">
        <pc:chgData name="matheus raffael simon" userId="b81fe4e685964744" providerId="LiveId" clId="{5AA9C6FD-C2A2-4416-A17F-79D866658EC2}" dt="2024-08-19T19:13:40.351" v="62" actId="20577"/>
        <pc:sldMkLst>
          <pc:docMk/>
          <pc:sldMk cId="3945667494" sldId="302"/>
        </pc:sldMkLst>
        <pc:spChg chg="mod">
          <ac:chgData name="matheus raffael simon" userId="b81fe4e685964744" providerId="LiveId" clId="{5AA9C6FD-C2A2-4416-A17F-79D866658EC2}" dt="2024-08-19T19:11:04.559" v="36" actId="20577"/>
          <ac:spMkLst>
            <pc:docMk/>
            <pc:sldMk cId="3945667494" sldId="302"/>
            <ac:spMk id="2" creationId="{00000000-0000-0000-0000-000000000000}"/>
          </ac:spMkLst>
        </pc:spChg>
        <pc:spChg chg="add del mod">
          <ac:chgData name="matheus raffael simon" userId="b81fe4e685964744" providerId="LiveId" clId="{5AA9C6FD-C2A2-4416-A17F-79D866658EC2}" dt="2024-08-19T19:10:51.901" v="14" actId="27636"/>
          <ac:spMkLst>
            <pc:docMk/>
            <pc:sldMk cId="3945667494" sldId="302"/>
            <ac:spMk id="3" creationId="{00000000-0000-0000-0000-000000000000}"/>
          </ac:spMkLst>
        </pc:spChg>
        <pc:spChg chg="add mod">
          <ac:chgData name="matheus raffael simon" userId="b81fe4e685964744" providerId="LiveId" clId="{5AA9C6FD-C2A2-4416-A17F-79D866658EC2}" dt="2024-08-19T19:10:49.397" v="11"/>
          <ac:spMkLst>
            <pc:docMk/>
            <pc:sldMk cId="3945667494" sldId="302"/>
            <ac:spMk id="5" creationId="{59D92DA1-DD49-DDA0-F977-9F49FEBC7423}"/>
          </ac:spMkLst>
        </pc:spChg>
        <pc:spChg chg="add mod">
          <ac:chgData name="matheus raffael simon" userId="b81fe4e685964744" providerId="LiveId" clId="{5AA9C6FD-C2A2-4416-A17F-79D866658EC2}" dt="2024-08-19T19:13:40.351" v="62" actId="20577"/>
          <ac:spMkLst>
            <pc:docMk/>
            <pc:sldMk cId="3945667494" sldId="302"/>
            <ac:spMk id="6" creationId="{F3155733-A903-B157-35F4-2D7887EFF20E}"/>
          </ac:spMkLst>
        </pc:spChg>
        <pc:spChg chg="add">
          <ac:chgData name="matheus raffael simon" userId="b81fe4e685964744" providerId="LiveId" clId="{5AA9C6FD-C2A2-4416-A17F-79D866658EC2}" dt="2024-08-19T19:12:46.568" v="45"/>
          <ac:spMkLst>
            <pc:docMk/>
            <pc:sldMk cId="3945667494" sldId="302"/>
            <ac:spMk id="7" creationId="{46B6CAAE-4842-BC49-A6BC-0795912ECAD4}"/>
          </ac:spMkLst>
        </pc:spChg>
        <pc:spChg chg="add">
          <ac:chgData name="matheus raffael simon" userId="b81fe4e685964744" providerId="LiveId" clId="{5AA9C6FD-C2A2-4416-A17F-79D866658EC2}" dt="2024-08-19T19:13:23.818" v="52"/>
          <ac:spMkLst>
            <pc:docMk/>
            <pc:sldMk cId="3945667494" sldId="302"/>
            <ac:spMk id="9" creationId="{B07969D5-D9AB-A7D2-7F80-1AD152830A7F}"/>
          </ac:spMkLst>
        </pc:spChg>
      </pc:sldChg>
      <pc:sldChg chg="modSp mod">
        <pc:chgData name="matheus raffael simon" userId="b81fe4e685964744" providerId="LiveId" clId="{5AA9C6FD-C2A2-4416-A17F-79D866658EC2}" dt="2024-08-19T19:16:31.325" v="72" actId="20577"/>
        <pc:sldMkLst>
          <pc:docMk/>
          <pc:sldMk cId="2422000838" sldId="310"/>
        </pc:sldMkLst>
        <pc:spChg chg="mod">
          <ac:chgData name="matheus raffael simon" userId="b81fe4e685964744" providerId="LiveId" clId="{5AA9C6FD-C2A2-4416-A17F-79D866658EC2}" dt="2024-08-19T19:16:31.325" v="72" actId="20577"/>
          <ac:spMkLst>
            <pc:docMk/>
            <pc:sldMk cId="2422000838" sldId="310"/>
            <ac:spMk id="3" creationId="{00000000-0000-0000-0000-000000000000}"/>
          </ac:spMkLst>
        </pc:spChg>
      </pc:sldChg>
      <pc:sldChg chg="add del">
        <pc:chgData name="matheus raffael simon" userId="b81fe4e685964744" providerId="LiveId" clId="{5AA9C6FD-C2A2-4416-A17F-79D866658EC2}" dt="2024-08-19T19:17:27.477" v="75" actId="2696"/>
        <pc:sldMkLst>
          <pc:docMk/>
          <pc:sldMk cId="973201458" sldId="311"/>
        </pc:sldMkLst>
      </pc:sldChg>
      <pc:sldChg chg="add del">
        <pc:chgData name="matheus raffael simon" userId="b81fe4e685964744" providerId="LiveId" clId="{5AA9C6FD-C2A2-4416-A17F-79D866658EC2}" dt="2024-08-19T19:33:11.728" v="77" actId="47"/>
        <pc:sldMkLst>
          <pc:docMk/>
          <pc:sldMk cId="2837613314" sldId="311"/>
        </pc:sldMkLst>
      </pc:sldChg>
      <pc:sldChg chg="add">
        <pc:chgData name="matheus raffael simon" userId="b81fe4e685964744" providerId="LiveId" clId="{5AA9C6FD-C2A2-4416-A17F-79D866658EC2}" dt="2024-08-19T19:02:49.576" v="0"/>
        <pc:sldMkLst>
          <pc:docMk/>
          <pc:sldMk cId="2136392277" sldId="312"/>
        </pc:sldMkLst>
      </pc:sldChg>
      <pc:sldChg chg="add">
        <pc:chgData name="matheus raffael simon" userId="b81fe4e685964744" providerId="LiveId" clId="{5AA9C6FD-C2A2-4416-A17F-79D866658EC2}" dt="2024-08-19T19:10:40.655" v="7" actId="2890"/>
        <pc:sldMkLst>
          <pc:docMk/>
          <pc:sldMk cId="3981678563" sldId="313"/>
        </pc:sldMkLst>
      </pc:sldChg>
      <pc:sldChg chg="addSp modSp add mod">
        <pc:chgData name="matheus raffael simon" userId="b81fe4e685964744" providerId="LiveId" clId="{5AA9C6FD-C2A2-4416-A17F-79D866658EC2}" dt="2024-08-19T19:14:29.663" v="69"/>
        <pc:sldMkLst>
          <pc:docMk/>
          <pc:sldMk cId="707321332" sldId="314"/>
        </pc:sldMkLst>
        <pc:spChg chg="mod">
          <ac:chgData name="matheus raffael simon" userId="b81fe4e685964744" providerId="LiveId" clId="{5AA9C6FD-C2A2-4416-A17F-79D866658EC2}" dt="2024-08-19T19:11:24.926" v="43" actId="20577"/>
          <ac:spMkLst>
            <pc:docMk/>
            <pc:sldMk cId="707321332" sldId="314"/>
            <ac:spMk id="2" creationId="{00000000-0000-0000-0000-000000000000}"/>
          </ac:spMkLst>
        </pc:spChg>
        <pc:spChg chg="mod">
          <ac:chgData name="matheus raffael simon" userId="b81fe4e685964744" providerId="LiveId" clId="{5AA9C6FD-C2A2-4416-A17F-79D866658EC2}" dt="2024-08-19T19:11:23.030" v="41" actId="27636"/>
          <ac:spMkLst>
            <pc:docMk/>
            <pc:sldMk cId="707321332" sldId="314"/>
            <ac:spMk id="3" creationId="{00000000-0000-0000-0000-000000000000}"/>
          </ac:spMkLst>
        </pc:spChg>
        <pc:spChg chg="add">
          <ac:chgData name="matheus raffael simon" userId="b81fe4e685964744" providerId="LiveId" clId="{5AA9C6FD-C2A2-4416-A17F-79D866658EC2}" dt="2024-08-19T19:11:17.161" v="38"/>
          <ac:spMkLst>
            <pc:docMk/>
            <pc:sldMk cId="707321332" sldId="314"/>
            <ac:spMk id="5" creationId="{B3848AA4-BDAC-B4A9-C57C-C3C814AEC378}"/>
          </ac:spMkLst>
        </pc:spChg>
        <pc:spChg chg="add mod">
          <ac:chgData name="matheus raffael simon" userId="b81fe4e685964744" providerId="LiveId" clId="{5AA9C6FD-C2A2-4416-A17F-79D866658EC2}" dt="2024-08-19T19:14:29.663" v="69"/>
          <ac:spMkLst>
            <pc:docMk/>
            <pc:sldMk cId="707321332" sldId="314"/>
            <ac:spMk id="6" creationId="{F2B2421B-7083-106C-74BF-AC965316C0C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50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49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08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263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338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0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4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4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366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15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0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19/08/2024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786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implilearn.com/tutorials/sql-tutorial/stored-procedure-in-sq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dirty="0"/>
              <a:t>BANCO DE DADOS II</a:t>
            </a: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213639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MÓDULOS ARMAZENADOS PERSISTENTES</a:t>
            </a:r>
            <a:br>
              <a:rPr lang="pt-BR" dirty="0"/>
            </a:br>
            <a:r>
              <a:rPr lang="pt-BR" dirty="0"/>
              <a:t>(PSM - PERSISTENT STORED MODULES)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Funções definidas por usuário e </a:t>
            </a:r>
            <a:r>
              <a:rPr lang="pt-BR" dirty="0" err="1"/>
              <a:t>Stored</a:t>
            </a:r>
            <a:r>
              <a:rPr lang="pt-BR" dirty="0"/>
              <a:t> Procedures (SP) são programas armazenados no servidor de banco de dados a fim de propiciar situações como:</a:t>
            </a:r>
          </a:p>
          <a:p>
            <a:r>
              <a:rPr lang="pt-BR" dirty="0"/>
              <a:t>Aumentar o reaproveitamento de código e melhorar a modularidade em contextos em que um banco de dados é utilizado por várias aplicações.</a:t>
            </a:r>
          </a:p>
          <a:p>
            <a:r>
              <a:rPr lang="pt-BR" dirty="0"/>
              <a:t>Reduzir a transferência de dados e o custo de comunicação entre o cliente e o servidor de banco de dados.</a:t>
            </a:r>
          </a:p>
          <a:p>
            <a:r>
              <a:rPr lang="pt-BR" dirty="0"/>
              <a:t>Contribuir para a manipulação de tipos complexos de dados montados pelos procedimentos.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28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MÓDULOS ARMAZENADOS PERSISTENTES</a:t>
            </a:r>
            <a:br>
              <a:rPr lang="pt-BR" dirty="0"/>
            </a:br>
            <a:r>
              <a:rPr lang="pt-BR" dirty="0"/>
              <a:t>(PSM - PERSISTENT STORED MODULES)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Uma </a:t>
            </a:r>
            <a:r>
              <a:rPr lang="pt-BR" dirty="0" err="1"/>
              <a:t>stored</a:t>
            </a:r>
            <a:r>
              <a:rPr lang="pt-BR" dirty="0"/>
              <a:t> procedure ou </a:t>
            </a:r>
            <a:r>
              <a:rPr lang="pt-BR" dirty="0" err="1"/>
              <a:t>user-defined</a:t>
            </a:r>
            <a:r>
              <a:rPr lang="pt-BR" dirty="0"/>
              <a:t> </a:t>
            </a:r>
            <a:r>
              <a:rPr lang="pt-BR" dirty="0" err="1"/>
              <a:t>function</a:t>
            </a:r>
            <a:r>
              <a:rPr lang="pt-BR" dirty="0"/>
              <a:t> (UDF) é um conjunto de comandos SQL e procedurais (declarações, atribuições, loops, condicionais </a:t>
            </a:r>
            <a:r>
              <a:rPr lang="pt-BR" dirty="0" err="1"/>
              <a:t>etc</a:t>
            </a:r>
            <a:r>
              <a:rPr lang="pt-BR" dirty="0"/>
              <a:t>) armazenados no servidor de banco de dados e que pode ser invocados por clientes desse servidor.</a:t>
            </a:r>
          </a:p>
          <a:p>
            <a:r>
              <a:rPr lang="pt-BR" dirty="0"/>
              <a:t>Normalmente as diferenças entre </a:t>
            </a:r>
            <a:r>
              <a:rPr lang="pt-BR" dirty="0" err="1"/>
              <a:t>Stored</a:t>
            </a:r>
            <a:r>
              <a:rPr lang="pt-BR" dirty="0"/>
              <a:t> Procedures e </a:t>
            </a:r>
            <a:r>
              <a:rPr lang="pt-BR" dirty="0" err="1"/>
              <a:t>User</a:t>
            </a:r>
            <a:r>
              <a:rPr lang="pt-BR" dirty="0"/>
              <a:t> </a:t>
            </a:r>
            <a:r>
              <a:rPr lang="pt-BR" dirty="0" err="1"/>
              <a:t>Difined</a:t>
            </a:r>
            <a:r>
              <a:rPr lang="pt-BR" dirty="0"/>
              <a:t> </a:t>
            </a:r>
            <a:r>
              <a:rPr lang="pt-BR" dirty="0" err="1"/>
              <a:t>Functions</a:t>
            </a:r>
            <a:r>
              <a:rPr lang="pt-BR" dirty="0"/>
              <a:t> são: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4263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MÓDULOS ARMAZENADOS PERSISTENTES</a:t>
            </a:r>
            <a:br>
              <a:rPr lang="pt-BR" dirty="0"/>
            </a:br>
            <a:r>
              <a:rPr lang="pt-BR" dirty="0"/>
              <a:t>(PSM - PERSISTENT STORED MODULES)</a:t>
            </a:r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603145"/>
              </p:ext>
            </p:extLst>
          </p:nvPr>
        </p:nvGraphicFramePr>
        <p:xfrm>
          <a:off x="838200" y="1825625"/>
          <a:ext cx="10515600" cy="2494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647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6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u="none" strike="noStrike" kern="1200" baseline="0" dirty="0" err="1"/>
                        <a:t>Stored</a:t>
                      </a:r>
                      <a:endParaRPr lang="pt-BR" sz="1800" u="none" strike="noStrike" kern="1200" baseline="0" dirty="0"/>
                    </a:p>
                    <a:p>
                      <a:pPr algn="ctr"/>
                      <a:r>
                        <a:rPr lang="pt-BR" sz="1800" u="none" strike="noStrike" kern="1200" baseline="0" dirty="0"/>
                        <a:t>Procedure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u="none" strike="noStrike" kern="1200" baseline="0" dirty="0" err="1"/>
                        <a:t>Function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u="none" strike="noStrike" kern="1200" baseline="0" dirty="0"/>
                        <a:t>Usa-se em uma expressão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u="none" strike="noStrike" kern="1200" baseline="0" dirty="0"/>
                        <a:t>Retorna um valor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u="none" strike="noStrike" kern="1200" baseline="0" dirty="0"/>
                        <a:t>Retorna valor como parâmetro OUT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u="none" strike="noStrike" kern="1200" baseline="0" dirty="0"/>
                        <a:t>Retorna um </a:t>
                      </a:r>
                      <a:r>
                        <a:rPr lang="pt-BR" sz="1800" u="none" strike="noStrike" kern="1200" baseline="0" dirty="0" err="1"/>
                        <a:t>result</a:t>
                      </a:r>
                      <a:r>
                        <a:rPr lang="pt-BR" sz="1800" u="none" strike="noStrike" kern="1200" baseline="0" dirty="0"/>
                        <a:t> set único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u="none" strike="noStrike" kern="1200" baseline="0" dirty="0"/>
                        <a:t>Retorna múltiplos </a:t>
                      </a:r>
                      <a:r>
                        <a:rPr lang="pt-BR" sz="1800" u="none" strike="noStrike" kern="1200" baseline="0" dirty="0" err="1"/>
                        <a:t>result</a:t>
                      </a:r>
                      <a:r>
                        <a:rPr lang="pt-BR" sz="1800" u="none" strike="noStrike" kern="1200" baseline="0" dirty="0"/>
                        <a:t> sets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842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MÓDULOS ARMAZENADOS PERSISTENTES</a:t>
            </a:r>
            <a:br>
              <a:rPr lang="pt-BR" dirty="0"/>
            </a:br>
            <a:r>
              <a:rPr lang="pt-BR" dirty="0"/>
              <a:t>(PSM - PERSISTENT STORED MODULES)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É comum ainda que Funções:</a:t>
            </a:r>
          </a:p>
          <a:p>
            <a:r>
              <a:rPr lang="pt-BR" dirty="0"/>
              <a:t>Não possam ser usadas para executar ações que modificam o estado do banco de dados.</a:t>
            </a:r>
          </a:p>
          <a:p>
            <a:r>
              <a:rPr lang="pt-BR" dirty="0"/>
              <a:t>Não possam retornar vários conjuntos de resultados.</a:t>
            </a:r>
          </a:p>
          <a:p>
            <a:r>
              <a:rPr lang="pt-BR" dirty="0"/>
              <a:t> Não dê suporte a TRY…CATCH etc.</a:t>
            </a:r>
          </a:p>
          <a:p>
            <a:r>
              <a:rPr lang="pt-BR" dirty="0"/>
              <a:t> Não possam chamar um procedimento armazenado.</a:t>
            </a:r>
          </a:p>
          <a:p>
            <a:r>
              <a:rPr lang="pt-BR" dirty="0"/>
              <a:t> Não possam fazer uso de SQL dinâmico ou tabelas temporárias.</a:t>
            </a:r>
          </a:p>
          <a:p>
            <a:r>
              <a:rPr lang="pt-BR" dirty="0"/>
              <a:t>Nesses casos seria indicado o uso de </a:t>
            </a:r>
            <a:r>
              <a:rPr lang="pt-BR" dirty="0" err="1"/>
              <a:t>Stored</a:t>
            </a:r>
            <a:r>
              <a:rPr lang="pt-BR" dirty="0"/>
              <a:t> Procedures.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144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MÓDULOS ARMAZENADOS PERSISTENTES</a:t>
            </a:r>
            <a:br>
              <a:rPr lang="pt-BR" dirty="0"/>
            </a:br>
            <a:r>
              <a:rPr lang="pt-BR" dirty="0"/>
              <a:t>(PSM - PERSISTENT STORED MODULES)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No entanto, O POSTGRESQL OPTA POR UMA SOLUÇÃO mais prática (e menos elegante), JUNTANDO OS DOIS CONCEITOS NO RECURSO FUNCTION.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067" y="3285116"/>
            <a:ext cx="6614132" cy="347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8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STORED PROCEDURES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As características, portanto, mais marcante de uma </a:t>
            </a:r>
            <a:r>
              <a:rPr lang="pt-BR" dirty="0" err="1"/>
              <a:t>Stored</a:t>
            </a:r>
            <a:r>
              <a:rPr lang="pt-BR" dirty="0"/>
              <a:t> Procedure no </a:t>
            </a:r>
            <a:r>
              <a:rPr lang="pt-BR" dirty="0" err="1"/>
              <a:t>PostgreSQL</a:t>
            </a:r>
            <a:r>
              <a:rPr lang="pt-BR" dirty="0"/>
              <a:t> são:</a:t>
            </a:r>
          </a:p>
          <a:p>
            <a:r>
              <a:rPr lang="pt-BR" dirty="0" err="1"/>
              <a:t>SPs</a:t>
            </a:r>
            <a:r>
              <a:rPr lang="pt-BR" dirty="0"/>
              <a:t> não retornam valores;</a:t>
            </a:r>
          </a:p>
          <a:p>
            <a:r>
              <a:rPr lang="pt-BR" dirty="0" err="1"/>
              <a:t>SPs</a:t>
            </a:r>
            <a:r>
              <a:rPr lang="pt-BR" dirty="0"/>
              <a:t> utilizam PLPGSQL;</a:t>
            </a:r>
          </a:p>
          <a:p>
            <a:pPr algn="ctr"/>
            <a:r>
              <a:rPr lang="pt-BR" dirty="0"/>
              <a:t>CREATE OR REPLACE FUNCTION </a:t>
            </a:r>
            <a:r>
              <a:rPr lang="pt-BR" dirty="0" err="1"/>
              <a:t>calculosMatematicos</a:t>
            </a:r>
            <a:r>
              <a:rPr lang="pt-BR" dirty="0"/>
              <a:t>(x </a:t>
            </a:r>
            <a:r>
              <a:rPr lang="pt-BR" dirty="0" err="1"/>
              <a:t>int</a:t>
            </a:r>
            <a:r>
              <a:rPr lang="pt-BR" dirty="0"/>
              <a:t>, y 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>
                <a:solidFill>
                  <a:srgbClr val="FF0000"/>
                </a:solidFill>
              </a:rPr>
              <a:t>OUT</a:t>
            </a:r>
            <a:r>
              <a:rPr lang="pt-BR" dirty="0"/>
              <a:t> soma</a:t>
            </a:r>
          </a:p>
          <a:p>
            <a:pPr marL="0" indent="0" algn="ctr">
              <a:buNone/>
            </a:pP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>
                <a:solidFill>
                  <a:srgbClr val="FF0000"/>
                </a:solidFill>
              </a:rPr>
              <a:t>OUT</a:t>
            </a:r>
            <a:r>
              <a:rPr lang="pt-BR" dirty="0"/>
              <a:t> </a:t>
            </a:r>
            <a:r>
              <a:rPr lang="pt-BR" dirty="0" err="1"/>
              <a:t>subtracao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>
                <a:solidFill>
                  <a:srgbClr val="FF0000"/>
                </a:solidFill>
              </a:rPr>
              <a:t>OUT</a:t>
            </a:r>
            <a:r>
              <a:rPr lang="pt-BR" dirty="0"/>
              <a:t> </a:t>
            </a:r>
            <a:r>
              <a:rPr lang="pt-BR" dirty="0" err="1"/>
              <a:t>multiplicacao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>
                <a:solidFill>
                  <a:srgbClr val="FF0000"/>
                </a:solidFill>
              </a:rPr>
              <a:t>OUT</a:t>
            </a:r>
            <a:r>
              <a:rPr lang="pt-BR" dirty="0"/>
              <a:t> </a:t>
            </a:r>
            <a:r>
              <a:rPr lang="pt-BR" dirty="0" err="1"/>
              <a:t>divisao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) AS $$</a:t>
            </a:r>
          </a:p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BEGIN</a:t>
            </a:r>
          </a:p>
          <a:p>
            <a:pPr marL="0" indent="0" algn="ctr">
              <a:buNone/>
            </a:pPr>
            <a:r>
              <a:rPr lang="pt-BR" dirty="0"/>
              <a:t>soma = x + y;</a:t>
            </a:r>
          </a:p>
          <a:p>
            <a:pPr marL="0" indent="0" algn="ctr">
              <a:buNone/>
            </a:pPr>
            <a:r>
              <a:rPr lang="pt-BR" dirty="0" err="1"/>
              <a:t>subtracao</a:t>
            </a:r>
            <a:r>
              <a:rPr lang="pt-BR" dirty="0"/>
              <a:t> = x - y;</a:t>
            </a:r>
          </a:p>
          <a:p>
            <a:pPr marL="0" indent="0" algn="ctr">
              <a:buNone/>
            </a:pPr>
            <a:r>
              <a:rPr lang="pt-BR" dirty="0" err="1"/>
              <a:t>multiplicacao</a:t>
            </a:r>
            <a:r>
              <a:rPr lang="pt-BR" dirty="0"/>
              <a:t> = x * y;</a:t>
            </a:r>
          </a:p>
          <a:p>
            <a:pPr marL="0" indent="0" algn="ctr">
              <a:buNone/>
            </a:pPr>
            <a:r>
              <a:rPr lang="pt-BR" dirty="0" err="1"/>
              <a:t>divisao</a:t>
            </a:r>
            <a:r>
              <a:rPr lang="pt-BR" dirty="0"/>
              <a:t> = x / y;</a:t>
            </a:r>
          </a:p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END</a:t>
            </a:r>
            <a:r>
              <a:rPr lang="pt-BR" dirty="0"/>
              <a:t>;</a:t>
            </a:r>
          </a:p>
          <a:p>
            <a:pPr marL="0" indent="0" algn="ctr">
              <a:buNone/>
            </a:pPr>
            <a:r>
              <a:rPr lang="pt-BR" dirty="0"/>
              <a:t>$$ LANGUAGE </a:t>
            </a:r>
            <a:r>
              <a:rPr lang="pt-BR" dirty="0" err="1">
                <a:solidFill>
                  <a:srgbClr val="FF0000"/>
                </a:solidFill>
              </a:rPr>
              <a:t>plpgsql</a:t>
            </a:r>
            <a:r>
              <a:rPr lang="pt-BR" dirty="0"/>
              <a:t>;</a:t>
            </a:r>
          </a:p>
          <a:p>
            <a:r>
              <a:rPr lang="pt-BR" dirty="0"/>
              <a:t>SELECT * FROM </a:t>
            </a:r>
            <a:r>
              <a:rPr lang="pt-BR" dirty="0" err="1"/>
              <a:t>CALCULOSmATEMATICOS</a:t>
            </a:r>
            <a:r>
              <a:rPr lang="pt-BR" dirty="0"/>
              <a:t>(2,5);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611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STORED PROCEDURES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Para retornar um </a:t>
            </a:r>
            <a:r>
              <a:rPr lang="pt-BR" dirty="0" err="1"/>
              <a:t>resultset</a:t>
            </a:r>
            <a:r>
              <a:rPr lang="pt-BR" dirty="0"/>
              <a:t> de uma query utilizando PLPGSQL utiliza-se o comando RETURN QUERY:</a:t>
            </a:r>
          </a:p>
          <a:p>
            <a:pPr marL="0" indent="0">
              <a:buNone/>
            </a:pPr>
            <a:r>
              <a:rPr lang="pt-BR" dirty="0"/>
              <a:t>CREATE OR REPLACE FUNCTION ATORES_FILMES_CACHES__(ID_ATOR </a:t>
            </a:r>
            <a:r>
              <a:rPr lang="pt-BR" dirty="0" err="1"/>
              <a:t>integer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/>
              <a:t>RETURNS TABLE(NOME TEXT, FILME TEXT, CACHE_ INTEGER)</a:t>
            </a:r>
          </a:p>
          <a:p>
            <a:pPr marL="0" indent="0">
              <a:buNone/>
            </a:pPr>
            <a:r>
              <a:rPr lang="pt-BR" dirty="0"/>
              <a:t>AS</a:t>
            </a:r>
          </a:p>
          <a:p>
            <a:pPr marL="0" indent="0">
              <a:buNone/>
            </a:pPr>
            <a:r>
              <a:rPr lang="pt-BR" dirty="0"/>
              <a:t>$$</a:t>
            </a:r>
          </a:p>
          <a:p>
            <a:pPr marL="0" indent="0">
              <a:buNone/>
            </a:pPr>
            <a:r>
              <a:rPr lang="pt-BR" dirty="0"/>
              <a:t>BEGIN</a:t>
            </a:r>
          </a:p>
          <a:p>
            <a:pPr marL="0" indent="0">
              <a:buNone/>
            </a:pPr>
            <a:r>
              <a:rPr lang="pt-BR" dirty="0"/>
              <a:t>RETURN QUERY</a:t>
            </a:r>
          </a:p>
          <a:p>
            <a:pPr marL="0" indent="0">
              <a:buNone/>
            </a:pPr>
            <a:r>
              <a:rPr lang="pt-BR" dirty="0"/>
              <a:t>SELECT A.NOME, F.NOME, C.CACHE AS CACHE_ FROM ATOR A </a:t>
            </a:r>
          </a:p>
          <a:p>
            <a:pPr marL="0" indent="0">
              <a:buNone/>
            </a:pPr>
            <a:r>
              <a:rPr lang="pt-BR" dirty="0"/>
              <a:t>INNER JOIN FILME_ATOR FA ON A.IDATOR=FA.IDATOR</a:t>
            </a:r>
          </a:p>
          <a:p>
            <a:pPr marL="0" indent="0">
              <a:buNone/>
            </a:pPr>
            <a:r>
              <a:rPr lang="pt-BR" dirty="0"/>
              <a:t>INNER JOIN FILME F ON F.IDFILME=FA.IDFILME</a:t>
            </a:r>
          </a:p>
          <a:p>
            <a:pPr marL="0" indent="0">
              <a:buNone/>
            </a:pPr>
            <a:r>
              <a:rPr lang="pt-BR" dirty="0"/>
              <a:t>INNER JOIN ATOR_CACHE C ON A.IDATOR=C.IDATOR</a:t>
            </a:r>
          </a:p>
          <a:p>
            <a:pPr marL="0" indent="0">
              <a:buNone/>
            </a:pPr>
            <a:r>
              <a:rPr lang="pt-BR" dirty="0"/>
              <a:t>WHERE A.IDATOR=ID_ATOR ORDER BY  F.NOME ASC;</a:t>
            </a:r>
          </a:p>
          <a:p>
            <a:pPr marL="0" indent="0">
              <a:buNone/>
            </a:pPr>
            <a:r>
              <a:rPr lang="pt-BR" dirty="0"/>
              <a:t>END;</a:t>
            </a:r>
          </a:p>
          <a:p>
            <a:pPr marL="0" indent="0">
              <a:buNone/>
            </a:pPr>
            <a:r>
              <a:rPr lang="pt-BR" dirty="0"/>
              <a:t>$$ LANGUAGE </a:t>
            </a:r>
            <a:r>
              <a:rPr lang="pt-BR" dirty="0" err="1"/>
              <a:t>plpgsql</a:t>
            </a:r>
            <a:r>
              <a:rPr lang="pt-BR" dirty="0"/>
              <a:t>;</a:t>
            </a:r>
          </a:p>
          <a:p>
            <a:r>
              <a:rPr lang="pt-BR" dirty="0"/>
              <a:t>SELECT * FROM ATORES_FILMES_CACHES__(1);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050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STORED PROCEDURES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Caso a </a:t>
            </a:r>
            <a:r>
              <a:rPr lang="pt-BR" dirty="0" err="1"/>
              <a:t>Stored</a:t>
            </a:r>
            <a:r>
              <a:rPr lang="pt-BR" dirty="0"/>
              <a:t> Procedure não utilize parâmetros OUT, deve então indicar que não há retorno.</a:t>
            </a:r>
          </a:p>
          <a:p>
            <a:pPr marL="0" indent="0" algn="ctr">
              <a:buNone/>
            </a:pPr>
            <a:r>
              <a:rPr lang="pt-BR" dirty="0"/>
              <a:t>CREATE OR REPLACE FUNCTION </a:t>
            </a:r>
            <a:r>
              <a:rPr lang="pt-BR" dirty="0" err="1"/>
              <a:t>Renomear_ATOR_nome</a:t>
            </a:r>
            <a:r>
              <a:rPr lang="pt-BR" dirty="0"/>
              <a:t>(matricula </a:t>
            </a:r>
            <a:r>
              <a:rPr lang="pt-BR" dirty="0" err="1"/>
              <a:t>integer</a:t>
            </a:r>
            <a:r>
              <a:rPr lang="pt-BR" dirty="0"/>
              <a:t>, </a:t>
            </a:r>
          </a:p>
          <a:p>
            <a:pPr marL="0" indent="0" algn="ctr">
              <a:buNone/>
            </a:pPr>
            <a:r>
              <a:rPr lang="pt-BR" dirty="0" err="1"/>
              <a:t>nome_novo</a:t>
            </a:r>
            <a:r>
              <a:rPr lang="pt-BR" dirty="0"/>
              <a:t> </a:t>
            </a:r>
            <a:r>
              <a:rPr lang="pt-BR" dirty="0" err="1"/>
              <a:t>text</a:t>
            </a:r>
            <a:r>
              <a:rPr lang="pt-BR" dirty="0"/>
              <a:t>)</a:t>
            </a:r>
          </a:p>
          <a:p>
            <a:pPr marL="0" indent="0" algn="ctr">
              <a:buNone/>
            </a:pPr>
            <a:r>
              <a:rPr lang="pt-BR" dirty="0"/>
              <a:t>RETURNS </a:t>
            </a:r>
            <a:r>
              <a:rPr lang="pt-BR" dirty="0" err="1"/>
              <a:t>void</a:t>
            </a:r>
            <a:r>
              <a:rPr lang="pt-BR" dirty="0"/>
              <a:t> AS</a:t>
            </a:r>
          </a:p>
          <a:p>
            <a:pPr marL="0" indent="0" algn="ctr">
              <a:buNone/>
            </a:pPr>
            <a:r>
              <a:rPr lang="pt-BR" dirty="0"/>
              <a:t>$$</a:t>
            </a:r>
          </a:p>
          <a:p>
            <a:pPr marL="0" indent="0" algn="ctr">
              <a:buNone/>
            </a:pPr>
            <a:r>
              <a:rPr lang="pt-BR" dirty="0"/>
              <a:t>BEGIN</a:t>
            </a:r>
          </a:p>
          <a:p>
            <a:pPr marL="0" indent="0" algn="ctr">
              <a:buNone/>
            </a:pPr>
            <a:r>
              <a:rPr lang="pt-BR" dirty="0"/>
              <a:t>UPDATE ATOR</a:t>
            </a:r>
          </a:p>
          <a:p>
            <a:pPr marL="0" indent="0" algn="ctr">
              <a:buNone/>
            </a:pPr>
            <a:r>
              <a:rPr lang="pt-BR" dirty="0"/>
              <a:t>set NOME = </a:t>
            </a:r>
            <a:r>
              <a:rPr lang="pt-BR" dirty="0" err="1"/>
              <a:t>nome_novo</a:t>
            </a:r>
            <a:endParaRPr lang="pt-BR" dirty="0"/>
          </a:p>
          <a:p>
            <a:pPr marL="0" indent="0" algn="ctr">
              <a:buNone/>
            </a:pPr>
            <a:r>
              <a:rPr lang="pt-BR" dirty="0" err="1"/>
              <a:t>where</a:t>
            </a:r>
            <a:r>
              <a:rPr lang="pt-BR" dirty="0"/>
              <a:t> IDATOR = matricula;</a:t>
            </a:r>
          </a:p>
          <a:p>
            <a:pPr marL="0" indent="0" algn="ctr">
              <a:buNone/>
            </a:pPr>
            <a:r>
              <a:rPr lang="pt-BR" dirty="0"/>
              <a:t>END;</a:t>
            </a:r>
          </a:p>
          <a:p>
            <a:pPr marL="0" indent="0" algn="ctr">
              <a:buNone/>
            </a:pPr>
            <a:r>
              <a:rPr lang="pt-BR" dirty="0"/>
              <a:t>$$</a:t>
            </a:r>
          </a:p>
          <a:p>
            <a:pPr marL="0" indent="0" algn="ctr">
              <a:buNone/>
            </a:pPr>
            <a:r>
              <a:rPr lang="pt-BR" dirty="0"/>
              <a:t>LANGUAGE PLPGSQL;</a:t>
            </a:r>
          </a:p>
          <a:p>
            <a:r>
              <a:rPr lang="pt-BR" dirty="0"/>
              <a:t>SELECT * FROM </a:t>
            </a:r>
            <a:r>
              <a:rPr lang="pt-BR" dirty="0" err="1"/>
              <a:t>Renomear_ATOR_nome</a:t>
            </a:r>
            <a:r>
              <a:rPr lang="pt-BR" dirty="0"/>
              <a:t>(3, '</a:t>
            </a:r>
            <a:r>
              <a:rPr lang="pt-BR" dirty="0" err="1"/>
              <a:t>Analdo</a:t>
            </a:r>
            <a:r>
              <a:rPr lang="pt-BR" dirty="0"/>
              <a:t> </a:t>
            </a:r>
            <a:r>
              <a:rPr lang="pt-BR" dirty="0" err="1"/>
              <a:t>Xuasneguer</a:t>
            </a:r>
            <a:r>
              <a:rPr lang="pt-BR" dirty="0"/>
              <a:t>')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655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PLPGSQL IF E CASE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Declarações IF e CASE permitem a execução de comandos baseada em condições.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65" y="2861928"/>
            <a:ext cx="4459892" cy="101396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849" y="2603849"/>
            <a:ext cx="3492827" cy="1272046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004" y="4231046"/>
            <a:ext cx="5328548" cy="21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1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PLPGSQL IF E CASE</a:t>
            </a:r>
          </a:p>
        </p:txBody>
      </p:sp>
      <p:pic>
        <p:nvPicPr>
          <p:cNvPr id="9" name="Espaço Reservado para Conteúdo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8084" y="1396892"/>
            <a:ext cx="8037271" cy="1674681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6274"/>
            <a:ext cx="6781039" cy="2202593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526" y="5220878"/>
            <a:ext cx="5328381" cy="150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21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Case completo.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CREATE OR REPLACE FUNCTION </a:t>
            </a:r>
            <a:r>
              <a:rPr lang="en-US" dirty="0" err="1"/>
              <a:t>exemplo_case</a:t>
            </a:r>
            <a:r>
              <a:rPr lang="en-US" dirty="0"/>
              <a:t>(</a:t>
            </a:r>
            <a:r>
              <a:rPr lang="en-US" dirty="0" err="1"/>
              <a:t>parametro</a:t>
            </a:r>
            <a:r>
              <a:rPr lang="en-US" dirty="0"/>
              <a:t> INTEGER)</a:t>
            </a:r>
          </a:p>
          <a:p>
            <a:r>
              <a:rPr lang="en-US" dirty="0"/>
              <a:t>RETURNS TEXT AS $$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CASE </a:t>
            </a:r>
          </a:p>
          <a:p>
            <a:r>
              <a:rPr lang="en-US" dirty="0"/>
              <a:t>        WHEN </a:t>
            </a:r>
            <a:r>
              <a:rPr lang="en-US" dirty="0" err="1"/>
              <a:t>parametro</a:t>
            </a:r>
            <a:r>
              <a:rPr lang="en-US" dirty="0"/>
              <a:t> &lt; 10 THEN</a:t>
            </a:r>
          </a:p>
          <a:p>
            <a:r>
              <a:rPr lang="en-US" dirty="0"/>
              <a:t>            RETURN 'Menor que 10';</a:t>
            </a:r>
          </a:p>
          <a:p>
            <a:r>
              <a:rPr lang="en-US" dirty="0"/>
              <a:t>        WHEN </a:t>
            </a:r>
            <a:r>
              <a:rPr lang="en-US" dirty="0" err="1"/>
              <a:t>parametro</a:t>
            </a:r>
            <a:r>
              <a:rPr lang="en-US" dirty="0"/>
              <a:t> = 10 THEN</a:t>
            </a:r>
          </a:p>
          <a:p>
            <a:r>
              <a:rPr lang="en-US" dirty="0"/>
              <a:t>            RETURN '</a:t>
            </a:r>
            <a:r>
              <a:rPr lang="en-US" dirty="0" err="1"/>
              <a:t>Igual</a:t>
            </a:r>
            <a:r>
              <a:rPr lang="en-US" dirty="0"/>
              <a:t> a 10';</a:t>
            </a:r>
          </a:p>
          <a:p>
            <a:r>
              <a:rPr lang="en-US" dirty="0"/>
              <a:t>        ELSE</a:t>
            </a:r>
          </a:p>
          <a:p>
            <a:r>
              <a:rPr lang="en-US" dirty="0"/>
              <a:t>            RETURN '</a:t>
            </a:r>
            <a:r>
              <a:rPr lang="en-US" dirty="0" err="1"/>
              <a:t>Maior</a:t>
            </a:r>
            <a:r>
              <a:rPr lang="en-US" dirty="0"/>
              <a:t> que 10';</a:t>
            </a:r>
          </a:p>
          <a:p>
            <a:r>
              <a:rPr lang="en-US" dirty="0"/>
              <a:t>    END CASE;</a:t>
            </a:r>
          </a:p>
          <a:p>
            <a:r>
              <a:rPr lang="en-US" dirty="0"/>
              <a:t>END;</a:t>
            </a:r>
          </a:p>
          <a:p>
            <a:r>
              <a:rPr lang="en-US" dirty="0"/>
              <a:t>$$ LANGUAGE </a:t>
            </a:r>
            <a:r>
              <a:rPr lang="en-US" dirty="0" err="1"/>
              <a:t>plpgsql</a:t>
            </a:r>
            <a:r>
              <a:rPr lang="en-US" dirty="0"/>
              <a:t>;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3155733-A903-B157-35F4-2D7887EFF20E}"/>
              </a:ext>
            </a:extLst>
          </p:cNvPr>
          <p:cNvSpPr txBox="1"/>
          <p:nvPr/>
        </p:nvSpPr>
        <p:spPr>
          <a:xfrm>
            <a:off x="7157883" y="5555227"/>
            <a:ext cx="3785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SELECT </a:t>
            </a:r>
            <a:r>
              <a:rPr lang="pt-BR" dirty="0" err="1">
                <a:solidFill>
                  <a:srgbClr val="FF0000"/>
                </a:solidFill>
              </a:rPr>
              <a:t>exemplo_case</a:t>
            </a:r>
            <a:r>
              <a:rPr lang="pt-BR" dirty="0">
                <a:solidFill>
                  <a:srgbClr val="FF0000"/>
                </a:solidFill>
              </a:rPr>
              <a:t>(5);</a:t>
            </a:r>
          </a:p>
          <a:p>
            <a:r>
              <a:rPr lang="pt-BR" dirty="0">
                <a:solidFill>
                  <a:srgbClr val="FF0000"/>
                </a:solidFill>
              </a:rPr>
              <a:t>SELECT </a:t>
            </a:r>
            <a:r>
              <a:rPr lang="pt-BR" dirty="0" err="1">
                <a:solidFill>
                  <a:srgbClr val="FF0000"/>
                </a:solidFill>
              </a:rPr>
              <a:t>exemplo_case</a:t>
            </a:r>
            <a:r>
              <a:rPr lang="pt-BR" dirty="0">
                <a:solidFill>
                  <a:srgbClr val="FF0000"/>
                </a:solidFill>
              </a:rPr>
              <a:t>(49);</a:t>
            </a:r>
          </a:p>
          <a:p>
            <a:r>
              <a:rPr lang="pt-BR" dirty="0">
                <a:solidFill>
                  <a:srgbClr val="FF0000"/>
                </a:solidFill>
              </a:rPr>
              <a:t>SELECT </a:t>
            </a:r>
            <a:r>
              <a:rPr lang="pt-BR" dirty="0" err="1">
                <a:solidFill>
                  <a:srgbClr val="FF0000"/>
                </a:solidFill>
              </a:rPr>
              <a:t>exemplo_case</a:t>
            </a:r>
            <a:r>
              <a:rPr lang="pt-BR" dirty="0">
                <a:solidFill>
                  <a:srgbClr val="FF0000"/>
                </a:solidFill>
              </a:rPr>
              <a:t>(10);</a:t>
            </a:r>
          </a:p>
          <a:p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667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IF completo.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CREATE OR REPLACE FUNCTION </a:t>
            </a:r>
            <a:r>
              <a:rPr lang="en-US" dirty="0" err="1"/>
              <a:t>exemplo_if</a:t>
            </a:r>
            <a:r>
              <a:rPr lang="en-US" dirty="0"/>
              <a:t>(</a:t>
            </a:r>
            <a:r>
              <a:rPr lang="en-US" dirty="0" err="1"/>
              <a:t>parametro</a:t>
            </a:r>
            <a:r>
              <a:rPr lang="en-US" dirty="0"/>
              <a:t> INTEGER)</a:t>
            </a:r>
          </a:p>
          <a:p>
            <a:r>
              <a:rPr lang="en-US" dirty="0"/>
              <a:t>RETURNS TEXT AS $$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IF </a:t>
            </a:r>
            <a:r>
              <a:rPr lang="en-US" dirty="0" err="1"/>
              <a:t>parametro</a:t>
            </a:r>
            <a:r>
              <a:rPr lang="en-US" dirty="0"/>
              <a:t> &lt; 10 THEN</a:t>
            </a:r>
          </a:p>
          <a:p>
            <a:r>
              <a:rPr lang="en-US" dirty="0"/>
              <a:t>        RETURN 'Menor que 10';</a:t>
            </a:r>
          </a:p>
          <a:p>
            <a:r>
              <a:rPr lang="en-US" dirty="0"/>
              <a:t>    ELSIF </a:t>
            </a:r>
            <a:r>
              <a:rPr lang="en-US" dirty="0" err="1"/>
              <a:t>parametro</a:t>
            </a:r>
            <a:r>
              <a:rPr lang="en-US" dirty="0"/>
              <a:t> = 10 THEN</a:t>
            </a:r>
          </a:p>
          <a:p>
            <a:r>
              <a:rPr lang="en-US" dirty="0"/>
              <a:t>        RETURN '</a:t>
            </a:r>
            <a:r>
              <a:rPr lang="en-US" dirty="0" err="1"/>
              <a:t>Igual</a:t>
            </a:r>
            <a:r>
              <a:rPr lang="en-US" dirty="0"/>
              <a:t> a 10';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RETURN '</a:t>
            </a:r>
            <a:r>
              <a:rPr lang="en-US" dirty="0" err="1"/>
              <a:t>Maior</a:t>
            </a:r>
            <a:r>
              <a:rPr lang="en-US" dirty="0"/>
              <a:t> que 10';</a:t>
            </a:r>
          </a:p>
          <a:p>
            <a:r>
              <a:rPr lang="en-US" dirty="0"/>
              <a:t>    END IF;</a:t>
            </a:r>
          </a:p>
          <a:p>
            <a:r>
              <a:rPr lang="en-US" dirty="0"/>
              <a:t>END;</a:t>
            </a:r>
          </a:p>
          <a:p>
            <a:r>
              <a:rPr lang="en-US" dirty="0"/>
              <a:t>$$ LANGUAGE </a:t>
            </a:r>
            <a:r>
              <a:rPr lang="en-US" dirty="0" err="1"/>
              <a:t>plpgsql</a:t>
            </a:r>
            <a:r>
              <a:rPr lang="en-US" dirty="0"/>
              <a:t>;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B2421B-7083-106C-74BF-AC965316C0C5}"/>
              </a:ext>
            </a:extLst>
          </p:cNvPr>
          <p:cNvSpPr txBox="1"/>
          <p:nvPr/>
        </p:nvSpPr>
        <p:spPr>
          <a:xfrm>
            <a:off x="7157883" y="5555227"/>
            <a:ext cx="3785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SELECT </a:t>
            </a:r>
            <a:r>
              <a:rPr lang="pt-BR" dirty="0" err="1">
                <a:solidFill>
                  <a:srgbClr val="FF0000"/>
                </a:solidFill>
              </a:rPr>
              <a:t>exemplo_if</a:t>
            </a:r>
            <a:r>
              <a:rPr lang="pt-BR" dirty="0">
                <a:solidFill>
                  <a:srgbClr val="FF0000"/>
                </a:solidFill>
              </a:rPr>
              <a:t>(5);</a:t>
            </a:r>
          </a:p>
          <a:p>
            <a:r>
              <a:rPr lang="pt-BR" dirty="0">
                <a:solidFill>
                  <a:srgbClr val="FF0000"/>
                </a:solidFill>
              </a:rPr>
              <a:t>SELECT </a:t>
            </a:r>
            <a:r>
              <a:rPr lang="pt-BR" dirty="0" err="1">
                <a:solidFill>
                  <a:srgbClr val="FF0000"/>
                </a:solidFill>
              </a:rPr>
              <a:t>exemplo_if</a:t>
            </a:r>
            <a:r>
              <a:rPr lang="pt-BR" dirty="0">
                <a:solidFill>
                  <a:srgbClr val="FF0000"/>
                </a:solidFill>
              </a:rPr>
              <a:t>(49);</a:t>
            </a:r>
          </a:p>
          <a:p>
            <a:r>
              <a:rPr lang="pt-BR" dirty="0">
                <a:solidFill>
                  <a:srgbClr val="FF0000"/>
                </a:solidFill>
              </a:rPr>
              <a:t>SELECT </a:t>
            </a:r>
            <a:r>
              <a:rPr lang="pt-BR" dirty="0" err="1">
                <a:solidFill>
                  <a:srgbClr val="FF0000"/>
                </a:solidFill>
              </a:rPr>
              <a:t>exemplo_if</a:t>
            </a:r>
            <a:r>
              <a:rPr lang="pt-BR" dirty="0">
                <a:solidFill>
                  <a:srgbClr val="FF0000"/>
                </a:solidFill>
              </a:rPr>
              <a:t>(10);</a:t>
            </a:r>
          </a:p>
          <a:p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321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DECLARAÇÃO DE VARIÁVEIS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Para declarar variáveis a serem utilizadas dentro do procedimento, utiliza-se a seção </a:t>
            </a:r>
            <a:r>
              <a:rPr lang="pt-BR" b="1" dirty="0"/>
              <a:t>DECLARE</a:t>
            </a:r>
            <a:r>
              <a:rPr lang="pt-BR" dirty="0"/>
              <a:t>.</a:t>
            </a:r>
          </a:p>
          <a:p>
            <a:r>
              <a:rPr lang="pt-BR" dirty="0"/>
              <a:t>As variáveis são declaradas com um identificador e um tipo.</a:t>
            </a:r>
          </a:p>
          <a:p>
            <a:pPr marL="0" indent="0" algn="ctr">
              <a:buNone/>
            </a:pPr>
            <a:r>
              <a:rPr lang="pt-BR" dirty="0"/>
              <a:t>CREATE OR REPLACE FUNCTION </a:t>
            </a:r>
            <a:r>
              <a:rPr lang="pt-BR" dirty="0" err="1"/>
              <a:t>buscar_ator</a:t>
            </a:r>
            <a:r>
              <a:rPr lang="pt-BR" dirty="0"/>
              <a:t>(</a:t>
            </a:r>
            <a:r>
              <a:rPr lang="pt-BR" dirty="0" err="1"/>
              <a:t>nome_ator</a:t>
            </a:r>
            <a:r>
              <a:rPr lang="pt-BR" dirty="0"/>
              <a:t> </a:t>
            </a:r>
            <a:r>
              <a:rPr lang="pt-BR" dirty="0" err="1"/>
              <a:t>text</a:t>
            </a:r>
            <a:r>
              <a:rPr lang="pt-BR" dirty="0"/>
              <a:t>)</a:t>
            </a:r>
          </a:p>
          <a:p>
            <a:pPr marL="0" indent="0" algn="ctr">
              <a:buNone/>
            </a:pPr>
            <a:r>
              <a:rPr lang="pt-BR" dirty="0"/>
              <a:t>RETURNS SETOF Alunos</a:t>
            </a:r>
          </a:p>
          <a:p>
            <a:pPr marL="0" indent="0" algn="ctr">
              <a:buNone/>
            </a:pPr>
            <a:r>
              <a:rPr lang="pt-BR" dirty="0"/>
              <a:t>AS $$</a:t>
            </a:r>
          </a:p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DECLARE</a:t>
            </a:r>
          </a:p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id </a:t>
            </a:r>
            <a:r>
              <a:rPr lang="pt-BR" dirty="0" err="1">
                <a:solidFill>
                  <a:srgbClr val="FF0000"/>
                </a:solidFill>
              </a:rPr>
              <a:t>integer</a:t>
            </a:r>
            <a:r>
              <a:rPr lang="pt-BR" dirty="0">
                <a:solidFill>
                  <a:srgbClr val="FF0000"/>
                </a:solidFill>
              </a:rPr>
              <a:t>;</a:t>
            </a:r>
          </a:p>
          <a:p>
            <a:pPr marL="0" indent="0" algn="ctr">
              <a:buNone/>
            </a:pPr>
            <a:r>
              <a:rPr lang="pt-BR" dirty="0"/>
              <a:t>BEGIN</a:t>
            </a:r>
          </a:p>
          <a:p>
            <a:pPr marL="0" indent="0" algn="ctr">
              <a:buNone/>
            </a:pPr>
            <a:r>
              <a:rPr lang="pt-BR" dirty="0"/>
              <a:t>RETURN QUERY SELECT * FROM ator WHERE nome </a:t>
            </a:r>
            <a:r>
              <a:rPr lang="pt-BR" dirty="0" err="1"/>
              <a:t>like</a:t>
            </a:r>
            <a:r>
              <a:rPr lang="pt-BR" dirty="0"/>
              <a:t> '%'||</a:t>
            </a:r>
            <a:r>
              <a:rPr lang="pt-BR" dirty="0" err="1"/>
              <a:t>nome_ator</a:t>
            </a:r>
            <a:r>
              <a:rPr lang="pt-BR" dirty="0"/>
              <a:t>||'%';</a:t>
            </a:r>
          </a:p>
          <a:p>
            <a:pPr marL="0" indent="0" algn="ctr">
              <a:buNone/>
            </a:pPr>
            <a:r>
              <a:rPr lang="pt-BR" dirty="0"/>
              <a:t>END;</a:t>
            </a:r>
          </a:p>
          <a:p>
            <a:pPr marL="0" indent="0" algn="ctr">
              <a:buNone/>
            </a:pPr>
            <a:r>
              <a:rPr lang="pt-BR" dirty="0"/>
              <a:t>$$</a:t>
            </a:r>
          </a:p>
          <a:p>
            <a:pPr marL="0" indent="0" algn="ctr">
              <a:buNone/>
            </a:pPr>
            <a:r>
              <a:rPr lang="pt-BR" dirty="0"/>
              <a:t>LANGUAGE PLPGSQL;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1678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DECLARAÇÃO DE VALOR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Para atribuir valor a uma variável se utiliza a sintaxe: </a:t>
            </a:r>
          </a:p>
          <a:p>
            <a:r>
              <a:rPr lang="pt-BR" dirty="0" err="1"/>
              <a:t>Id_ator</a:t>
            </a:r>
            <a:r>
              <a:rPr lang="pt-BR" dirty="0"/>
              <a:t> := 3;</a:t>
            </a:r>
          </a:p>
          <a:p>
            <a:r>
              <a:rPr lang="pt-BR" dirty="0"/>
              <a:t>Taxa := subtotal*0.06;</a:t>
            </a:r>
          </a:p>
          <a:p>
            <a:pPr algn="ctr"/>
            <a:r>
              <a:rPr lang="pt-BR" dirty="0"/>
              <a:t>CREATE OR REPLACE FUNCTION </a:t>
            </a:r>
            <a:r>
              <a:rPr lang="pt-BR" dirty="0" err="1"/>
              <a:t>buscar_ator</a:t>
            </a:r>
            <a:r>
              <a:rPr lang="pt-BR" dirty="0"/>
              <a:t>(</a:t>
            </a:r>
            <a:r>
              <a:rPr lang="pt-BR" dirty="0" err="1"/>
              <a:t>nome_ator</a:t>
            </a:r>
            <a:r>
              <a:rPr lang="pt-BR" dirty="0"/>
              <a:t> </a:t>
            </a:r>
            <a:r>
              <a:rPr lang="pt-BR" dirty="0" err="1"/>
              <a:t>text</a:t>
            </a:r>
            <a:r>
              <a:rPr lang="pt-BR" dirty="0"/>
              <a:t>)</a:t>
            </a:r>
          </a:p>
          <a:p>
            <a:pPr marL="0" indent="0" algn="ctr">
              <a:buNone/>
            </a:pPr>
            <a:r>
              <a:rPr lang="pt-BR" dirty="0"/>
              <a:t>RETURNS SETOF Alunos</a:t>
            </a:r>
          </a:p>
          <a:p>
            <a:pPr marL="0" indent="0" algn="ctr">
              <a:buNone/>
            </a:pPr>
            <a:r>
              <a:rPr lang="pt-BR" dirty="0"/>
              <a:t>AS $$</a:t>
            </a:r>
          </a:p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DECLARE</a:t>
            </a:r>
          </a:p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id </a:t>
            </a:r>
            <a:r>
              <a:rPr lang="pt-BR" dirty="0" err="1">
                <a:solidFill>
                  <a:srgbClr val="FF0000"/>
                </a:solidFill>
              </a:rPr>
              <a:t>integer</a:t>
            </a:r>
            <a:r>
              <a:rPr lang="pt-BR" dirty="0">
                <a:solidFill>
                  <a:srgbClr val="FF0000"/>
                </a:solidFill>
              </a:rPr>
              <a:t>;</a:t>
            </a:r>
          </a:p>
          <a:p>
            <a:pPr marL="0" indent="0" algn="ctr">
              <a:buNone/>
            </a:pPr>
            <a:r>
              <a:rPr lang="pt-BR" dirty="0"/>
              <a:t>BEGIN</a:t>
            </a:r>
          </a:p>
          <a:p>
            <a:pPr marL="0" indent="0" algn="ctr">
              <a:buNone/>
            </a:pPr>
            <a:r>
              <a:rPr lang="pt-BR" dirty="0"/>
              <a:t>RETURN QUERY SELECT * FROM ator WHERE nome </a:t>
            </a:r>
            <a:r>
              <a:rPr lang="pt-BR" dirty="0" err="1"/>
              <a:t>like</a:t>
            </a:r>
            <a:r>
              <a:rPr lang="pt-BR" dirty="0"/>
              <a:t> '%'||</a:t>
            </a:r>
            <a:r>
              <a:rPr lang="pt-BR" dirty="0" err="1"/>
              <a:t>nome_ator</a:t>
            </a:r>
            <a:r>
              <a:rPr lang="pt-BR" dirty="0"/>
              <a:t>||'%';</a:t>
            </a:r>
          </a:p>
          <a:p>
            <a:pPr marL="0" indent="0" algn="ctr">
              <a:buNone/>
            </a:pPr>
            <a:r>
              <a:rPr lang="pt-BR" dirty="0"/>
              <a:t>END;</a:t>
            </a:r>
          </a:p>
          <a:p>
            <a:pPr marL="0" indent="0" algn="ctr">
              <a:buNone/>
            </a:pPr>
            <a:r>
              <a:rPr lang="pt-BR" dirty="0"/>
              <a:t>$$</a:t>
            </a:r>
          </a:p>
          <a:p>
            <a:pPr marL="0" indent="0" algn="ctr">
              <a:buNone/>
            </a:pPr>
            <a:r>
              <a:rPr lang="pt-BR" dirty="0"/>
              <a:t>LANGUAGE PLPGSQL;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3639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Benefícios de uma SP.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PT" dirty="0"/>
              <a:t>Reutilizável: vários usuários e aplicativos podem facilmente usar e reutilizar procedimentos armazenados simplesmente chamando-os.</a:t>
            </a:r>
          </a:p>
          <a:p>
            <a:r>
              <a:rPr lang="pt-PT" dirty="0"/>
              <a:t>Fácil de modificar: você pode alterar rapidamente as instruções em um procedimento armazenado como e quando quiser, com a ajuda do comando ALTER TABLE.</a:t>
            </a:r>
          </a:p>
          <a:p>
            <a:r>
              <a:rPr lang="pt-PT" dirty="0"/>
              <a:t>Segurança: Os procedimentos armazenados permitem aumentar a segurança de um aplicativo ou banco de dados, restringindo o acesso direto dos usuários à tabela.</a:t>
            </a:r>
          </a:p>
          <a:p>
            <a:r>
              <a:rPr lang="pt-PT" dirty="0"/>
              <a:t>Baixo tráfego de rede: O servidor passa apenas o nome do procedimento em vez de toda a consulta, reduzindo o tráfego de rede.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8191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Benefícios de uma SP.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Aumenta o desempenho: Na primeira utilização, um plano para o procedimento armazenado é criado e armazenado no buffer pool para execução rápida na próxima vez.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664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Utilizando uma SP.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CREATE TABLE </a:t>
            </a:r>
            <a:r>
              <a:rPr lang="pt-BR" dirty="0" err="1"/>
              <a:t>Car</a:t>
            </a:r>
            <a:r>
              <a:rPr lang="pt-BR" dirty="0"/>
              <a:t>(</a:t>
            </a:r>
          </a:p>
          <a:p>
            <a:pPr marL="0" indent="0">
              <a:buNone/>
            </a:pPr>
            <a:r>
              <a:rPr lang="pt-BR" dirty="0" err="1"/>
              <a:t>CarID</a:t>
            </a:r>
            <a:r>
              <a:rPr lang="pt-BR" dirty="0"/>
              <a:t> INT,</a:t>
            </a:r>
          </a:p>
          <a:p>
            <a:pPr marL="0" indent="0">
              <a:buNone/>
            </a:pPr>
            <a:r>
              <a:rPr lang="pt-BR" dirty="0" err="1"/>
              <a:t>CarName</a:t>
            </a:r>
            <a:r>
              <a:rPr lang="pt-BR" dirty="0"/>
              <a:t> VARCHAR(100)</a:t>
            </a:r>
          </a:p>
          <a:p>
            <a:pPr marL="0" indent="0">
              <a:buNone/>
            </a:pPr>
            <a:r>
              <a:rPr lang="pt-BR" dirty="0"/>
              <a:t>);</a:t>
            </a:r>
          </a:p>
          <a:p>
            <a:pPr marL="0" indent="0">
              <a:buNone/>
            </a:pPr>
            <a:r>
              <a:rPr lang="pt-BR" dirty="0"/>
              <a:t>INSERT INTO </a:t>
            </a:r>
            <a:r>
              <a:rPr lang="pt-BR" dirty="0" err="1"/>
              <a:t>Car</a:t>
            </a:r>
            <a:r>
              <a:rPr lang="pt-BR" dirty="0"/>
              <a:t> VALUES (101,'Mercedes-Benz');</a:t>
            </a:r>
          </a:p>
          <a:p>
            <a:pPr marL="0" indent="0">
              <a:buNone/>
            </a:pPr>
            <a:r>
              <a:rPr lang="pt-BR" dirty="0"/>
              <a:t>INSERT INTO </a:t>
            </a:r>
            <a:r>
              <a:rPr lang="pt-BR" dirty="0" err="1"/>
              <a:t>Car</a:t>
            </a:r>
            <a:r>
              <a:rPr lang="pt-BR" dirty="0"/>
              <a:t> VALUES (201,'BMW');</a:t>
            </a:r>
          </a:p>
          <a:p>
            <a:pPr marL="0" indent="0">
              <a:buNone/>
            </a:pPr>
            <a:r>
              <a:rPr lang="pt-BR" dirty="0"/>
              <a:t>INSERT INTO </a:t>
            </a:r>
            <a:r>
              <a:rPr lang="pt-BR" dirty="0" err="1"/>
              <a:t>Car</a:t>
            </a:r>
            <a:r>
              <a:rPr lang="pt-BR" dirty="0"/>
              <a:t> VALUES (301,'Ferrari');</a:t>
            </a:r>
          </a:p>
          <a:p>
            <a:pPr marL="0" indent="0">
              <a:buNone/>
            </a:pPr>
            <a:r>
              <a:rPr lang="pt-BR" dirty="0"/>
              <a:t>INSERT INTO </a:t>
            </a:r>
            <a:r>
              <a:rPr lang="pt-BR" dirty="0" err="1"/>
              <a:t>Car</a:t>
            </a:r>
            <a:r>
              <a:rPr lang="pt-BR" dirty="0"/>
              <a:t> VALUES (401,'Lamborghini');</a:t>
            </a:r>
          </a:p>
          <a:p>
            <a:pPr marL="0" indent="0">
              <a:buNone/>
            </a:pPr>
            <a:r>
              <a:rPr lang="pt-BR" dirty="0"/>
              <a:t>INSERT INTO </a:t>
            </a:r>
            <a:r>
              <a:rPr lang="pt-BR" dirty="0" err="1"/>
              <a:t>Car</a:t>
            </a:r>
            <a:r>
              <a:rPr lang="pt-BR" dirty="0"/>
              <a:t> VALUES (501,'Porsche');</a:t>
            </a:r>
          </a:p>
          <a:p>
            <a:r>
              <a:rPr lang="pt-BR" dirty="0"/>
              <a:t>SELECT * FROM </a:t>
            </a:r>
            <a:r>
              <a:rPr lang="pt-BR" dirty="0" err="1"/>
              <a:t>Car</a:t>
            </a:r>
            <a:r>
              <a:rPr lang="pt-BR" dirty="0"/>
              <a:t>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1586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Utilizando uma SP.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CREATE TABLE </a:t>
            </a:r>
            <a:r>
              <a:rPr lang="pt-BR" dirty="0" err="1"/>
              <a:t>CarDescription</a:t>
            </a:r>
            <a:r>
              <a:rPr lang="pt-BR" dirty="0"/>
              <a:t>(</a:t>
            </a:r>
          </a:p>
          <a:p>
            <a:pPr marL="0" indent="0">
              <a:buNone/>
            </a:pPr>
            <a:r>
              <a:rPr lang="pt-BR" dirty="0" err="1"/>
              <a:t>CarID</a:t>
            </a:r>
            <a:r>
              <a:rPr lang="pt-BR" dirty="0"/>
              <a:t> INT,</a:t>
            </a:r>
          </a:p>
          <a:p>
            <a:pPr marL="0" indent="0">
              <a:buNone/>
            </a:pPr>
            <a:r>
              <a:rPr lang="pt-BR" dirty="0" err="1"/>
              <a:t>CarDescription</a:t>
            </a:r>
            <a:r>
              <a:rPr lang="pt-BR" dirty="0"/>
              <a:t> VARCHAR(800)</a:t>
            </a:r>
          </a:p>
          <a:p>
            <a:pPr marL="0" indent="0">
              <a:buNone/>
            </a:pPr>
            <a:r>
              <a:rPr lang="pt-BR" dirty="0"/>
              <a:t>);</a:t>
            </a:r>
          </a:p>
          <a:p>
            <a:pPr marL="0" indent="0">
              <a:buNone/>
            </a:pPr>
            <a:r>
              <a:rPr lang="pt-BR" dirty="0"/>
              <a:t>INSERT INTO </a:t>
            </a:r>
            <a:r>
              <a:rPr lang="pt-BR" dirty="0" err="1"/>
              <a:t>CarDescription</a:t>
            </a:r>
            <a:r>
              <a:rPr lang="pt-BR" dirty="0"/>
              <a:t> VALUES (101,'Luxury </a:t>
            </a:r>
            <a:r>
              <a:rPr lang="pt-BR" dirty="0" err="1"/>
              <a:t>vehicle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German</a:t>
            </a:r>
            <a:r>
              <a:rPr lang="pt-BR" dirty="0"/>
              <a:t> </a:t>
            </a:r>
            <a:r>
              <a:rPr lang="pt-BR" dirty="0" err="1"/>
              <a:t>automotive</a:t>
            </a:r>
            <a:r>
              <a:rPr lang="pt-BR" dirty="0"/>
              <a:t>');</a:t>
            </a:r>
          </a:p>
          <a:p>
            <a:pPr marL="0" indent="0">
              <a:buNone/>
            </a:pPr>
            <a:r>
              <a:rPr lang="pt-BR" dirty="0"/>
              <a:t>INSERT INTO </a:t>
            </a:r>
            <a:r>
              <a:rPr lang="pt-BR" dirty="0" err="1"/>
              <a:t>CarDescription</a:t>
            </a:r>
            <a:r>
              <a:rPr lang="pt-BR" dirty="0"/>
              <a:t> VALUES (201,'Luxury </a:t>
            </a:r>
            <a:r>
              <a:rPr lang="pt-BR" dirty="0" err="1"/>
              <a:t>motorcycle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German</a:t>
            </a:r>
            <a:r>
              <a:rPr lang="pt-BR" dirty="0"/>
              <a:t> </a:t>
            </a:r>
            <a:r>
              <a:rPr lang="pt-BR" dirty="0" err="1"/>
              <a:t>automotive</a:t>
            </a:r>
            <a:r>
              <a:rPr lang="pt-BR" dirty="0"/>
              <a:t>');</a:t>
            </a:r>
          </a:p>
          <a:p>
            <a:pPr marL="0" indent="0">
              <a:buNone/>
            </a:pPr>
            <a:r>
              <a:rPr lang="pt-BR" dirty="0"/>
              <a:t>INSERT INTO </a:t>
            </a:r>
            <a:r>
              <a:rPr lang="pt-BR" dirty="0" err="1"/>
              <a:t>CarDescription</a:t>
            </a:r>
            <a:r>
              <a:rPr lang="pt-BR" dirty="0"/>
              <a:t> VALUES (301,'Luxury </a:t>
            </a:r>
            <a:r>
              <a:rPr lang="pt-BR" dirty="0" err="1"/>
              <a:t>sports</a:t>
            </a:r>
            <a:r>
              <a:rPr lang="pt-BR" dirty="0"/>
              <a:t> </a:t>
            </a:r>
            <a:r>
              <a:rPr lang="pt-BR" dirty="0" err="1"/>
              <a:t>car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Italian</a:t>
            </a:r>
            <a:r>
              <a:rPr lang="pt-BR" dirty="0"/>
              <a:t> </a:t>
            </a:r>
            <a:r>
              <a:rPr lang="pt-BR" dirty="0" err="1"/>
              <a:t>manufacturer</a:t>
            </a:r>
            <a:r>
              <a:rPr lang="pt-BR" dirty="0"/>
              <a:t>');</a:t>
            </a:r>
          </a:p>
          <a:p>
            <a:pPr marL="0" indent="0">
              <a:buNone/>
            </a:pPr>
            <a:r>
              <a:rPr lang="pt-BR" dirty="0"/>
              <a:t>INSERT INTO </a:t>
            </a:r>
            <a:r>
              <a:rPr lang="pt-BR" dirty="0" err="1"/>
              <a:t>CarDescription</a:t>
            </a:r>
            <a:r>
              <a:rPr lang="pt-BR" dirty="0"/>
              <a:t> VALUES (401,'Luxury SUV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Italian</a:t>
            </a:r>
            <a:r>
              <a:rPr lang="pt-BR" dirty="0"/>
              <a:t> </a:t>
            </a:r>
            <a:r>
              <a:rPr lang="pt-BR" dirty="0" err="1"/>
              <a:t>automotive</a:t>
            </a:r>
            <a:r>
              <a:rPr lang="pt-BR" dirty="0"/>
              <a:t>');</a:t>
            </a:r>
          </a:p>
          <a:p>
            <a:pPr marL="0" indent="0">
              <a:buNone/>
            </a:pPr>
            <a:r>
              <a:rPr lang="pt-BR" dirty="0"/>
              <a:t>INSERT INTO </a:t>
            </a:r>
            <a:r>
              <a:rPr lang="pt-BR" dirty="0" err="1"/>
              <a:t>CarDescription</a:t>
            </a:r>
            <a:r>
              <a:rPr lang="pt-BR" dirty="0"/>
              <a:t> VALUES (501,'High-performance </a:t>
            </a:r>
            <a:r>
              <a:rPr lang="pt-BR" dirty="0" err="1"/>
              <a:t>sports</a:t>
            </a:r>
            <a:r>
              <a:rPr lang="pt-BR" dirty="0"/>
              <a:t> </a:t>
            </a:r>
            <a:r>
              <a:rPr lang="pt-BR" dirty="0" err="1"/>
              <a:t>car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German</a:t>
            </a:r>
            <a:r>
              <a:rPr lang="pt-BR" dirty="0"/>
              <a:t> </a:t>
            </a:r>
            <a:r>
              <a:rPr lang="pt-BR" dirty="0" err="1"/>
              <a:t>manufacturer</a:t>
            </a:r>
            <a:r>
              <a:rPr lang="pt-BR" dirty="0"/>
              <a:t>');</a:t>
            </a:r>
          </a:p>
          <a:p>
            <a:r>
              <a:rPr lang="pt-BR" dirty="0"/>
              <a:t>SELECT * FROM </a:t>
            </a:r>
            <a:r>
              <a:rPr lang="pt-BR" dirty="0" err="1"/>
              <a:t>CarDescription</a:t>
            </a:r>
            <a:r>
              <a:rPr lang="pt-BR" dirty="0"/>
              <a:t>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372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Utilizando uma SP.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CREATE OR REPLACE FUNCTION </a:t>
            </a:r>
            <a:r>
              <a:rPr lang="pt-BR" dirty="0" err="1"/>
              <a:t>GetCarDesc</a:t>
            </a:r>
            <a:r>
              <a:rPr lang="pt-BR" dirty="0"/>
              <a:t>()</a:t>
            </a:r>
          </a:p>
          <a:p>
            <a:pPr marL="0" indent="0">
              <a:buNone/>
            </a:pPr>
            <a:r>
              <a:rPr lang="pt-BR" dirty="0"/>
              <a:t>RETURNS TABLE (</a:t>
            </a:r>
            <a:r>
              <a:rPr lang="pt-BR" dirty="0" err="1"/>
              <a:t>CarID</a:t>
            </a:r>
            <a:r>
              <a:rPr lang="pt-BR" dirty="0"/>
              <a:t> INT, </a:t>
            </a:r>
            <a:r>
              <a:rPr lang="pt-BR" dirty="0" err="1"/>
              <a:t>CarName</a:t>
            </a:r>
            <a:r>
              <a:rPr lang="pt-BR" dirty="0"/>
              <a:t> VARCHAR(800), </a:t>
            </a:r>
            <a:r>
              <a:rPr lang="pt-BR" dirty="0" err="1"/>
              <a:t>CarDescription</a:t>
            </a:r>
            <a:r>
              <a:rPr lang="pt-BR" dirty="0"/>
              <a:t> VARCHAR(800)) AS $$</a:t>
            </a:r>
          </a:p>
          <a:p>
            <a:pPr marL="0" indent="0">
              <a:buNone/>
            </a:pPr>
            <a:r>
              <a:rPr lang="pt-BR" dirty="0"/>
              <a:t>BEGIN</a:t>
            </a:r>
          </a:p>
          <a:p>
            <a:pPr marL="0" indent="0">
              <a:buNone/>
            </a:pPr>
            <a:r>
              <a:rPr lang="pt-BR" dirty="0"/>
              <a:t>    RETURN QUERY</a:t>
            </a:r>
          </a:p>
          <a:p>
            <a:pPr marL="0" indent="0">
              <a:buNone/>
            </a:pPr>
            <a:r>
              <a:rPr lang="pt-BR" dirty="0"/>
              <a:t>    SELECT </a:t>
            </a:r>
            <a:r>
              <a:rPr lang="pt-BR" dirty="0" err="1"/>
              <a:t>C.CarID</a:t>
            </a:r>
            <a:r>
              <a:rPr lang="pt-BR" dirty="0"/>
              <a:t>, </a:t>
            </a:r>
            <a:r>
              <a:rPr lang="pt-BR" dirty="0" err="1"/>
              <a:t>C.CarName</a:t>
            </a:r>
            <a:r>
              <a:rPr lang="pt-BR" dirty="0"/>
              <a:t>, </a:t>
            </a:r>
            <a:r>
              <a:rPr lang="pt-BR" dirty="0" err="1"/>
              <a:t>CD.CarDescription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FROM </a:t>
            </a:r>
            <a:r>
              <a:rPr lang="pt-BR" dirty="0" err="1"/>
              <a:t>Car</a:t>
            </a:r>
            <a:r>
              <a:rPr lang="pt-BR" dirty="0"/>
              <a:t> C</a:t>
            </a:r>
          </a:p>
          <a:p>
            <a:pPr marL="0" indent="0">
              <a:buNone/>
            </a:pPr>
            <a:r>
              <a:rPr lang="pt-BR" dirty="0"/>
              <a:t>    INNER JOIN </a:t>
            </a:r>
            <a:r>
              <a:rPr lang="pt-BR" dirty="0" err="1"/>
              <a:t>CarDescription</a:t>
            </a:r>
            <a:r>
              <a:rPr lang="pt-BR" dirty="0"/>
              <a:t> CD ON </a:t>
            </a:r>
            <a:r>
              <a:rPr lang="pt-BR" dirty="0" err="1"/>
              <a:t>C.CarID</a:t>
            </a:r>
            <a:r>
              <a:rPr lang="pt-BR" dirty="0"/>
              <a:t> = </a:t>
            </a:r>
            <a:r>
              <a:rPr lang="pt-BR" dirty="0" err="1"/>
              <a:t>CD.CarID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END;</a:t>
            </a:r>
          </a:p>
          <a:p>
            <a:pPr marL="0" indent="0">
              <a:buNone/>
            </a:pPr>
            <a:r>
              <a:rPr lang="pt-BR" dirty="0"/>
              <a:t>$$ LANGUAGE </a:t>
            </a:r>
            <a:r>
              <a:rPr lang="pt-BR" dirty="0" err="1"/>
              <a:t>plpgsql</a:t>
            </a:r>
            <a:r>
              <a:rPr lang="pt-BR" dirty="0"/>
              <a:t>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16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Utilizando uma SP.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en-US" dirty="0"/>
              <a:t>Para </a:t>
            </a:r>
            <a:r>
              <a:rPr lang="en-US" dirty="0" err="1"/>
              <a:t>executa</a:t>
            </a:r>
            <a:r>
              <a:rPr lang="en-US" dirty="0"/>
              <a:t>-la use o commando:</a:t>
            </a:r>
          </a:p>
          <a:p>
            <a:r>
              <a:rPr lang="en-US" dirty="0"/>
              <a:t>SELECT  </a:t>
            </a:r>
            <a:r>
              <a:rPr lang="en-US" dirty="0" err="1"/>
              <a:t>GetCarDesc</a:t>
            </a:r>
            <a:r>
              <a:rPr lang="en-US" dirty="0"/>
              <a:t>();</a:t>
            </a:r>
          </a:p>
          <a:p>
            <a:r>
              <a:rPr lang="en-US" dirty="0"/>
              <a:t>Para </a:t>
            </a:r>
            <a:r>
              <a:rPr lang="pt-BR" dirty="0"/>
              <a:t>deletá-la</a:t>
            </a:r>
            <a:r>
              <a:rPr lang="en-US" dirty="0"/>
              <a:t>:</a:t>
            </a:r>
          </a:p>
          <a:p>
            <a:r>
              <a:rPr lang="en-US" dirty="0"/>
              <a:t>DROP FUNCTION IF EXISTS </a:t>
            </a:r>
            <a:r>
              <a:rPr lang="en-US" dirty="0" err="1"/>
              <a:t>GetCarDesc</a:t>
            </a:r>
            <a:r>
              <a:rPr lang="en-US" dirty="0"/>
              <a:t>();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000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REFERÊNCIAS</a:t>
            </a:r>
            <a:br>
              <a:rPr lang="pt-BR" dirty="0"/>
            </a:br>
            <a:r>
              <a:rPr lang="pt-BR" dirty="0"/>
              <a:t>BIBLIOGRÁFICAS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err="1"/>
              <a:t>PostgreSQL</a:t>
            </a:r>
            <a:r>
              <a:rPr lang="pt-BR" dirty="0"/>
              <a:t> 9.0.22 </a:t>
            </a:r>
            <a:r>
              <a:rPr lang="pt-BR" dirty="0" err="1"/>
              <a:t>Documentation</a:t>
            </a:r>
            <a:r>
              <a:rPr lang="pt-BR" dirty="0"/>
              <a:t>. Disponível em: &lt;https://www.postgresql.org/files/documentation/pdf/9. 0/postgresql-9.0-US.pdf&gt;. Acesso em 03 Jan. 2024.</a:t>
            </a:r>
          </a:p>
          <a:p>
            <a:r>
              <a:rPr lang="en-US" dirty="0"/>
              <a:t>Stored Procedures and Functions in PostgreSQL - Getting Started. </a:t>
            </a:r>
            <a:r>
              <a:rPr lang="pt-BR" dirty="0"/>
              <a:t>Disponível em: &lt;http://www.sqlines.com/postgresql/stored_procedures_functions&gt;. Acesso em 28 Mar. 2024.</a:t>
            </a:r>
          </a:p>
          <a:p>
            <a:r>
              <a:rPr lang="pt-BR" dirty="0"/>
              <a:t>Trabalhando com </a:t>
            </a:r>
            <a:r>
              <a:rPr lang="pt-BR" dirty="0" err="1"/>
              <a:t>Stored</a:t>
            </a:r>
            <a:r>
              <a:rPr lang="pt-BR" dirty="0"/>
              <a:t> Procedures no </a:t>
            </a:r>
            <a:r>
              <a:rPr lang="pt-BR" dirty="0" err="1"/>
              <a:t>PostgreSQL</a:t>
            </a:r>
            <a:r>
              <a:rPr lang="pt-BR" dirty="0"/>
              <a:t>. Disponível em: &lt;http://www.devmedia.com.br/trabalhando-com-stored-procedures-nopostgresql/33354&gt; Acesso em 30 Mar. 2024.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446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REFERÊNCIAS</a:t>
            </a:r>
            <a:br>
              <a:rPr lang="pt-BR" dirty="0"/>
            </a:br>
            <a:r>
              <a:rPr lang="pt-BR" dirty="0"/>
              <a:t>BIBLIOGRÁFICAS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en-US" dirty="0"/>
              <a:t>Stored Procedure in SQL: Benefits And How to Create It. </a:t>
            </a:r>
            <a:r>
              <a:rPr lang="pt-BR" dirty="0"/>
              <a:t>Disponível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:  </a:t>
            </a:r>
            <a:r>
              <a:rPr lang="en-US" dirty="0">
                <a:hlinkClick r:id="rId2"/>
              </a:rPr>
              <a:t>https://www.simplilearn.com/tutorials/sql-tutorial/stored-procedure-in-sql</a:t>
            </a:r>
            <a:r>
              <a:rPr lang="en-US" dirty="0"/>
              <a:t>. </a:t>
            </a:r>
            <a:r>
              <a:rPr lang="en-US" dirty="0" err="1"/>
              <a:t>Acesso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: 30 de </a:t>
            </a:r>
            <a:r>
              <a:rPr lang="en-US" dirty="0" err="1"/>
              <a:t>abril</a:t>
            </a:r>
            <a:r>
              <a:rPr lang="en-US" dirty="0"/>
              <a:t> de 2024.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7306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2056</TotalTime>
  <Words>1514</Words>
  <Application>Microsoft Office PowerPoint</Application>
  <PresentationFormat>Widescreen</PresentationFormat>
  <Paragraphs>197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do Office</vt:lpstr>
      <vt:lpstr>Apresentação do PowerPoint</vt:lpstr>
      <vt:lpstr>MÓDULOS ARMAZENADOS PERSISTENTES (PSM - PERSISTENT STORED MODULES)</vt:lpstr>
      <vt:lpstr>MÓDULOS ARMAZENADOS PERSISTENTES (PSM - PERSISTENT STORED MODULES)</vt:lpstr>
      <vt:lpstr>MÓDULOS ARMAZENADOS PERSISTENTES (PSM - PERSISTENT STORED MODULES)</vt:lpstr>
      <vt:lpstr>MÓDULOS ARMAZENADOS PERSISTENTES (PSM - PERSISTENT STORED MODULES)</vt:lpstr>
      <vt:lpstr>MÓDULOS ARMAZENADOS PERSISTENTES (PSM - PERSISTENT STORED MODULES)</vt:lpstr>
      <vt:lpstr>STORED PROCEDURES</vt:lpstr>
      <vt:lpstr>STORED PROCEDURES</vt:lpstr>
      <vt:lpstr>STORED PROCEDURES</vt:lpstr>
      <vt:lpstr>PLPGSQL IF E CASE</vt:lpstr>
      <vt:lpstr>PLPGSQL IF E CASE</vt:lpstr>
      <vt:lpstr>Exemplo Case completo.</vt:lpstr>
      <vt:lpstr>Exemplo IF completo.</vt:lpstr>
      <vt:lpstr>DECLARAÇÃO DE VARIÁVEIS</vt:lpstr>
      <vt:lpstr>DECLARAÇÃO DE VALOR</vt:lpstr>
      <vt:lpstr>Benefícios de uma SP.</vt:lpstr>
      <vt:lpstr>Benefícios de uma SP.</vt:lpstr>
      <vt:lpstr>Utilizando uma SP.</vt:lpstr>
      <vt:lpstr>Utilizando uma SP.</vt:lpstr>
      <vt:lpstr>Utilizando uma SP.</vt:lpstr>
      <vt:lpstr>Utilizando uma SP.</vt:lpstr>
      <vt:lpstr>REFERÊNCIAS BIBLIOGRÁFICAS</vt:lpstr>
      <vt:lpstr>REFERÊNCIAS BIBLIOGRÁFICAS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82</cp:revision>
  <dcterms:created xsi:type="dcterms:W3CDTF">2023-01-24T23:29:32Z</dcterms:created>
  <dcterms:modified xsi:type="dcterms:W3CDTF">2024-08-19T19:33:22Z</dcterms:modified>
</cp:coreProperties>
</file>