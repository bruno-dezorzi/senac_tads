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312" r:id="rId2"/>
    <p:sldId id="291" r:id="rId3"/>
    <p:sldId id="294" r:id="rId4"/>
    <p:sldId id="293" r:id="rId5"/>
    <p:sldId id="295" r:id="rId6"/>
    <p:sldId id="296" r:id="rId7"/>
    <p:sldId id="313" r:id="rId8"/>
    <p:sldId id="314" r:id="rId9"/>
    <p:sldId id="315" r:id="rId10"/>
    <p:sldId id="316" r:id="rId11"/>
    <p:sldId id="297" r:id="rId12"/>
    <p:sldId id="298" r:id="rId13"/>
    <p:sldId id="299" r:id="rId14"/>
    <p:sldId id="300" r:id="rId15"/>
    <p:sldId id="317" r:id="rId16"/>
    <p:sldId id="301" r:id="rId17"/>
    <p:sldId id="302" r:id="rId18"/>
    <p:sldId id="303" r:id="rId19"/>
    <p:sldId id="304" r:id="rId20"/>
    <p:sldId id="305" r:id="rId21"/>
    <p:sldId id="306" r:id="rId22"/>
    <p:sldId id="308" r:id="rId23"/>
    <p:sldId id="307" r:id="rId24"/>
    <p:sldId id="309" r:id="rId25"/>
    <p:sldId id="310" r:id="rId26"/>
    <p:sldId id="311" r:id="rId27"/>
    <p:sldId id="292" r:id="rId28"/>
    <p:sldId id="318" r:id="rId29"/>
    <p:sldId id="271" r:id="rId3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64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05/08/2024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79500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05/08/2024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16497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05/08/2024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81087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05/08/2024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82636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05/08/2024</a:t>
            </a:fld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83385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05/08/2024</a:t>
            </a:fld>
            <a:endParaRPr lang="pt-B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5305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05/08/2024</a:t>
            </a:fld>
            <a:endParaRPr lang="pt-B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54830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05/08/2024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53458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05/08/2024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73660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05/08/2024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11152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05/08/2024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2022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AD9F01-DE70-421D-913C-5540CBA8C3E6}" type="datetimeFigureOut">
              <a:rPr lang="pt-BR" smtClean="0"/>
              <a:t>05/08/2024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87869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ostgresql.org/docs/8.1/plpgsql.html" TargetMode="External"/><Relationship Id="rId2" Type="http://schemas.openxmlformats.org/officeDocument/2006/relationships/hyperlink" Target="https://pt.wikipedia.org/wiki/PLPGSQL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stackoverflow.com/questions/24755468/language-sql-vs-language-plpgsql-in-postgresql-functions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029" y="297480"/>
            <a:ext cx="3093359" cy="1809615"/>
          </a:xfrm>
          <a:prstGeom prst="rect">
            <a:avLst/>
          </a:prstGeom>
        </p:spPr>
      </p:pic>
      <p:sp>
        <p:nvSpPr>
          <p:cNvPr id="13" name="Título 1"/>
          <p:cNvSpPr txBox="1">
            <a:spLocks/>
          </p:cNvSpPr>
          <p:nvPr/>
        </p:nvSpPr>
        <p:spPr>
          <a:xfrm>
            <a:off x="245097" y="3786809"/>
            <a:ext cx="11679810" cy="7286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2800" dirty="0" smtClean="0"/>
              <a:t>BANCO DE DADOS II</a:t>
            </a:r>
            <a:endParaRPr lang="pt-BR" sz="2800" dirty="0"/>
          </a:p>
        </p:txBody>
      </p:sp>
      <p:sp>
        <p:nvSpPr>
          <p:cNvPr id="14" name="Subtítulo 2"/>
          <p:cNvSpPr txBox="1">
            <a:spLocks/>
          </p:cNvSpPr>
          <p:nvPr/>
        </p:nvSpPr>
        <p:spPr>
          <a:xfrm>
            <a:off x="245097" y="5142306"/>
            <a:ext cx="11679809" cy="75316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dirty="0" smtClean="0"/>
              <a:t>Prof. Me. Matheus </a:t>
            </a:r>
            <a:r>
              <a:rPr lang="pt-BR" dirty="0" err="1" smtClean="0"/>
              <a:t>Raffael</a:t>
            </a:r>
            <a:r>
              <a:rPr lang="pt-BR" dirty="0" smtClean="0"/>
              <a:t> Simon</a:t>
            </a:r>
            <a:endParaRPr lang="pt-BR" dirty="0"/>
          </a:p>
        </p:txBody>
      </p:sp>
      <p:sp>
        <p:nvSpPr>
          <p:cNvPr id="15" name="Título 1"/>
          <p:cNvSpPr txBox="1">
            <a:spLocks/>
          </p:cNvSpPr>
          <p:nvPr/>
        </p:nvSpPr>
        <p:spPr>
          <a:xfrm>
            <a:off x="964096" y="2353636"/>
            <a:ext cx="10127973" cy="13209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3900" dirty="0"/>
              <a:t>TECNOLOGIA EM ANÁLISE E DESENVOLVIMENTO DE SISTEMAS</a:t>
            </a:r>
          </a:p>
        </p:txBody>
      </p:sp>
    </p:spTree>
    <p:extLst>
      <p:ext uri="{BB962C8B-B14F-4D97-AF65-F5344CB8AC3E}">
        <p14:creationId xmlns:p14="http://schemas.microsoft.com/office/powerpoint/2010/main" val="21363922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FUNÇÕES PL/SQL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/>
              <a:t>Uma FUNCTION é um bloco de código PL/SQL que pode ser invocado sempre </a:t>
            </a:r>
            <a:r>
              <a:rPr lang="pt-BR" dirty="0" smtClean="0"/>
              <a:t>que necessário</a:t>
            </a:r>
            <a:r>
              <a:rPr lang="pt-BR" dirty="0"/>
              <a:t>.</a:t>
            </a:r>
          </a:p>
          <a:p>
            <a:r>
              <a:rPr lang="pt-BR" dirty="0" smtClean="0"/>
              <a:t> </a:t>
            </a:r>
            <a:r>
              <a:rPr lang="pt-BR" dirty="0" err="1"/>
              <a:t>Functions</a:t>
            </a:r>
            <a:r>
              <a:rPr lang="pt-BR" dirty="0"/>
              <a:t> SQL devem possuir um nome e um tipo de retorno;</a:t>
            </a:r>
          </a:p>
          <a:p>
            <a:r>
              <a:rPr lang="pt-BR" dirty="0" smtClean="0"/>
              <a:t> </a:t>
            </a:r>
            <a:r>
              <a:rPr lang="pt-BR" dirty="0" err="1"/>
              <a:t>Functions</a:t>
            </a:r>
            <a:r>
              <a:rPr lang="pt-BR" dirty="0"/>
              <a:t> sempre retornam valores;</a:t>
            </a:r>
          </a:p>
          <a:p>
            <a:r>
              <a:rPr lang="pt-BR" dirty="0" smtClean="0"/>
              <a:t> </a:t>
            </a:r>
            <a:r>
              <a:rPr lang="pt-BR" dirty="0" err="1"/>
              <a:t>Functions</a:t>
            </a:r>
            <a:r>
              <a:rPr lang="pt-BR" dirty="0"/>
              <a:t> aceitam parâmetros;</a:t>
            </a:r>
          </a:p>
          <a:p>
            <a:r>
              <a:rPr lang="pt-BR" dirty="0" smtClean="0"/>
              <a:t> </a:t>
            </a:r>
            <a:r>
              <a:rPr lang="pt-BR" dirty="0" err="1"/>
              <a:t>Functions</a:t>
            </a:r>
            <a:r>
              <a:rPr lang="pt-BR" dirty="0"/>
              <a:t> podem ser usadas como parte de uma expressão, em </a:t>
            </a:r>
            <a:r>
              <a:rPr lang="pt-BR" dirty="0" err="1"/>
              <a:t>selects</a:t>
            </a:r>
            <a:r>
              <a:rPr lang="pt-BR" dirty="0"/>
              <a:t> e </a:t>
            </a:r>
            <a:r>
              <a:rPr lang="pt-BR" dirty="0" err="1"/>
              <a:t>joins</a:t>
            </a:r>
            <a:r>
              <a:rPr lang="pt-BR" dirty="0"/>
              <a:t>;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285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FUNÇÕES POSTGRESQL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b="1" dirty="0"/>
              <a:t>Funções Date/Time</a:t>
            </a:r>
          </a:p>
          <a:p>
            <a:r>
              <a:rPr lang="en-US" dirty="0" smtClean="0"/>
              <a:t>age(timestamp</a:t>
            </a:r>
            <a:r>
              <a:rPr lang="en-US" dirty="0"/>
              <a:t>, timestamp) returns interval</a:t>
            </a:r>
          </a:p>
          <a:p>
            <a:r>
              <a:rPr lang="pt-BR" dirty="0" err="1" smtClean="0"/>
              <a:t>current_date</a:t>
            </a:r>
            <a:r>
              <a:rPr lang="pt-BR" dirty="0" smtClean="0"/>
              <a:t> </a:t>
            </a:r>
            <a:r>
              <a:rPr lang="pt-BR" dirty="0" err="1"/>
              <a:t>returns</a:t>
            </a:r>
            <a:r>
              <a:rPr lang="pt-BR" dirty="0"/>
              <a:t> date</a:t>
            </a:r>
          </a:p>
          <a:p>
            <a:r>
              <a:rPr lang="pt-BR" dirty="0" err="1" smtClean="0"/>
              <a:t>current_time</a:t>
            </a:r>
            <a:r>
              <a:rPr lang="pt-BR" dirty="0" smtClean="0"/>
              <a:t> </a:t>
            </a:r>
            <a:r>
              <a:rPr lang="pt-BR" dirty="0" err="1"/>
              <a:t>returns</a:t>
            </a:r>
            <a:r>
              <a:rPr lang="pt-BR" dirty="0"/>
              <a:t> time</a:t>
            </a:r>
          </a:p>
          <a:p>
            <a:r>
              <a:rPr lang="pt-BR" dirty="0" err="1" smtClean="0"/>
              <a:t>current_timestamp</a:t>
            </a:r>
            <a:r>
              <a:rPr lang="pt-BR" dirty="0" smtClean="0"/>
              <a:t> </a:t>
            </a:r>
            <a:r>
              <a:rPr lang="pt-BR" dirty="0" err="1"/>
              <a:t>returns</a:t>
            </a:r>
            <a:r>
              <a:rPr lang="pt-BR" dirty="0"/>
              <a:t> </a:t>
            </a:r>
            <a:r>
              <a:rPr lang="pt-BR" dirty="0" err="1"/>
              <a:t>timestamp</a:t>
            </a:r>
            <a:endParaRPr lang="pt-BR" dirty="0"/>
          </a:p>
          <a:p>
            <a:r>
              <a:rPr lang="pt-BR" dirty="0" err="1" smtClean="0"/>
              <a:t>now</a:t>
            </a:r>
            <a:r>
              <a:rPr lang="pt-BR" dirty="0"/>
              <a:t>() </a:t>
            </a:r>
            <a:r>
              <a:rPr lang="pt-BR" dirty="0" err="1"/>
              <a:t>returns</a:t>
            </a:r>
            <a:r>
              <a:rPr lang="pt-BR" dirty="0"/>
              <a:t> </a:t>
            </a:r>
            <a:r>
              <a:rPr lang="pt-BR" dirty="0" err="1"/>
              <a:t>timestamp</a:t>
            </a:r>
            <a:endParaRPr lang="pt-BR" dirty="0"/>
          </a:p>
          <a:p>
            <a:r>
              <a:rPr lang="en-US" dirty="0" err="1" smtClean="0"/>
              <a:t>date_part</a:t>
            </a:r>
            <a:r>
              <a:rPr lang="en-US" dirty="0" smtClean="0"/>
              <a:t>(text</a:t>
            </a:r>
            <a:r>
              <a:rPr lang="en-US" dirty="0"/>
              <a:t>, timestamp) returns real</a:t>
            </a:r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0634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FUNÇÕES POSTGRESQL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en-US" dirty="0"/>
              <a:t>select age (now(), timestamp '1989-10-10');</a:t>
            </a:r>
          </a:p>
          <a:p>
            <a:r>
              <a:rPr lang="pt-BR" dirty="0" err="1"/>
              <a:t>select</a:t>
            </a:r>
            <a:r>
              <a:rPr lang="pt-BR" dirty="0"/>
              <a:t> </a:t>
            </a:r>
            <a:r>
              <a:rPr lang="pt-BR" dirty="0" err="1"/>
              <a:t>current_date</a:t>
            </a:r>
            <a:r>
              <a:rPr lang="pt-BR" dirty="0"/>
              <a:t>;</a:t>
            </a:r>
          </a:p>
          <a:p>
            <a:r>
              <a:rPr lang="pt-BR" dirty="0" err="1"/>
              <a:t>select</a:t>
            </a:r>
            <a:r>
              <a:rPr lang="pt-BR" dirty="0"/>
              <a:t> </a:t>
            </a:r>
            <a:r>
              <a:rPr lang="pt-BR" dirty="0" err="1"/>
              <a:t>current_time</a:t>
            </a:r>
            <a:r>
              <a:rPr lang="pt-BR" dirty="0"/>
              <a:t>;</a:t>
            </a:r>
          </a:p>
          <a:p>
            <a:r>
              <a:rPr lang="pt-BR" dirty="0" err="1"/>
              <a:t>select</a:t>
            </a:r>
            <a:r>
              <a:rPr lang="pt-BR" dirty="0"/>
              <a:t> </a:t>
            </a:r>
            <a:r>
              <a:rPr lang="pt-BR" dirty="0" err="1"/>
              <a:t>current_timestamp</a:t>
            </a:r>
            <a:r>
              <a:rPr lang="pt-BR" dirty="0"/>
              <a:t>;</a:t>
            </a:r>
          </a:p>
          <a:p>
            <a:r>
              <a:rPr lang="pt-BR" dirty="0" err="1"/>
              <a:t>select</a:t>
            </a:r>
            <a:r>
              <a:rPr lang="pt-BR" dirty="0"/>
              <a:t> </a:t>
            </a:r>
            <a:r>
              <a:rPr lang="pt-BR" dirty="0" err="1"/>
              <a:t>date_part</a:t>
            </a:r>
            <a:r>
              <a:rPr lang="pt-BR" dirty="0"/>
              <a:t> ('MINUTE', </a:t>
            </a:r>
            <a:r>
              <a:rPr lang="pt-BR" dirty="0" err="1"/>
              <a:t>now</a:t>
            </a:r>
            <a:r>
              <a:rPr lang="pt-BR" dirty="0"/>
              <a:t>() );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3258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FUNÇÕES POSTGRESQL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b="1" dirty="0"/>
              <a:t>Funções de formatação</a:t>
            </a:r>
          </a:p>
          <a:p>
            <a:r>
              <a:rPr lang="en-US" dirty="0" err="1" smtClean="0"/>
              <a:t>to_char</a:t>
            </a:r>
            <a:r>
              <a:rPr lang="en-US" dirty="0" smtClean="0"/>
              <a:t> </a:t>
            </a:r>
            <a:r>
              <a:rPr lang="en-US" dirty="0"/>
              <a:t>(timestamp, text) returns text</a:t>
            </a:r>
          </a:p>
          <a:p>
            <a:r>
              <a:rPr lang="en-US" dirty="0" err="1" smtClean="0"/>
              <a:t>to_date</a:t>
            </a:r>
            <a:r>
              <a:rPr lang="en-US" dirty="0" smtClean="0"/>
              <a:t> </a:t>
            </a:r>
            <a:r>
              <a:rPr lang="en-US" dirty="0"/>
              <a:t>(text, text) returns date</a:t>
            </a:r>
          </a:p>
          <a:p>
            <a:r>
              <a:rPr lang="en-US" dirty="0" err="1" smtClean="0"/>
              <a:t>to_timestamp</a:t>
            </a:r>
            <a:r>
              <a:rPr lang="en-US" dirty="0" smtClean="0"/>
              <a:t> </a:t>
            </a:r>
            <a:r>
              <a:rPr lang="en-US" dirty="0"/>
              <a:t>(text, text) returns timestamp</a:t>
            </a:r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4249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FUNÇÕES POSTGRESQL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en-US" dirty="0"/>
              <a:t>select </a:t>
            </a:r>
            <a:r>
              <a:rPr lang="en-US" dirty="0" err="1"/>
              <a:t>to_char</a:t>
            </a:r>
            <a:r>
              <a:rPr lang="en-US" dirty="0"/>
              <a:t> (</a:t>
            </a:r>
            <a:r>
              <a:rPr lang="en-US" dirty="0" err="1"/>
              <a:t>current_timestamp</a:t>
            </a:r>
            <a:r>
              <a:rPr lang="en-US" dirty="0"/>
              <a:t>, 'DD/MM/YYYY HH24:MM:SS');</a:t>
            </a:r>
          </a:p>
          <a:p>
            <a:r>
              <a:rPr lang="en-US" dirty="0"/>
              <a:t>select </a:t>
            </a:r>
            <a:r>
              <a:rPr lang="en-US" dirty="0" err="1"/>
              <a:t>to_char</a:t>
            </a:r>
            <a:r>
              <a:rPr lang="en-US" dirty="0"/>
              <a:t> (</a:t>
            </a:r>
            <a:r>
              <a:rPr lang="en-US" dirty="0" err="1"/>
              <a:t>current_timestamp</a:t>
            </a:r>
            <a:r>
              <a:rPr lang="en-US" dirty="0"/>
              <a:t>, 'DD, MON YYYY HH24:MM:SS');</a:t>
            </a:r>
          </a:p>
          <a:p>
            <a:r>
              <a:rPr lang="en-US" dirty="0"/>
              <a:t>select </a:t>
            </a:r>
            <a:r>
              <a:rPr lang="en-US" dirty="0" err="1"/>
              <a:t>to_date</a:t>
            </a:r>
            <a:r>
              <a:rPr lang="en-US" dirty="0"/>
              <a:t> ('07/09/2017 21:09:48','DD/MM/YYYY HH24:MM:SS');</a:t>
            </a:r>
          </a:p>
          <a:p>
            <a:r>
              <a:rPr lang="en-US" dirty="0"/>
              <a:t>select </a:t>
            </a:r>
            <a:r>
              <a:rPr lang="en-US" dirty="0" err="1"/>
              <a:t>to_timestamp</a:t>
            </a:r>
            <a:r>
              <a:rPr lang="en-US" dirty="0"/>
              <a:t> ('07/09/2017 21:09:48','DD/MM/YYYY HH24:MM:SS');</a:t>
            </a:r>
          </a:p>
          <a:p>
            <a:r>
              <a:rPr lang="pt-BR" dirty="0" err="1"/>
              <a:t>select</a:t>
            </a:r>
            <a:r>
              <a:rPr lang="pt-BR" dirty="0"/>
              <a:t> </a:t>
            </a:r>
            <a:r>
              <a:rPr lang="pt-BR" dirty="0" err="1"/>
              <a:t>to_timestamp</a:t>
            </a:r>
            <a:r>
              <a:rPr lang="pt-BR" dirty="0"/>
              <a:t> (200120400);</a:t>
            </a:r>
          </a:p>
          <a:p>
            <a:r>
              <a:rPr lang="pt-BR" dirty="0" err="1"/>
              <a:t>select</a:t>
            </a:r>
            <a:r>
              <a:rPr lang="pt-BR" dirty="0"/>
              <a:t> </a:t>
            </a:r>
            <a:r>
              <a:rPr lang="pt-BR" dirty="0" err="1"/>
              <a:t>to_char</a:t>
            </a:r>
            <a:r>
              <a:rPr lang="pt-BR" dirty="0"/>
              <a:t> (125, '999');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5104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FUNÇÕES POSTGRESQL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 smtClean="0"/>
              <a:t>CAST</a:t>
            </a:r>
          </a:p>
          <a:p>
            <a:r>
              <a:rPr lang="pt-BR" dirty="0" smtClean="0"/>
              <a:t>CONVERT</a:t>
            </a:r>
          </a:p>
          <a:p>
            <a:r>
              <a:rPr lang="pt-BR" dirty="0"/>
              <a:t>A função CAST é utilizada para converter um valor de um tipo de dado para outro</a:t>
            </a:r>
            <a:r>
              <a:rPr lang="pt-BR" dirty="0" smtClean="0"/>
              <a:t>.</a:t>
            </a:r>
          </a:p>
          <a:p>
            <a:r>
              <a:rPr lang="pt-BR" dirty="0"/>
              <a:t>No </a:t>
            </a:r>
            <a:r>
              <a:rPr lang="pt-BR" dirty="0" err="1"/>
              <a:t>PostgreSQL</a:t>
            </a:r>
            <a:r>
              <a:rPr lang="pt-BR" dirty="0"/>
              <a:t>, a função CONVERT é mais comumente usada para converter codificações de caracteres</a:t>
            </a:r>
            <a:r>
              <a:rPr lang="pt-BR" dirty="0" smtClean="0"/>
              <a:t>.</a:t>
            </a:r>
          </a:p>
          <a:p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4445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FUNÇÕES </a:t>
            </a:r>
            <a:r>
              <a:rPr lang="pt-BR" dirty="0" smtClean="0"/>
              <a:t>POSTGRESQL - CAST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 smtClean="0"/>
              <a:t>Convertendo número em </a:t>
            </a:r>
            <a:r>
              <a:rPr lang="pt-BR" dirty="0" err="1" smtClean="0"/>
              <a:t>string</a:t>
            </a:r>
            <a:r>
              <a:rPr lang="pt-BR" dirty="0" smtClean="0"/>
              <a:t>:</a:t>
            </a:r>
          </a:p>
          <a:p>
            <a:r>
              <a:rPr lang="pt-BR" dirty="0"/>
              <a:t>SELECT CAST(123 AS TEXT</a:t>
            </a:r>
            <a:r>
              <a:rPr lang="pt-BR" dirty="0" smtClean="0"/>
              <a:t>);</a:t>
            </a:r>
          </a:p>
          <a:p>
            <a:r>
              <a:rPr lang="pt-BR" dirty="0"/>
              <a:t>Convertendo uma </a:t>
            </a:r>
            <a:r>
              <a:rPr lang="pt-BR" dirty="0" err="1"/>
              <a:t>string</a:t>
            </a:r>
            <a:r>
              <a:rPr lang="pt-BR" dirty="0"/>
              <a:t> para um número</a:t>
            </a:r>
            <a:r>
              <a:rPr lang="pt-BR" dirty="0" smtClean="0"/>
              <a:t>:</a:t>
            </a:r>
          </a:p>
          <a:p>
            <a:r>
              <a:rPr lang="en-US" dirty="0"/>
              <a:t>SELECT CAST('456' AS INTEGER</a:t>
            </a:r>
            <a:r>
              <a:rPr lang="en-US" dirty="0" smtClean="0"/>
              <a:t>);</a:t>
            </a:r>
          </a:p>
          <a:p>
            <a:r>
              <a:rPr lang="pt-BR" dirty="0"/>
              <a:t>Convertendo uma data para uma </a:t>
            </a:r>
            <a:r>
              <a:rPr lang="pt-BR" dirty="0" err="1"/>
              <a:t>string</a:t>
            </a:r>
            <a:r>
              <a:rPr lang="pt-BR" dirty="0" smtClean="0"/>
              <a:t>:</a:t>
            </a:r>
          </a:p>
          <a:p>
            <a:r>
              <a:rPr lang="en-US" dirty="0"/>
              <a:t>SELECT CAST('2024-07-29' AS TEXT</a:t>
            </a:r>
            <a:r>
              <a:rPr lang="en-US" dirty="0" smtClean="0"/>
              <a:t>);</a:t>
            </a:r>
          </a:p>
          <a:p>
            <a:endParaRPr lang="pt-BR" dirty="0" smtClean="0"/>
          </a:p>
          <a:p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4212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FUNÇÕES </a:t>
            </a:r>
            <a:r>
              <a:rPr lang="pt-BR" dirty="0" smtClean="0"/>
              <a:t>POSTGRESQL - CONVERT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/>
              <a:t>Convertendo uma </a:t>
            </a:r>
            <a:r>
              <a:rPr lang="pt-BR" dirty="0" err="1"/>
              <a:t>string</a:t>
            </a:r>
            <a:r>
              <a:rPr lang="pt-BR" dirty="0"/>
              <a:t> de UTF8 para LATIN1</a:t>
            </a:r>
            <a:r>
              <a:rPr lang="pt-BR" dirty="0" smtClean="0"/>
              <a:t>:</a:t>
            </a:r>
          </a:p>
          <a:p>
            <a:r>
              <a:rPr lang="pt-BR" dirty="0"/>
              <a:t>SELECT CONVERT('texto em UTF8', 'UTF8', 'LATIN1</a:t>
            </a:r>
            <a:r>
              <a:rPr lang="pt-BR" dirty="0" smtClean="0"/>
              <a:t>');</a:t>
            </a:r>
          </a:p>
          <a:p>
            <a:endParaRPr lang="pt-BR" dirty="0" smtClean="0"/>
          </a:p>
          <a:p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1382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Comparação entre CAST e ::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/>
              <a:t>No </a:t>
            </a:r>
            <a:r>
              <a:rPr lang="pt-BR" dirty="0" err="1"/>
              <a:t>PostgreSQL</a:t>
            </a:r>
            <a:r>
              <a:rPr lang="pt-BR" dirty="0"/>
              <a:t>, a conversão de tipos de dados também pode ser feita usando o operador ::, que é equivalente ao </a:t>
            </a:r>
            <a:r>
              <a:rPr lang="pt-BR" dirty="0" smtClean="0"/>
              <a:t>CAST.</a:t>
            </a:r>
          </a:p>
          <a:p>
            <a:r>
              <a:rPr lang="pt-BR" dirty="0" smtClean="0"/>
              <a:t>CAST</a:t>
            </a:r>
          </a:p>
          <a:p>
            <a:r>
              <a:rPr lang="pt-BR" dirty="0"/>
              <a:t>SELECT CAST(123 AS TEXT</a:t>
            </a:r>
            <a:r>
              <a:rPr lang="pt-BR" dirty="0" smtClean="0"/>
              <a:t>);</a:t>
            </a:r>
          </a:p>
          <a:p>
            <a:r>
              <a:rPr lang="pt-BR" dirty="0" smtClean="0"/>
              <a:t>::</a:t>
            </a:r>
          </a:p>
          <a:p>
            <a:r>
              <a:rPr lang="pt-BR" dirty="0"/>
              <a:t>SELECT 123::TEXT</a:t>
            </a:r>
            <a:r>
              <a:rPr lang="pt-BR" dirty="0" smtClean="0"/>
              <a:t>;</a:t>
            </a:r>
          </a:p>
          <a:p>
            <a:r>
              <a:rPr lang="pt-BR" dirty="0"/>
              <a:t>Ambas as formas produzem o mesmo resultado. A escolha entre usar CAST ou :: é uma questão de preferência pessoal ou estilo de codificação.</a:t>
            </a:r>
            <a:endParaRPr lang="pt-BR" dirty="0" smtClean="0"/>
          </a:p>
          <a:p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7551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USER DEFINED FUNCTION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/>
              <a:t>Uma </a:t>
            </a:r>
            <a:r>
              <a:rPr lang="pt-BR" b="1" dirty="0"/>
              <a:t>UDF - </a:t>
            </a:r>
            <a:r>
              <a:rPr lang="pt-BR" b="1" dirty="0" err="1"/>
              <a:t>User</a:t>
            </a:r>
            <a:r>
              <a:rPr lang="pt-BR" b="1" dirty="0"/>
              <a:t> </a:t>
            </a:r>
            <a:r>
              <a:rPr lang="pt-BR" b="1" dirty="0" err="1"/>
              <a:t>Defined</a:t>
            </a:r>
            <a:r>
              <a:rPr lang="pt-BR" b="1" dirty="0"/>
              <a:t> </a:t>
            </a:r>
            <a:r>
              <a:rPr lang="pt-BR" b="1" dirty="0" err="1"/>
              <a:t>Function</a:t>
            </a:r>
            <a:r>
              <a:rPr lang="pt-BR" b="1" dirty="0"/>
              <a:t> </a:t>
            </a:r>
            <a:r>
              <a:rPr lang="pt-BR" dirty="0"/>
              <a:t>é uma função personalizada, criada sob </a:t>
            </a:r>
            <a:r>
              <a:rPr lang="pt-BR" dirty="0" smtClean="0"/>
              <a:t>demanda de </a:t>
            </a:r>
            <a:r>
              <a:rPr lang="pt-BR" dirty="0"/>
              <a:t>um banco de dados por um de seus usuários</a:t>
            </a:r>
            <a:r>
              <a:rPr lang="pt-BR" dirty="0" smtClean="0"/>
              <a:t>.</a:t>
            </a:r>
          </a:p>
          <a:p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7248" y="2794922"/>
            <a:ext cx="7304970" cy="3841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824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CREATE FUNCTION</a:t>
            </a:r>
            <a:br>
              <a:rPr lang="pt-BR" dirty="0"/>
            </a:br>
            <a:r>
              <a:rPr lang="pt-BR" dirty="0"/>
              <a:t>CREATE OR REPLACE FUNCTION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b="1" dirty="0"/>
              <a:t>CREATE FUNCTION: </a:t>
            </a:r>
            <a:r>
              <a:rPr lang="pt-BR" dirty="0"/>
              <a:t>Define uma nova função.</a:t>
            </a:r>
          </a:p>
          <a:p>
            <a:r>
              <a:rPr lang="pt-BR" b="1" dirty="0" smtClean="0"/>
              <a:t>CREATE </a:t>
            </a:r>
            <a:r>
              <a:rPr lang="pt-BR" b="1" dirty="0"/>
              <a:t>OR REPLACE FUNCTION: </a:t>
            </a:r>
            <a:r>
              <a:rPr lang="pt-BR" dirty="0"/>
              <a:t>Define uma nova função, caso </a:t>
            </a:r>
            <a:r>
              <a:rPr lang="pt-BR" dirty="0" smtClean="0"/>
              <a:t>já </a:t>
            </a:r>
            <a:r>
              <a:rPr lang="pt-BR" dirty="0"/>
              <a:t>exista uma </a:t>
            </a:r>
            <a:r>
              <a:rPr lang="pt-BR" dirty="0" smtClean="0"/>
              <a:t>de mesmo </a:t>
            </a:r>
            <a:r>
              <a:rPr lang="pt-BR" dirty="0"/>
              <a:t>nome essa será </a:t>
            </a:r>
            <a:r>
              <a:rPr lang="pt-BR" dirty="0" smtClean="0"/>
              <a:t>substituída.</a:t>
            </a:r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8813" y="3172762"/>
            <a:ext cx="6827781" cy="3590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751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NOME (ARGUMENTO)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 fontScale="92500" lnSpcReduction="10000"/>
          </a:bodyPr>
          <a:lstStyle/>
          <a:p>
            <a:r>
              <a:rPr lang="pt-BR" dirty="0" err="1"/>
              <a:t>name</a:t>
            </a:r>
            <a:r>
              <a:rPr lang="pt-BR" dirty="0"/>
              <a:t> ( [ [ </a:t>
            </a:r>
            <a:r>
              <a:rPr lang="pt-BR" dirty="0" err="1"/>
              <a:t>argmode</a:t>
            </a:r>
            <a:r>
              <a:rPr lang="pt-BR" dirty="0"/>
              <a:t> ] [ </a:t>
            </a:r>
            <a:r>
              <a:rPr lang="pt-BR" dirty="0" err="1"/>
              <a:t>argname</a:t>
            </a:r>
            <a:r>
              <a:rPr lang="pt-BR" dirty="0"/>
              <a:t> ] </a:t>
            </a:r>
            <a:r>
              <a:rPr lang="pt-BR" dirty="0" err="1"/>
              <a:t>argtype</a:t>
            </a:r>
            <a:r>
              <a:rPr lang="pt-BR" dirty="0"/>
              <a:t> [ { DEFAULT | = } </a:t>
            </a:r>
            <a:r>
              <a:rPr lang="pt-BR" dirty="0" err="1"/>
              <a:t>default_expr</a:t>
            </a:r>
            <a:r>
              <a:rPr lang="pt-BR" dirty="0"/>
              <a:t> ] [, ...] ] </a:t>
            </a:r>
            <a:r>
              <a:rPr lang="pt-BR" dirty="0" smtClean="0"/>
              <a:t>)</a:t>
            </a:r>
          </a:p>
          <a:p>
            <a:r>
              <a:rPr lang="pt-BR" b="1" dirty="0"/>
              <a:t>Nome: </a:t>
            </a:r>
            <a:r>
              <a:rPr lang="pt-BR" dirty="0"/>
              <a:t>Nome da função criada.</a:t>
            </a:r>
          </a:p>
          <a:p>
            <a:r>
              <a:rPr lang="en-US" dirty="0"/>
              <a:t>o </a:t>
            </a:r>
            <a:r>
              <a:rPr lang="en-US" b="1" dirty="0" err="1"/>
              <a:t>argmode</a:t>
            </a:r>
            <a:r>
              <a:rPr lang="en-US" b="1" dirty="0"/>
              <a:t>: </a:t>
            </a:r>
            <a:r>
              <a:rPr lang="en-US" dirty="0"/>
              <a:t>IN (default), OUT, INOUT, VARIADIC</a:t>
            </a:r>
          </a:p>
          <a:p>
            <a:pPr lvl="1"/>
            <a:r>
              <a:rPr lang="pt-BR" dirty="0" smtClean="0"/>
              <a:t>IN</a:t>
            </a:r>
            <a:r>
              <a:rPr lang="pt-BR" dirty="0"/>
              <a:t>: padrão;</a:t>
            </a:r>
          </a:p>
          <a:p>
            <a:pPr lvl="1"/>
            <a:r>
              <a:rPr lang="pt-BR" dirty="0" smtClean="0"/>
              <a:t>OUT</a:t>
            </a:r>
            <a:r>
              <a:rPr lang="pt-BR" dirty="0"/>
              <a:t>: Variável utilizada como retorno, podendo ser </a:t>
            </a:r>
            <a:r>
              <a:rPr lang="pt-BR" dirty="0" smtClean="0"/>
              <a:t>selecionável(semelhante </a:t>
            </a:r>
            <a:r>
              <a:rPr lang="pt-BR" dirty="0"/>
              <a:t>a passagem de valor por referência);</a:t>
            </a:r>
          </a:p>
          <a:p>
            <a:pPr lvl="1"/>
            <a:r>
              <a:rPr lang="pt-BR" dirty="0" smtClean="0"/>
              <a:t>INOUT</a:t>
            </a:r>
            <a:r>
              <a:rPr lang="pt-BR" dirty="0"/>
              <a:t>: Pode ser passado pelo chamador da função e se comporta como OUT;</a:t>
            </a:r>
          </a:p>
          <a:p>
            <a:pPr lvl="1"/>
            <a:r>
              <a:rPr lang="pt-BR" dirty="0" smtClean="0"/>
              <a:t>VARIADIC</a:t>
            </a:r>
            <a:r>
              <a:rPr lang="pt-BR" dirty="0"/>
              <a:t>: Possibilita a passagem de </a:t>
            </a:r>
            <a:r>
              <a:rPr lang="pt-BR" dirty="0" err="1"/>
              <a:t>arrays</a:t>
            </a:r>
            <a:r>
              <a:rPr lang="pt-BR" dirty="0"/>
              <a:t> variados.</a:t>
            </a:r>
          </a:p>
          <a:p>
            <a:r>
              <a:rPr lang="pt-BR" dirty="0"/>
              <a:t>o </a:t>
            </a:r>
            <a:r>
              <a:rPr lang="pt-BR" b="1" dirty="0" err="1"/>
              <a:t>Argname</a:t>
            </a:r>
            <a:r>
              <a:rPr lang="pt-BR" b="1" dirty="0"/>
              <a:t>: </a:t>
            </a:r>
            <a:r>
              <a:rPr lang="pt-BR" dirty="0"/>
              <a:t>Identificador da variável;</a:t>
            </a:r>
          </a:p>
          <a:p>
            <a:r>
              <a:rPr lang="pt-BR" dirty="0"/>
              <a:t>o </a:t>
            </a:r>
            <a:r>
              <a:rPr lang="pt-BR" b="1" dirty="0" err="1"/>
              <a:t>Argtype</a:t>
            </a:r>
            <a:r>
              <a:rPr lang="pt-BR" b="1" dirty="0"/>
              <a:t>: </a:t>
            </a:r>
            <a:r>
              <a:rPr lang="pt-BR" dirty="0"/>
              <a:t>Tipo da variável;</a:t>
            </a:r>
          </a:p>
          <a:p>
            <a:r>
              <a:rPr lang="pt-BR" dirty="0"/>
              <a:t>o </a:t>
            </a:r>
            <a:r>
              <a:rPr lang="pt-BR" b="1" dirty="0"/>
              <a:t>DEFAULT: </a:t>
            </a:r>
            <a:r>
              <a:rPr lang="pt-BR" dirty="0"/>
              <a:t>Define um valor padrão para </a:t>
            </a:r>
            <a:r>
              <a:rPr lang="pt-BR" dirty="0" smtClean="0"/>
              <a:t>o argumento</a:t>
            </a:r>
            <a:r>
              <a:rPr lang="pt-BR" dirty="0"/>
              <a:t>.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9956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RETURNS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RETURNS </a:t>
            </a:r>
            <a:r>
              <a:rPr lang="en-US" dirty="0" err="1"/>
              <a:t>rettype</a:t>
            </a:r>
            <a:r>
              <a:rPr lang="en-US" dirty="0"/>
              <a:t> | RETURNS TABLE ( </a:t>
            </a:r>
            <a:r>
              <a:rPr lang="en-US" dirty="0" err="1"/>
              <a:t>column_name</a:t>
            </a:r>
            <a:r>
              <a:rPr lang="en-US" dirty="0"/>
              <a:t> </a:t>
            </a:r>
            <a:r>
              <a:rPr lang="en-US" dirty="0" err="1"/>
              <a:t>column_type</a:t>
            </a:r>
            <a:r>
              <a:rPr lang="en-US" dirty="0"/>
              <a:t> [, ...] ) ]</a:t>
            </a:r>
          </a:p>
          <a:p>
            <a:r>
              <a:rPr lang="pt-BR" b="1" dirty="0" err="1" smtClean="0"/>
              <a:t>Rettype</a:t>
            </a:r>
            <a:r>
              <a:rPr lang="pt-BR" b="1" dirty="0"/>
              <a:t>: </a:t>
            </a:r>
            <a:r>
              <a:rPr lang="pt-BR" dirty="0"/>
              <a:t>Tipo de retorno;</a:t>
            </a:r>
          </a:p>
          <a:p>
            <a:r>
              <a:rPr lang="pt-BR" b="1" dirty="0" err="1" smtClean="0"/>
              <a:t>Lang_name</a:t>
            </a:r>
            <a:r>
              <a:rPr lang="pt-BR" b="1" dirty="0"/>
              <a:t>: </a:t>
            </a:r>
            <a:r>
              <a:rPr lang="pt-BR" dirty="0"/>
              <a:t>Nome da linguagem (</a:t>
            </a:r>
            <a:r>
              <a:rPr lang="pt-BR" b="1" dirty="0" err="1"/>
              <a:t>sql</a:t>
            </a:r>
            <a:r>
              <a:rPr lang="pt-BR" dirty="0"/>
              <a:t>, c, </a:t>
            </a:r>
            <a:r>
              <a:rPr lang="pt-BR" dirty="0" err="1"/>
              <a:t>internal</a:t>
            </a:r>
            <a:r>
              <a:rPr lang="pt-BR" dirty="0"/>
              <a:t>, </a:t>
            </a:r>
            <a:r>
              <a:rPr lang="pt-BR" b="1" dirty="0" err="1"/>
              <a:t>plpgsql</a:t>
            </a:r>
            <a:r>
              <a:rPr lang="pt-BR" dirty="0"/>
              <a:t>, ...).</a:t>
            </a:r>
          </a:p>
          <a:p>
            <a:r>
              <a:rPr lang="pt-BR" dirty="0" smtClean="0"/>
              <a:t>IMMUTABLE </a:t>
            </a:r>
            <a:r>
              <a:rPr lang="pt-BR" dirty="0"/>
              <a:t>| STABLE | VOLATILE (padrão) indicam ao </a:t>
            </a:r>
            <a:r>
              <a:rPr lang="pt-BR" dirty="0" err="1"/>
              <a:t>otimizador</a:t>
            </a:r>
            <a:r>
              <a:rPr lang="pt-BR" dirty="0"/>
              <a:t> de query sobre </a:t>
            </a:r>
            <a:r>
              <a:rPr lang="pt-BR" dirty="0" smtClean="0"/>
              <a:t>o comportamento </a:t>
            </a:r>
            <a:r>
              <a:rPr lang="pt-BR" dirty="0"/>
              <a:t>da função.</a:t>
            </a:r>
          </a:p>
          <a:p>
            <a:r>
              <a:rPr lang="pt-BR" b="1" dirty="0" smtClean="0"/>
              <a:t>IMMUTABLE</a:t>
            </a:r>
            <a:r>
              <a:rPr lang="pt-BR" b="1" dirty="0"/>
              <a:t>: </a:t>
            </a:r>
            <a:r>
              <a:rPr lang="pt-BR" dirty="0"/>
              <a:t>Indica que a função não modifica o banco de dados e sempre retornará </a:t>
            </a:r>
            <a:r>
              <a:rPr lang="pt-BR" dirty="0" smtClean="0"/>
              <a:t>o mesmo </a:t>
            </a:r>
            <a:r>
              <a:rPr lang="pt-BR" dirty="0"/>
              <a:t>resultado dados os mesmos valores como argumentos. Esse tipo de função </a:t>
            </a:r>
            <a:r>
              <a:rPr lang="pt-BR" dirty="0" smtClean="0"/>
              <a:t>não depende </a:t>
            </a:r>
            <a:r>
              <a:rPr lang="pt-BR" dirty="0"/>
              <a:t>de consulta aos dados.</a:t>
            </a:r>
          </a:p>
          <a:p>
            <a:r>
              <a:rPr lang="pt-BR" b="1" dirty="0" smtClean="0"/>
              <a:t>STABLE</a:t>
            </a:r>
            <a:r>
              <a:rPr lang="pt-BR" dirty="0"/>
              <a:t>: Indica que a função não modifica o banco de dados e que dentro de uma </a:t>
            </a:r>
            <a:r>
              <a:rPr lang="pt-BR" dirty="0" smtClean="0"/>
              <a:t>leitura simples </a:t>
            </a:r>
            <a:r>
              <a:rPr lang="pt-BR" dirty="0"/>
              <a:t>na tabela ela consistentemente retornará o mesmo resultado, dados os </a:t>
            </a:r>
            <a:r>
              <a:rPr lang="pt-BR" dirty="0" smtClean="0"/>
              <a:t>mesmos valores </a:t>
            </a:r>
            <a:r>
              <a:rPr lang="pt-BR" dirty="0"/>
              <a:t>como argumentos. No entanto este resultado pode mudar em diferentes </a:t>
            </a:r>
            <a:r>
              <a:rPr lang="pt-BR" dirty="0" smtClean="0"/>
              <a:t>declarações SQL</a:t>
            </a:r>
            <a:r>
              <a:rPr lang="pt-BR" dirty="0"/>
              <a:t>. O resultado depende de parâmetros ou estado da tabela.</a:t>
            </a:r>
          </a:p>
          <a:p>
            <a:r>
              <a:rPr lang="pt-BR" b="1" dirty="0" smtClean="0"/>
              <a:t>VOLATILE</a:t>
            </a:r>
            <a:r>
              <a:rPr lang="pt-BR" b="1" dirty="0"/>
              <a:t>: </a:t>
            </a:r>
            <a:r>
              <a:rPr lang="pt-BR" dirty="0"/>
              <a:t>Indica que o valor da função pode mudar dentro de uma única consulta </a:t>
            </a:r>
            <a:r>
              <a:rPr lang="pt-BR" dirty="0" smtClean="0"/>
              <a:t>a tabela</a:t>
            </a:r>
            <a:r>
              <a:rPr lang="pt-BR" dirty="0"/>
              <a:t>. Logo não há otimização que se possa fazer.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767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RETURNS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 smtClean="0"/>
              <a:t>Para mais informações sobre a linguagem PLPGSQL, leiam: </a:t>
            </a:r>
          </a:p>
          <a:p>
            <a:r>
              <a:rPr lang="pt-BR" dirty="0">
                <a:hlinkClick r:id="rId2"/>
              </a:rPr>
              <a:t>https://</a:t>
            </a:r>
            <a:r>
              <a:rPr lang="pt-BR" dirty="0" smtClean="0">
                <a:hlinkClick r:id="rId2"/>
              </a:rPr>
              <a:t>pt.wikipedia.org/wiki/PLPGSQL</a:t>
            </a:r>
            <a:endParaRPr lang="pt-BR" dirty="0" smtClean="0"/>
          </a:p>
          <a:p>
            <a:r>
              <a:rPr lang="pt-BR" dirty="0">
                <a:hlinkClick r:id="rId3"/>
              </a:rPr>
              <a:t>https://</a:t>
            </a:r>
            <a:r>
              <a:rPr lang="pt-BR" dirty="0" smtClean="0">
                <a:hlinkClick r:id="rId3"/>
              </a:rPr>
              <a:t>www.postgresql.org/docs/8.1/plpgsql.html</a:t>
            </a:r>
            <a:endParaRPr lang="pt-BR" dirty="0" smtClean="0"/>
          </a:p>
          <a:p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5662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ARGUMENTOS NULL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en-US" dirty="0"/>
              <a:t>CALLED ON NULL INPUT | RETURNS NULL ON NULL INPUT | STRICT</a:t>
            </a:r>
          </a:p>
          <a:p>
            <a:r>
              <a:rPr lang="pt-BR" b="1" dirty="0" smtClean="0"/>
              <a:t>CALLED </a:t>
            </a:r>
            <a:r>
              <a:rPr lang="pt-BR" b="1" dirty="0"/>
              <a:t>ON NULL INPUT (padrão): </a:t>
            </a:r>
            <a:r>
              <a:rPr lang="pt-BR" dirty="0"/>
              <a:t>Indica que a função poderá ser </a:t>
            </a:r>
            <a:r>
              <a:rPr lang="pt-BR" dirty="0" smtClean="0"/>
              <a:t>chamada normalmente </a:t>
            </a:r>
            <a:r>
              <a:rPr lang="pt-BR" dirty="0"/>
              <a:t>se algum de seus argumentos for </a:t>
            </a:r>
            <a:r>
              <a:rPr lang="pt-BR" dirty="0" err="1"/>
              <a:t>null</a:t>
            </a:r>
            <a:r>
              <a:rPr lang="pt-BR" dirty="0"/>
              <a:t>. A checagem passa a </a:t>
            </a:r>
            <a:r>
              <a:rPr lang="pt-BR" dirty="0" smtClean="0"/>
              <a:t>ser responsabilidade </a:t>
            </a:r>
            <a:r>
              <a:rPr lang="pt-BR" dirty="0"/>
              <a:t>do autor da função.</a:t>
            </a:r>
          </a:p>
          <a:p>
            <a:r>
              <a:rPr lang="pt-BR" b="1" dirty="0" smtClean="0"/>
              <a:t>RETURNS </a:t>
            </a:r>
            <a:r>
              <a:rPr lang="pt-BR" b="1" dirty="0"/>
              <a:t>NULL ON NULL INPUT: </a:t>
            </a:r>
            <a:r>
              <a:rPr lang="pt-BR" dirty="0"/>
              <a:t>Indica que se a função receber algum argumento </a:t>
            </a:r>
            <a:r>
              <a:rPr lang="pt-BR" dirty="0" err="1" smtClean="0"/>
              <a:t>null</a:t>
            </a:r>
            <a:r>
              <a:rPr lang="pt-BR" dirty="0" smtClean="0"/>
              <a:t> ela </a:t>
            </a:r>
            <a:r>
              <a:rPr lang="pt-BR" dirty="0"/>
              <a:t>invariavelmente retornará </a:t>
            </a:r>
            <a:r>
              <a:rPr lang="pt-BR" dirty="0" err="1"/>
              <a:t>null</a:t>
            </a:r>
            <a:r>
              <a:rPr lang="pt-BR" dirty="0"/>
              <a:t>.</a:t>
            </a:r>
          </a:p>
          <a:p>
            <a:r>
              <a:rPr lang="pt-BR" b="1" dirty="0" smtClean="0"/>
              <a:t>STRICT</a:t>
            </a:r>
            <a:r>
              <a:rPr lang="pt-BR" b="1" dirty="0"/>
              <a:t>: </a:t>
            </a:r>
            <a:r>
              <a:rPr lang="pt-BR" dirty="0"/>
              <a:t>Indica que se a função receber algum argumento </a:t>
            </a:r>
            <a:r>
              <a:rPr lang="pt-BR" dirty="0" err="1"/>
              <a:t>null</a:t>
            </a:r>
            <a:r>
              <a:rPr lang="pt-BR" dirty="0"/>
              <a:t> ela invariavelmente </a:t>
            </a:r>
            <a:r>
              <a:rPr lang="pt-BR" dirty="0" smtClean="0"/>
              <a:t>retornará </a:t>
            </a:r>
            <a:r>
              <a:rPr lang="pt-BR" dirty="0" err="1" smtClean="0"/>
              <a:t>null</a:t>
            </a:r>
            <a:r>
              <a:rPr lang="pt-BR" dirty="0"/>
              <a:t>.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1362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ARGUMENTOS NULL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en-US" dirty="0"/>
              <a:t>CALLED ON NULL INPUT | RETURNS NULL ON NULL INPUT | STRICT</a:t>
            </a:r>
          </a:p>
          <a:p>
            <a:r>
              <a:rPr lang="pt-BR" b="1" dirty="0" smtClean="0"/>
              <a:t>CALLED </a:t>
            </a:r>
            <a:r>
              <a:rPr lang="pt-BR" b="1" dirty="0"/>
              <a:t>ON NULL INPUT (padrão): </a:t>
            </a:r>
            <a:r>
              <a:rPr lang="pt-BR" dirty="0"/>
              <a:t>Indica que a função poderá ser </a:t>
            </a:r>
            <a:r>
              <a:rPr lang="pt-BR" dirty="0" smtClean="0"/>
              <a:t>chamada normalmente </a:t>
            </a:r>
            <a:r>
              <a:rPr lang="pt-BR" dirty="0"/>
              <a:t>se algum de seus argumentos for </a:t>
            </a:r>
            <a:r>
              <a:rPr lang="pt-BR" dirty="0" err="1"/>
              <a:t>null</a:t>
            </a:r>
            <a:r>
              <a:rPr lang="pt-BR" dirty="0"/>
              <a:t>. A checagem passa a </a:t>
            </a:r>
            <a:r>
              <a:rPr lang="pt-BR" dirty="0" smtClean="0"/>
              <a:t>ser responsabilidade </a:t>
            </a:r>
            <a:r>
              <a:rPr lang="pt-BR" dirty="0"/>
              <a:t>do autor da função.</a:t>
            </a:r>
          </a:p>
          <a:p>
            <a:r>
              <a:rPr lang="pt-BR" b="1" dirty="0" smtClean="0"/>
              <a:t>RETURNS </a:t>
            </a:r>
            <a:r>
              <a:rPr lang="pt-BR" b="1" dirty="0"/>
              <a:t>NULL ON NULL INPUT: </a:t>
            </a:r>
            <a:r>
              <a:rPr lang="pt-BR" dirty="0"/>
              <a:t>Indica que se a função receber algum argumento </a:t>
            </a:r>
            <a:r>
              <a:rPr lang="pt-BR" dirty="0" err="1" smtClean="0"/>
              <a:t>null</a:t>
            </a:r>
            <a:r>
              <a:rPr lang="pt-BR" dirty="0" smtClean="0"/>
              <a:t> ela </a:t>
            </a:r>
            <a:r>
              <a:rPr lang="pt-BR" dirty="0"/>
              <a:t>invariavelmente retornará </a:t>
            </a:r>
            <a:r>
              <a:rPr lang="pt-BR" dirty="0" err="1"/>
              <a:t>null</a:t>
            </a:r>
            <a:r>
              <a:rPr lang="pt-BR" dirty="0"/>
              <a:t>.</a:t>
            </a:r>
          </a:p>
          <a:p>
            <a:r>
              <a:rPr lang="pt-BR" b="1" dirty="0" smtClean="0"/>
              <a:t>STRICT</a:t>
            </a:r>
            <a:r>
              <a:rPr lang="pt-BR" b="1" dirty="0"/>
              <a:t>: </a:t>
            </a:r>
            <a:r>
              <a:rPr lang="pt-BR" dirty="0"/>
              <a:t>Indica que se a função receber algum argumento </a:t>
            </a:r>
            <a:r>
              <a:rPr lang="pt-BR" dirty="0" err="1"/>
              <a:t>null</a:t>
            </a:r>
            <a:r>
              <a:rPr lang="pt-BR" dirty="0"/>
              <a:t> ela invariavelmente </a:t>
            </a:r>
            <a:r>
              <a:rPr lang="pt-BR" dirty="0" smtClean="0"/>
              <a:t>retornará </a:t>
            </a:r>
            <a:r>
              <a:rPr lang="pt-BR" dirty="0" err="1" smtClean="0"/>
              <a:t>null</a:t>
            </a:r>
            <a:r>
              <a:rPr lang="pt-BR" dirty="0"/>
              <a:t>.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9092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FUNÇÕES SQL X FUNÇÕES PLPGSQL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b="1" dirty="0" smtClean="0"/>
              <a:t>Funções </a:t>
            </a:r>
            <a:r>
              <a:rPr lang="pt-BR" b="1" dirty="0"/>
              <a:t>SQL </a:t>
            </a:r>
            <a:r>
              <a:rPr lang="pt-BR" dirty="0"/>
              <a:t>executam uma lista de declarações SQL retornando o resultado da </a:t>
            </a:r>
            <a:r>
              <a:rPr lang="pt-BR" dirty="0" smtClean="0"/>
              <a:t>última query </a:t>
            </a:r>
            <a:r>
              <a:rPr lang="pt-BR" dirty="0"/>
              <a:t>da lista.</a:t>
            </a:r>
          </a:p>
          <a:p>
            <a:r>
              <a:rPr lang="pt-BR" b="1" dirty="0" smtClean="0"/>
              <a:t>Funções </a:t>
            </a:r>
            <a:r>
              <a:rPr lang="pt-BR" b="1" dirty="0"/>
              <a:t>PLPGSQL </a:t>
            </a:r>
            <a:r>
              <a:rPr lang="pt-BR" dirty="0"/>
              <a:t>são funções que utilizam a </a:t>
            </a:r>
            <a:r>
              <a:rPr lang="pt-BR" b="1" dirty="0"/>
              <a:t>L</a:t>
            </a:r>
            <a:r>
              <a:rPr lang="pt-BR" dirty="0"/>
              <a:t>inguagem </a:t>
            </a:r>
            <a:r>
              <a:rPr lang="pt-BR" b="1" dirty="0"/>
              <a:t>P</a:t>
            </a:r>
            <a:r>
              <a:rPr lang="pt-BR" dirty="0"/>
              <a:t>rocedural </a:t>
            </a:r>
            <a:r>
              <a:rPr lang="pt-BR" b="1" dirty="0"/>
              <a:t>PGSQL:</a:t>
            </a:r>
          </a:p>
          <a:p>
            <a:r>
              <a:rPr lang="pt-BR" dirty="0" smtClean="0"/>
              <a:t>No </a:t>
            </a:r>
            <a:r>
              <a:rPr lang="pt-BR" dirty="0" err="1"/>
              <a:t>PostgreSQL</a:t>
            </a:r>
            <a:r>
              <a:rPr lang="pt-BR" dirty="0"/>
              <a:t> as </a:t>
            </a:r>
            <a:r>
              <a:rPr lang="pt-BR" b="1" dirty="0" err="1"/>
              <a:t>Stored</a:t>
            </a:r>
            <a:r>
              <a:rPr lang="pt-BR" b="1" dirty="0"/>
              <a:t> Procedures </a:t>
            </a:r>
            <a:r>
              <a:rPr lang="pt-BR" dirty="0"/>
              <a:t>são definidas como </a:t>
            </a:r>
            <a:r>
              <a:rPr lang="pt-BR" dirty="0" err="1"/>
              <a:t>functions</a:t>
            </a:r>
            <a:r>
              <a:rPr lang="pt-BR" dirty="0"/>
              <a:t> na </a:t>
            </a:r>
            <a:r>
              <a:rPr lang="pt-BR" dirty="0" smtClean="0"/>
              <a:t>linguagem PLPGSQL.</a:t>
            </a:r>
          </a:p>
          <a:p>
            <a:r>
              <a:rPr lang="pt-BR" dirty="0">
                <a:hlinkClick r:id="rId2"/>
              </a:rPr>
              <a:t>https://stackoverflow.com/questions/24755468/language-sql-vs-language-plpgsql-in-postgresql-functions</a:t>
            </a:r>
            <a:endParaRPr lang="pt-BR" dirty="0"/>
          </a:p>
          <a:p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7843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EXEMPLO 1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 fontScale="92500"/>
          </a:bodyPr>
          <a:lstStyle/>
          <a:p>
            <a:r>
              <a:rPr lang="pt-BR" dirty="0"/>
              <a:t>Uma função para somar dois inteiros</a:t>
            </a:r>
            <a:r>
              <a:rPr lang="pt-BR" dirty="0" smtClean="0"/>
              <a:t>.</a:t>
            </a:r>
          </a:p>
          <a:p>
            <a:pPr algn="ctr"/>
            <a:r>
              <a:rPr lang="en-US" dirty="0"/>
              <a:t>CREATE FUNCTION add(integer, integer) RETURNS integer AS '</a:t>
            </a:r>
          </a:p>
          <a:p>
            <a:pPr marL="0" indent="0" algn="ctr">
              <a:buNone/>
            </a:pPr>
            <a:r>
              <a:rPr lang="pt-BR" dirty="0" err="1"/>
              <a:t>select</a:t>
            </a:r>
            <a:r>
              <a:rPr lang="pt-BR" dirty="0"/>
              <a:t> $1 + $2;</a:t>
            </a:r>
          </a:p>
          <a:p>
            <a:pPr marL="0" indent="0" algn="ctr">
              <a:buNone/>
            </a:pPr>
            <a:r>
              <a:rPr lang="pt-BR" dirty="0"/>
              <a:t>' LANGUAGE SQL</a:t>
            </a:r>
          </a:p>
          <a:p>
            <a:pPr marL="0" indent="0" algn="ctr">
              <a:buNone/>
            </a:pPr>
            <a:r>
              <a:rPr lang="pt-BR" dirty="0"/>
              <a:t>IMMUTABLE</a:t>
            </a:r>
          </a:p>
          <a:p>
            <a:pPr marL="0" indent="0" algn="ctr">
              <a:buNone/>
            </a:pPr>
            <a:r>
              <a:rPr lang="en-US" dirty="0"/>
              <a:t>RETURNS NULL ON NULL INPUT</a:t>
            </a:r>
            <a:r>
              <a:rPr lang="en-US" dirty="0" smtClean="0"/>
              <a:t>;</a:t>
            </a:r>
          </a:p>
          <a:p>
            <a:r>
              <a:rPr lang="pt-BR" dirty="0"/>
              <a:t>$1, $2, $N podem ser utilizados para se referia ao argumento 1, argumento 2, </a:t>
            </a:r>
            <a:r>
              <a:rPr lang="pt-BR" dirty="0" smtClean="0"/>
              <a:t>argumento N </a:t>
            </a:r>
            <a:r>
              <a:rPr lang="pt-BR" dirty="0"/>
              <a:t>e assim sucessivamente, na ordem da declaração</a:t>
            </a:r>
            <a:r>
              <a:rPr lang="pt-BR" dirty="0" smtClean="0"/>
              <a:t>.</a:t>
            </a:r>
          </a:p>
          <a:p>
            <a:r>
              <a:rPr lang="pt-BR" dirty="0" smtClean="0"/>
              <a:t>Para rodar o comando e verificar se deu certo, utilize:</a:t>
            </a:r>
          </a:p>
          <a:p>
            <a:r>
              <a:rPr lang="pt-BR" dirty="0" err="1"/>
              <a:t>select</a:t>
            </a:r>
            <a:r>
              <a:rPr lang="pt-BR" dirty="0"/>
              <a:t> </a:t>
            </a:r>
            <a:r>
              <a:rPr lang="pt-BR" dirty="0" err="1"/>
              <a:t>add</a:t>
            </a:r>
            <a:r>
              <a:rPr lang="pt-BR" dirty="0"/>
              <a:t>(1,1)</a:t>
            </a:r>
          </a:p>
          <a:p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577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 smtClean="0"/>
              <a:t>EXEMPLO 2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/>
              <a:t>Uma função para </a:t>
            </a:r>
            <a:r>
              <a:rPr lang="pt-BR" dirty="0" smtClean="0"/>
              <a:t>incrementar 1 à um valor qualquer.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>CREATE OR REPLACE FUNCTION increment(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integer) RETURNS integer AS $$</a:t>
            </a:r>
          </a:p>
          <a:p>
            <a:pPr marL="0" indent="0" algn="ctr">
              <a:buNone/>
            </a:pPr>
            <a:r>
              <a:rPr lang="pt-BR" dirty="0">
                <a:solidFill>
                  <a:srgbClr val="FF0000"/>
                </a:solidFill>
              </a:rPr>
              <a:t>BEGIN</a:t>
            </a:r>
          </a:p>
          <a:p>
            <a:pPr marL="0" indent="0" algn="ctr">
              <a:buNone/>
            </a:pPr>
            <a:r>
              <a:rPr lang="pt-BR" dirty="0">
                <a:solidFill>
                  <a:srgbClr val="FF0000"/>
                </a:solidFill>
              </a:rPr>
              <a:t>RETURN i + 1;</a:t>
            </a:r>
          </a:p>
          <a:p>
            <a:pPr marL="0" indent="0" algn="ctr">
              <a:buNone/>
            </a:pPr>
            <a:r>
              <a:rPr lang="pt-BR" dirty="0">
                <a:solidFill>
                  <a:srgbClr val="FF0000"/>
                </a:solidFill>
              </a:rPr>
              <a:t>END;</a:t>
            </a:r>
          </a:p>
          <a:p>
            <a:pPr marL="0" indent="0" algn="ctr">
              <a:buNone/>
            </a:pPr>
            <a:r>
              <a:rPr lang="pt-BR" dirty="0">
                <a:solidFill>
                  <a:srgbClr val="FF0000"/>
                </a:solidFill>
              </a:rPr>
              <a:t>$$ LANGUAGE </a:t>
            </a:r>
            <a:r>
              <a:rPr lang="pt-BR" dirty="0" err="1" smtClean="0">
                <a:solidFill>
                  <a:srgbClr val="FF0000"/>
                </a:solidFill>
              </a:rPr>
              <a:t>plpgsql</a:t>
            </a:r>
            <a:r>
              <a:rPr lang="pt-BR" dirty="0" smtClean="0">
                <a:solidFill>
                  <a:srgbClr val="FF0000"/>
                </a:solidFill>
              </a:rPr>
              <a:t>;</a:t>
            </a:r>
            <a:endParaRPr lang="pt-BR" dirty="0" smtClean="0">
              <a:solidFill>
                <a:srgbClr val="FF0000"/>
              </a:solidFill>
            </a:endParaRPr>
          </a:p>
          <a:p>
            <a:r>
              <a:rPr lang="pt-BR" dirty="0" err="1" smtClean="0"/>
              <a:t>Select</a:t>
            </a:r>
            <a:r>
              <a:rPr lang="pt-BR" dirty="0" smtClean="0"/>
              <a:t> </a:t>
            </a:r>
            <a:r>
              <a:rPr lang="en-US" dirty="0" smtClean="0"/>
              <a:t>increment(410)</a:t>
            </a:r>
            <a:endParaRPr lang="pt-BR" dirty="0"/>
          </a:p>
          <a:p>
            <a:pPr marL="0" indent="0">
              <a:buNone/>
            </a:pPr>
            <a:endParaRPr lang="pt-BR" dirty="0"/>
          </a:p>
          <a:p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3069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FUNÇÕES SQL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 fontScale="77500" lnSpcReduction="20000"/>
          </a:bodyPr>
          <a:lstStyle/>
          <a:p>
            <a:r>
              <a:rPr lang="pt-BR" dirty="0"/>
              <a:t>Funções SQL executam uma lista de declarações SQL retornando o resultado da </a:t>
            </a:r>
            <a:r>
              <a:rPr lang="pt-BR" dirty="0" smtClean="0"/>
              <a:t>última query </a:t>
            </a:r>
            <a:r>
              <a:rPr lang="pt-BR" dirty="0"/>
              <a:t>da lista.</a:t>
            </a:r>
          </a:p>
          <a:p>
            <a:r>
              <a:rPr lang="pt-BR" dirty="0" smtClean="0"/>
              <a:t>A </a:t>
            </a:r>
            <a:r>
              <a:rPr lang="pt-BR" dirty="0"/>
              <a:t>primeira linha da última query será retornada.</a:t>
            </a:r>
          </a:p>
          <a:p>
            <a:r>
              <a:rPr lang="pt-BR" dirty="0" smtClean="0"/>
              <a:t>Se </a:t>
            </a:r>
            <a:r>
              <a:rPr lang="pt-BR" dirty="0"/>
              <a:t>a última query não retorna linhas, NULL será o retorno.</a:t>
            </a:r>
          </a:p>
          <a:p>
            <a:r>
              <a:rPr lang="pt-BR" dirty="0" smtClean="0"/>
              <a:t>Para </a:t>
            </a:r>
            <a:r>
              <a:rPr lang="pt-BR" dirty="0"/>
              <a:t>retornar um conjunto de linhas o tipo de retorno deve ser especificado </a:t>
            </a:r>
            <a:r>
              <a:rPr lang="pt-BR" dirty="0" smtClean="0"/>
              <a:t>como RETURNS </a:t>
            </a:r>
            <a:r>
              <a:rPr lang="pt-BR" dirty="0"/>
              <a:t>SETOF &lt;TABLE&gt;.</a:t>
            </a:r>
          </a:p>
          <a:p>
            <a:r>
              <a:rPr lang="pt-BR" dirty="0" smtClean="0"/>
              <a:t>Nesse </a:t>
            </a:r>
            <a:r>
              <a:rPr lang="pt-BR" dirty="0"/>
              <a:t>caso todas as linhas da última query serão retornadas.</a:t>
            </a:r>
          </a:p>
          <a:p>
            <a:r>
              <a:rPr lang="pt-BR" dirty="0" smtClean="0"/>
              <a:t>O </a:t>
            </a:r>
            <a:r>
              <a:rPr lang="pt-BR" dirty="0"/>
              <a:t>corpo da função deve ser uma lista de declarações SQL separadas por ponto e vírgula.</a:t>
            </a:r>
          </a:p>
          <a:p>
            <a:r>
              <a:rPr lang="pt-BR" dirty="0" smtClean="0"/>
              <a:t>Funções </a:t>
            </a:r>
            <a:r>
              <a:rPr lang="pt-BR" dirty="0"/>
              <a:t>SQL devem ter como último comando um SELECT, ou INSERT, UPDATE </a:t>
            </a:r>
            <a:r>
              <a:rPr lang="pt-BR" dirty="0" smtClean="0"/>
              <a:t>e DELETE </a:t>
            </a:r>
            <a:r>
              <a:rPr lang="pt-BR" dirty="0"/>
              <a:t>com retorno (RETURNING</a:t>
            </a:r>
            <a:r>
              <a:rPr lang="pt-BR" dirty="0" smtClean="0"/>
              <a:t>).</a:t>
            </a:r>
          </a:p>
          <a:p>
            <a:pPr algn="ctr"/>
            <a:r>
              <a:rPr lang="en-US" dirty="0"/>
              <a:t>CREATE FUNCTION </a:t>
            </a:r>
            <a:r>
              <a:rPr lang="en-US" dirty="0" err="1"/>
              <a:t>clean_emp</a:t>
            </a:r>
            <a:r>
              <a:rPr lang="en-US" dirty="0"/>
              <a:t>() RETURNS void AS '</a:t>
            </a:r>
          </a:p>
          <a:p>
            <a:pPr marL="0" indent="0" algn="ctr">
              <a:buNone/>
            </a:pPr>
            <a:r>
              <a:rPr lang="pt-BR" dirty="0"/>
              <a:t>DELETE FROM </a:t>
            </a:r>
            <a:r>
              <a:rPr lang="pt-BR" dirty="0" err="1"/>
              <a:t>emp</a:t>
            </a:r>
            <a:endParaRPr lang="pt-BR" dirty="0"/>
          </a:p>
          <a:p>
            <a:pPr marL="0" indent="0" algn="ctr">
              <a:buNone/>
            </a:pPr>
            <a:r>
              <a:rPr lang="pt-BR" dirty="0"/>
              <a:t>WHERE </a:t>
            </a:r>
            <a:r>
              <a:rPr lang="pt-BR" dirty="0" err="1"/>
              <a:t>salary</a:t>
            </a:r>
            <a:r>
              <a:rPr lang="pt-BR" dirty="0"/>
              <a:t> &lt; 0;</a:t>
            </a:r>
          </a:p>
          <a:p>
            <a:pPr marL="0" indent="0" algn="ctr">
              <a:buNone/>
            </a:pPr>
            <a:r>
              <a:rPr lang="pt-BR" dirty="0"/>
              <a:t>' LANGUAGE SQL;</a:t>
            </a:r>
          </a:p>
          <a:p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7183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EXEMPLO SQL FUNTION 1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pt-BR" dirty="0" smtClean="0"/>
              <a:t>CREATE </a:t>
            </a:r>
            <a:r>
              <a:rPr lang="pt-BR" dirty="0"/>
              <a:t>TABLE alunos (</a:t>
            </a:r>
          </a:p>
          <a:p>
            <a:pPr marL="0" indent="0">
              <a:buNone/>
            </a:pPr>
            <a:r>
              <a:rPr lang="pt-BR" dirty="0"/>
              <a:t>    </a:t>
            </a:r>
            <a:r>
              <a:rPr lang="pt-BR" dirty="0" err="1"/>
              <a:t>idaluno</a:t>
            </a:r>
            <a:r>
              <a:rPr lang="pt-BR" dirty="0"/>
              <a:t> INT PRIMARY KEY,</a:t>
            </a:r>
          </a:p>
          <a:p>
            <a:pPr marL="0" indent="0">
              <a:buNone/>
            </a:pPr>
            <a:r>
              <a:rPr lang="pt-BR" dirty="0"/>
              <a:t>    nome VARCHAR(100),</a:t>
            </a:r>
          </a:p>
          <a:p>
            <a:pPr marL="0" indent="0">
              <a:buNone/>
            </a:pPr>
            <a:r>
              <a:rPr lang="pt-BR" dirty="0"/>
              <a:t>    </a:t>
            </a:r>
            <a:r>
              <a:rPr lang="pt-BR" dirty="0" err="1"/>
              <a:t>cod_matricula</a:t>
            </a:r>
            <a:r>
              <a:rPr lang="pt-BR" dirty="0"/>
              <a:t> INT</a:t>
            </a:r>
          </a:p>
          <a:p>
            <a:pPr marL="0" indent="0">
              <a:buNone/>
            </a:pPr>
            <a:r>
              <a:rPr lang="pt-BR" dirty="0"/>
              <a:t>);</a:t>
            </a:r>
          </a:p>
          <a:p>
            <a:pPr marL="0" indent="0">
              <a:buNone/>
            </a:pPr>
            <a:r>
              <a:rPr lang="pt-BR" dirty="0" smtClean="0"/>
              <a:t>INSERT </a:t>
            </a:r>
            <a:r>
              <a:rPr lang="pt-BR" dirty="0"/>
              <a:t>INTO alunos (</a:t>
            </a:r>
            <a:r>
              <a:rPr lang="pt-BR" dirty="0" err="1"/>
              <a:t>idaluno</a:t>
            </a:r>
            <a:r>
              <a:rPr lang="pt-BR" dirty="0"/>
              <a:t>, nome, </a:t>
            </a:r>
            <a:r>
              <a:rPr lang="pt-BR" dirty="0" err="1"/>
              <a:t>cod_matricula</a:t>
            </a:r>
            <a:r>
              <a:rPr lang="pt-BR" dirty="0"/>
              <a:t>) VALUES (1, 'João Silva', 1);</a:t>
            </a:r>
          </a:p>
          <a:p>
            <a:pPr marL="0" indent="0">
              <a:buNone/>
            </a:pPr>
            <a:r>
              <a:rPr lang="pt-BR" dirty="0"/>
              <a:t>INSERT INTO alunos (</a:t>
            </a:r>
            <a:r>
              <a:rPr lang="pt-BR" dirty="0" err="1"/>
              <a:t>idaluno</a:t>
            </a:r>
            <a:r>
              <a:rPr lang="pt-BR" dirty="0"/>
              <a:t>, nome, </a:t>
            </a:r>
            <a:r>
              <a:rPr lang="pt-BR" dirty="0" err="1"/>
              <a:t>cod_matricula</a:t>
            </a:r>
            <a:r>
              <a:rPr lang="pt-BR" dirty="0"/>
              <a:t>) VALUES (2, 'Maria Santos', 2);</a:t>
            </a:r>
          </a:p>
          <a:p>
            <a:pPr marL="0" indent="0">
              <a:buNone/>
            </a:pPr>
            <a:r>
              <a:rPr lang="pt-BR" dirty="0"/>
              <a:t>INSERT INTO alunos (</a:t>
            </a:r>
            <a:r>
              <a:rPr lang="pt-BR" dirty="0" err="1"/>
              <a:t>idaluno</a:t>
            </a:r>
            <a:r>
              <a:rPr lang="pt-BR" dirty="0"/>
              <a:t>, nome, </a:t>
            </a:r>
            <a:r>
              <a:rPr lang="pt-BR" dirty="0" err="1"/>
              <a:t>cod_matricula</a:t>
            </a:r>
            <a:r>
              <a:rPr lang="pt-BR" dirty="0"/>
              <a:t>) VALUES (3, 'Carlos Oliveira', 3);</a:t>
            </a:r>
          </a:p>
          <a:p>
            <a:pPr marL="0" indent="0">
              <a:buNone/>
            </a:pPr>
            <a:r>
              <a:rPr lang="pt-BR" dirty="0"/>
              <a:t>INSERT INTO alunos (</a:t>
            </a:r>
            <a:r>
              <a:rPr lang="pt-BR" dirty="0" err="1"/>
              <a:t>idaluno</a:t>
            </a:r>
            <a:r>
              <a:rPr lang="pt-BR" dirty="0"/>
              <a:t>, nome, </a:t>
            </a:r>
            <a:r>
              <a:rPr lang="pt-BR" dirty="0" err="1"/>
              <a:t>cod_matricula</a:t>
            </a:r>
            <a:r>
              <a:rPr lang="pt-BR" dirty="0"/>
              <a:t>) VALUES (4, 'Ana Pereira', 4);</a:t>
            </a:r>
          </a:p>
          <a:p>
            <a:pPr marL="0" indent="0">
              <a:buNone/>
            </a:pPr>
            <a:r>
              <a:rPr lang="pt-BR" dirty="0"/>
              <a:t>INSERT INTO alunos (</a:t>
            </a:r>
            <a:r>
              <a:rPr lang="pt-BR" dirty="0" err="1"/>
              <a:t>idaluno</a:t>
            </a:r>
            <a:r>
              <a:rPr lang="pt-BR" dirty="0"/>
              <a:t>, nome, </a:t>
            </a:r>
            <a:r>
              <a:rPr lang="pt-BR" dirty="0" err="1"/>
              <a:t>cod_matricula</a:t>
            </a:r>
            <a:r>
              <a:rPr lang="pt-BR" dirty="0"/>
              <a:t>) VALUES (5, 'Pedro Souza', 5);</a:t>
            </a:r>
          </a:p>
          <a:p>
            <a:pPr marL="0" indent="0">
              <a:buNone/>
            </a:pPr>
            <a:r>
              <a:rPr lang="pt-BR" dirty="0"/>
              <a:t>INSERT INTO alunos (</a:t>
            </a:r>
            <a:r>
              <a:rPr lang="pt-BR" dirty="0" err="1"/>
              <a:t>idaluno</a:t>
            </a:r>
            <a:r>
              <a:rPr lang="pt-BR" dirty="0"/>
              <a:t>, nome, </a:t>
            </a:r>
            <a:r>
              <a:rPr lang="pt-BR" dirty="0" err="1"/>
              <a:t>cod_matricula</a:t>
            </a:r>
            <a:r>
              <a:rPr lang="pt-BR" dirty="0"/>
              <a:t>) VALUES (6, 'Mariana Lima', 6);</a:t>
            </a:r>
          </a:p>
          <a:p>
            <a:pPr marL="0" indent="0">
              <a:buNone/>
            </a:pPr>
            <a:r>
              <a:rPr lang="pt-BR" dirty="0"/>
              <a:t>INSERT INTO alunos (</a:t>
            </a:r>
            <a:r>
              <a:rPr lang="pt-BR" dirty="0" err="1"/>
              <a:t>idaluno</a:t>
            </a:r>
            <a:r>
              <a:rPr lang="pt-BR" dirty="0"/>
              <a:t>, nome, </a:t>
            </a:r>
            <a:r>
              <a:rPr lang="pt-BR" dirty="0" err="1"/>
              <a:t>cod_matricula</a:t>
            </a:r>
            <a:r>
              <a:rPr lang="pt-BR" dirty="0"/>
              <a:t>) VALUES (7, 'Fernando Costa', 7);</a:t>
            </a:r>
          </a:p>
          <a:p>
            <a:pPr marL="0" indent="0">
              <a:buNone/>
            </a:pPr>
            <a:r>
              <a:rPr lang="pt-BR" dirty="0"/>
              <a:t>INSERT INTO alunos (</a:t>
            </a:r>
            <a:r>
              <a:rPr lang="pt-BR" dirty="0" err="1"/>
              <a:t>idaluno</a:t>
            </a:r>
            <a:r>
              <a:rPr lang="pt-BR" dirty="0"/>
              <a:t>, nome, </a:t>
            </a:r>
            <a:r>
              <a:rPr lang="pt-BR" dirty="0" err="1"/>
              <a:t>cod_matricula</a:t>
            </a:r>
            <a:r>
              <a:rPr lang="pt-BR" dirty="0"/>
              <a:t>) VALUES (8, 'Amanda Rodrigues', 8);</a:t>
            </a:r>
          </a:p>
          <a:p>
            <a:pPr marL="0" indent="0">
              <a:buNone/>
            </a:pPr>
            <a:r>
              <a:rPr lang="pt-BR" dirty="0"/>
              <a:t>INSERT INTO alunos (</a:t>
            </a:r>
            <a:r>
              <a:rPr lang="pt-BR" dirty="0" err="1"/>
              <a:t>idaluno</a:t>
            </a:r>
            <a:r>
              <a:rPr lang="pt-BR" dirty="0"/>
              <a:t>, nome, </a:t>
            </a:r>
            <a:r>
              <a:rPr lang="pt-BR" dirty="0" err="1"/>
              <a:t>cod_matricula</a:t>
            </a:r>
            <a:r>
              <a:rPr lang="pt-BR" dirty="0"/>
              <a:t>) VALUES (9, 'Lucas Martins', 9);</a:t>
            </a:r>
          </a:p>
          <a:p>
            <a:pPr marL="0" indent="0">
              <a:buNone/>
            </a:pPr>
            <a:r>
              <a:rPr lang="pt-BR" dirty="0"/>
              <a:t>INSERT INTO alunos (</a:t>
            </a:r>
            <a:r>
              <a:rPr lang="pt-BR" dirty="0" err="1"/>
              <a:t>idaluno</a:t>
            </a:r>
            <a:r>
              <a:rPr lang="pt-BR" dirty="0"/>
              <a:t>, nome, </a:t>
            </a:r>
            <a:r>
              <a:rPr lang="pt-BR" dirty="0" err="1"/>
              <a:t>cod_matricula</a:t>
            </a:r>
            <a:r>
              <a:rPr lang="pt-BR" dirty="0"/>
              <a:t>) VALUES (10, 'Camila Almeida', 10);</a:t>
            </a:r>
          </a:p>
          <a:p>
            <a:pPr marL="0" indent="0">
              <a:buNone/>
            </a:pPr>
            <a:r>
              <a:rPr lang="pt-BR" dirty="0"/>
              <a:t>INSERT INTO alunos (</a:t>
            </a:r>
            <a:r>
              <a:rPr lang="pt-BR" dirty="0" err="1"/>
              <a:t>idaluno</a:t>
            </a:r>
            <a:r>
              <a:rPr lang="pt-BR" dirty="0"/>
              <a:t>, nome, </a:t>
            </a:r>
            <a:r>
              <a:rPr lang="pt-BR" dirty="0" err="1"/>
              <a:t>cod_matricula</a:t>
            </a:r>
            <a:r>
              <a:rPr lang="pt-BR" dirty="0"/>
              <a:t>) VALUES (11, 'Gustavo Oliveira', 11);</a:t>
            </a:r>
          </a:p>
          <a:p>
            <a:pPr marL="0" indent="0">
              <a:buNone/>
            </a:pPr>
            <a:r>
              <a:rPr lang="pt-BR" dirty="0"/>
              <a:t>INSERT INTO alunos (</a:t>
            </a:r>
            <a:r>
              <a:rPr lang="pt-BR" dirty="0" err="1"/>
              <a:t>idaluno</a:t>
            </a:r>
            <a:r>
              <a:rPr lang="pt-BR" dirty="0"/>
              <a:t>, nome, </a:t>
            </a:r>
            <a:r>
              <a:rPr lang="pt-BR" dirty="0" err="1"/>
              <a:t>cod_matricula</a:t>
            </a:r>
            <a:r>
              <a:rPr lang="pt-BR" dirty="0"/>
              <a:t>) VALUES (12, 'Juliana Barbosa', 12);</a:t>
            </a:r>
          </a:p>
          <a:p>
            <a:pPr marL="0" indent="0">
              <a:buNone/>
            </a:pPr>
            <a:r>
              <a:rPr lang="pt-BR" dirty="0"/>
              <a:t>INSERT INTO alunos (</a:t>
            </a:r>
            <a:r>
              <a:rPr lang="pt-BR" dirty="0" err="1"/>
              <a:t>idaluno</a:t>
            </a:r>
            <a:r>
              <a:rPr lang="pt-BR" dirty="0"/>
              <a:t>, nome, </a:t>
            </a:r>
            <a:r>
              <a:rPr lang="pt-BR" dirty="0" err="1"/>
              <a:t>cod_matricula</a:t>
            </a:r>
            <a:r>
              <a:rPr lang="pt-BR" dirty="0"/>
              <a:t>) VALUES (13, 'Rafaela Sousa', 13);</a:t>
            </a:r>
          </a:p>
          <a:p>
            <a:pPr marL="0" indent="0">
              <a:buNone/>
            </a:pPr>
            <a:r>
              <a:rPr lang="pt-BR" dirty="0"/>
              <a:t>INSERT INTO alunos (</a:t>
            </a:r>
            <a:r>
              <a:rPr lang="pt-BR" dirty="0" err="1"/>
              <a:t>idaluno</a:t>
            </a:r>
            <a:r>
              <a:rPr lang="pt-BR" dirty="0"/>
              <a:t>, nome, </a:t>
            </a:r>
            <a:r>
              <a:rPr lang="pt-BR" dirty="0" err="1"/>
              <a:t>cod_matricula</a:t>
            </a:r>
            <a:r>
              <a:rPr lang="pt-BR" dirty="0"/>
              <a:t>) VALUES (14, 'Daniel Pereira', 14);</a:t>
            </a:r>
          </a:p>
          <a:p>
            <a:pPr marL="0" indent="0">
              <a:buNone/>
            </a:pPr>
            <a:r>
              <a:rPr lang="pt-BR" dirty="0"/>
              <a:t>INSERT INTO alunos (</a:t>
            </a:r>
            <a:r>
              <a:rPr lang="pt-BR" dirty="0" err="1"/>
              <a:t>idaluno</a:t>
            </a:r>
            <a:r>
              <a:rPr lang="pt-BR" dirty="0"/>
              <a:t>, nome, </a:t>
            </a:r>
            <a:r>
              <a:rPr lang="pt-BR" dirty="0" err="1"/>
              <a:t>cod_matricula</a:t>
            </a:r>
            <a:r>
              <a:rPr lang="pt-BR" dirty="0"/>
              <a:t>) VALUES (15, 'Carolina Silva', 15);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7378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EXEMPLO SQL FUNTION 1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 lnSpcReduction="10000"/>
          </a:bodyPr>
          <a:lstStyle/>
          <a:p>
            <a:r>
              <a:rPr lang="pt-BR" dirty="0"/>
              <a:t>Uma função que remove alunos com matrícula menor que </a:t>
            </a:r>
            <a:r>
              <a:rPr lang="pt-BR" dirty="0" smtClean="0"/>
              <a:t>10 </a:t>
            </a:r>
            <a:r>
              <a:rPr lang="pt-BR" dirty="0"/>
              <a:t>e não retorna </a:t>
            </a:r>
            <a:r>
              <a:rPr lang="pt-BR" dirty="0" smtClean="0"/>
              <a:t>nenhuma linha</a:t>
            </a:r>
            <a:r>
              <a:rPr lang="pt-BR" dirty="0"/>
              <a:t>.</a:t>
            </a:r>
          </a:p>
          <a:p>
            <a:r>
              <a:rPr lang="pt-BR" dirty="0" smtClean="0"/>
              <a:t>Nesses </a:t>
            </a:r>
            <a:r>
              <a:rPr lang="pt-BR" dirty="0"/>
              <a:t>casos deve ser indicada com RETURNS </a:t>
            </a:r>
            <a:r>
              <a:rPr lang="pt-BR" dirty="0" err="1"/>
              <a:t>void</a:t>
            </a:r>
            <a:r>
              <a:rPr lang="pt-BR" dirty="0" smtClean="0"/>
              <a:t>.</a:t>
            </a:r>
          </a:p>
          <a:p>
            <a:pPr algn="ctr"/>
            <a:r>
              <a:rPr lang="en-US" dirty="0"/>
              <a:t>CREATE OR REPLACE FUNCTION </a:t>
            </a:r>
            <a:r>
              <a:rPr lang="en-US" dirty="0" err="1"/>
              <a:t>clean_alunos</a:t>
            </a:r>
            <a:r>
              <a:rPr lang="en-US" dirty="0"/>
              <a:t>() RETURNS void AS '</a:t>
            </a:r>
          </a:p>
          <a:p>
            <a:pPr algn="ctr"/>
            <a:r>
              <a:rPr lang="pt-BR" dirty="0"/>
              <a:t>DELETE FROM alunos</a:t>
            </a:r>
          </a:p>
          <a:p>
            <a:pPr marL="0" indent="0" algn="ctr">
              <a:buNone/>
            </a:pPr>
            <a:r>
              <a:rPr lang="pt-BR" dirty="0"/>
              <a:t>WHERE </a:t>
            </a:r>
            <a:r>
              <a:rPr lang="pt-BR" dirty="0" err="1"/>
              <a:t>cod_matricula</a:t>
            </a:r>
            <a:r>
              <a:rPr lang="pt-BR" dirty="0"/>
              <a:t> </a:t>
            </a:r>
            <a:r>
              <a:rPr lang="pt-BR" dirty="0" smtClean="0"/>
              <a:t>&lt; 10;</a:t>
            </a:r>
            <a:endParaRPr lang="pt-BR" dirty="0"/>
          </a:p>
          <a:p>
            <a:pPr marL="0" indent="0" algn="ctr">
              <a:buNone/>
            </a:pPr>
            <a:r>
              <a:rPr lang="pt-BR" dirty="0" smtClean="0"/>
              <a:t>' </a:t>
            </a:r>
            <a:r>
              <a:rPr lang="pt-BR" dirty="0"/>
              <a:t>LANGUAGE SQL</a:t>
            </a:r>
            <a:r>
              <a:rPr lang="pt-BR" dirty="0" smtClean="0"/>
              <a:t>;</a:t>
            </a:r>
          </a:p>
          <a:p>
            <a:r>
              <a:rPr lang="pt-BR" dirty="0" err="1"/>
              <a:t>select</a:t>
            </a:r>
            <a:r>
              <a:rPr lang="pt-BR" dirty="0"/>
              <a:t> *</a:t>
            </a:r>
            <a:r>
              <a:rPr lang="pt-BR" dirty="0" err="1"/>
              <a:t>from</a:t>
            </a:r>
            <a:r>
              <a:rPr lang="pt-BR" dirty="0"/>
              <a:t> alunos</a:t>
            </a:r>
          </a:p>
          <a:p>
            <a:r>
              <a:rPr lang="pt-BR" dirty="0" err="1" smtClean="0"/>
              <a:t>select</a:t>
            </a:r>
            <a:r>
              <a:rPr lang="pt-BR" dirty="0" smtClean="0"/>
              <a:t> </a:t>
            </a:r>
            <a:r>
              <a:rPr lang="pt-BR" dirty="0" err="1"/>
              <a:t>clean_alunos</a:t>
            </a:r>
            <a:r>
              <a:rPr lang="pt-BR" dirty="0" smtClean="0"/>
              <a:t>()</a:t>
            </a:r>
          </a:p>
          <a:p>
            <a:r>
              <a:rPr lang="pt-BR" dirty="0" err="1"/>
              <a:t>select</a:t>
            </a:r>
            <a:r>
              <a:rPr lang="pt-BR" dirty="0"/>
              <a:t> *</a:t>
            </a:r>
            <a:r>
              <a:rPr lang="pt-BR" dirty="0" err="1"/>
              <a:t>from</a:t>
            </a:r>
            <a:r>
              <a:rPr lang="pt-BR" dirty="0"/>
              <a:t> alunos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3534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EXEMPLO SQL FUNTION </a:t>
            </a:r>
            <a:r>
              <a:rPr lang="pt-BR" dirty="0" smtClean="0"/>
              <a:t>2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/>
              <a:t>Uma função que seleciona alunos com base na matrícula e retorna uma linha da </a:t>
            </a:r>
            <a:r>
              <a:rPr lang="pt-BR" dirty="0" smtClean="0"/>
              <a:t>tabela Alunos</a:t>
            </a:r>
            <a:r>
              <a:rPr lang="pt-BR" dirty="0"/>
              <a:t>. </a:t>
            </a:r>
            <a:endParaRPr lang="pt-BR" dirty="0" smtClean="0"/>
          </a:p>
          <a:p>
            <a:pPr algn="ctr"/>
            <a:r>
              <a:rPr lang="en-US" dirty="0"/>
              <a:t>CREATE OR REPLACE FUNCTION </a:t>
            </a:r>
            <a:r>
              <a:rPr lang="en-US" dirty="0" err="1"/>
              <a:t>select_alunos</a:t>
            </a:r>
            <a:r>
              <a:rPr lang="en-US" dirty="0"/>
              <a:t>(</a:t>
            </a:r>
            <a:r>
              <a:rPr lang="en-US" dirty="0" err="1"/>
              <a:t>cod_matricula</a:t>
            </a:r>
            <a:r>
              <a:rPr lang="en-US" dirty="0"/>
              <a:t> integer) RETURNS </a:t>
            </a:r>
            <a:r>
              <a:rPr lang="en-US" dirty="0" err="1"/>
              <a:t>alunos</a:t>
            </a:r>
            <a:r>
              <a:rPr lang="en-US" dirty="0"/>
              <a:t> AS $$</a:t>
            </a:r>
          </a:p>
          <a:p>
            <a:pPr marL="0" indent="0" algn="ctr">
              <a:buNone/>
            </a:pPr>
            <a:r>
              <a:rPr lang="en-US" dirty="0"/>
              <a:t>select * from </a:t>
            </a:r>
            <a:r>
              <a:rPr lang="en-US" dirty="0" err="1"/>
              <a:t>alunos</a:t>
            </a:r>
            <a:r>
              <a:rPr lang="en-US" dirty="0"/>
              <a:t> where </a:t>
            </a:r>
            <a:r>
              <a:rPr lang="en-US" dirty="0" err="1"/>
              <a:t>cod_matricula</a:t>
            </a:r>
            <a:r>
              <a:rPr lang="en-US" dirty="0"/>
              <a:t> = $1</a:t>
            </a:r>
          </a:p>
          <a:p>
            <a:pPr marL="0" indent="0" algn="ctr">
              <a:buNone/>
            </a:pPr>
            <a:r>
              <a:rPr lang="en-US" dirty="0"/>
              <a:t>$$ LANGUAGE SQL</a:t>
            </a:r>
            <a:r>
              <a:rPr lang="en-US" dirty="0" smtClean="0"/>
              <a:t>;</a:t>
            </a:r>
          </a:p>
          <a:p>
            <a:r>
              <a:rPr lang="pt-BR" dirty="0" err="1" smtClean="0"/>
              <a:t>select</a:t>
            </a:r>
            <a:r>
              <a:rPr lang="pt-BR" dirty="0" smtClean="0"/>
              <a:t> </a:t>
            </a:r>
            <a:r>
              <a:rPr lang="pt-BR" dirty="0" err="1"/>
              <a:t>clean_alunos</a:t>
            </a:r>
            <a:r>
              <a:rPr lang="pt-BR" dirty="0" smtClean="0"/>
              <a:t>()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7386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EXEMPLO SQL FUNTION </a:t>
            </a:r>
            <a:r>
              <a:rPr lang="pt-BR" dirty="0" smtClean="0"/>
              <a:t>3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/>
              <a:t>Uma função que seleciona alunos com base na matrícula e retorna uma linha da </a:t>
            </a:r>
            <a:r>
              <a:rPr lang="pt-BR" dirty="0" smtClean="0"/>
              <a:t>tabela Alunos.</a:t>
            </a:r>
          </a:p>
          <a:p>
            <a:pPr algn="ctr"/>
            <a:r>
              <a:rPr lang="en-US" dirty="0"/>
              <a:t>CREATE OR REPLACE FUNCTION </a:t>
            </a:r>
            <a:r>
              <a:rPr lang="en-US" dirty="0" err="1"/>
              <a:t>nome_alunos</a:t>
            </a:r>
            <a:r>
              <a:rPr lang="en-US" dirty="0"/>
              <a:t>(</a:t>
            </a:r>
            <a:r>
              <a:rPr lang="en-US" dirty="0" err="1"/>
              <a:t>cod_matricula</a:t>
            </a:r>
            <a:r>
              <a:rPr lang="en-US" dirty="0"/>
              <a:t> integer) RETURNS text AS $$</a:t>
            </a:r>
          </a:p>
          <a:p>
            <a:pPr marL="0" indent="0" algn="ctr">
              <a:buNone/>
            </a:pPr>
            <a:r>
              <a:rPr lang="en-US" dirty="0"/>
              <a:t>select </a:t>
            </a:r>
            <a:r>
              <a:rPr lang="en-US" dirty="0" err="1"/>
              <a:t>nome</a:t>
            </a:r>
            <a:r>
              <a:rPr lang="en-US" dirty="0"/>
              <a:t> from </a:t>
            </a:r>
            <a:r>
              <a:rPr lang="en-US" dirty="0" err="1"/>
              <a:t>alunos</a:t>
            </a:r>
            <a:r>
              <a:rPr lang="en-US" dirty="0"/>
              <a:t> where </a:t>
            </a:r>
            <a:r>
              <a:rPr lang="en-US" dirty="0" err="1"/>
              <a:t>cod_matricula</a:t>
            </a:r>
            <a:r>
              <a:rPr lang="en-US" dirty="0"/>
              <a:t> = $1</a:t>
            </a:r>
          </a:p>
          <a:p>
            <a:pPr marL="0" indent="0" algn="ctr">
              <a:buNone/>
            </a:pPr>
            <a:r>
              <a:rPr lang="en-US" dirty="0"/>
              <a:t>$$ LANGUAGE SQL;</a:t>
            </a:r>
          </a:p>
          <a:p>
            <a:r>
              <a:rPr lang="en-US" dirty="0"/>
              <a:t>select </a:t>
            </a:r>
            <a:r>
              <a:rPr lang="en-US" dirty="0" err="1"/>
              <a:t>nome_alunos</a:t>
            </a:r>
            <a:r>
              <a:rPr lang="en-US" dirty="0"/>
              <a:t>(11)</a:t>
            </a:r>
            <a:endParaRPr lang="pt-BR" dirty="0" smtClean="0"/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4216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EXEMPLO SQL FUNTION </a:t>
            </a:r>
            <a:r>
              <a:rPr lang="pt-BR" dirty="0" smtClean="0"/>
              <a:t>4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 fontScale="85000" lnSpcReduction="20000"/>
          </a:bodyPr>
          <a:lstStyle/>
          <a:p>
            <a:r>
              <a:rPr lang="pt-BR" dirty="0"/>
              <a:t>Uma função que insere um novo aluno e retorna a matrícula gerada para o mesmo</a:t>
            </a:r>
            <a:r>
              <a:rPr lang="pt-BR" dirty="0" smtClean="0"/>
              <a:t>.</a:t>
            </a:r>
          </a:p>
          <a:p>
            <a:r>
              <a:rPr lang="en-US" dirty="0"/>
              <a:t>CREATE OR REPLACE FUNCTION </a:t>
            </a:r>
            <a:r>
              <a:rPr lang="en-US" dirty="0" err="1"/>
              <a:t>insert_alunos</a:t>
            </a:r>
            <a:r>
              <a:rPr lang="en-US" dirty="0"/>
              <a:t>(</a:t>
            </a:r>
            <a:r>
              <a:rPr lang="en-US" dirty="0" err="1"/>
              <a:t>idaluno</a:t>
            </a:r>
            <a:r>
              <a:rPr lang="en-US" dirty="0"/>
              <a:t> </a:t>
            </a:r>
            <a:r>
              <a:rPr lang="en-US" dirty="0" err="1"/>
              <a:t>int</a:t>
            </a:r>
            <a:r>
              <a:rPr lang="en-US" dirty="0"/>
              <a:t>, </a:t>
            </a:r>
            <a:r>
              <a:rPr lang="en-US" dirty="0" err="1"/>
              <a:t>nome</a:t>
            </a:r>
            <a:r>
              <a:rPr lang="en-US" dirty="0"/>
              <a:t> varchar(100), </a:t>
            </a:r>
            <a:r>
              <a:rPr lang="en-US" dirty="0" err="1"/>
              <a:t>cod_matricula</a:t>
            </a:r>
            <a:r>
              <a:rPr lang="en-US" dirty="0"/>
              <a:t> </a:t>
            </a:r>
            <a:r>
              <a:rPr lang="en-US" dirty="0" err="1"/>
              <a:t>int</a:t>
            </a:r>
            <a:r>
              <a:rPr lang="en-US" dirty="0"/>
              <a:t> ) RETURNS </a:t>
            </a:r>
            <a:r>
              <a:rPr lang="en-US" dirty="0" err="1"/>
              <a:t>int</a:t>
            </a:r>
            <a:r>
              <a:rPr lang="en-US" dirty="0"/>
              <a:t> AS $$</a:t>
            </a:r>
          </a:p>
          <a:p>
            <a:pPr marL="0" indent="0">
              <a:buNone/>
            </a:pPr>
            <a:r>
              <a:rPr lang="en-US" dirty="0"/>
              <a:t>with </a:t>
            </a:r>
            <a:r>
              <a:rPr lang="en-US" dirty="0" err="1">
                <a:solidFill>
                  <a:srgbClr val="FF0000"/>
                </a:solidFill>
              </a:rPr>
              <a:t>inserido</a:t>
            </a:r>
            <a:r>
              <a:rPr lang="en-US" dirty="0"/>
              <a:t> as(</a:t>
            </a:r>
          </a:p>
          <a:p>
            <a:pPr marL="0" indent="0">
              <a:buNone/>
            </a:pPr>
            <a:r>
              <a:rPr lang="en-US" dirty="0"/>
              <a:t>INSERT INTO ALUNOS(</a:t>
            </a:r>
            <a:r>
              <a:rPr lang="en-US" dirty="0" err="1"/>
              <a:t>idaluno</a:t>
            </a:r>
            <a:r>
              <a:rPr lang="en-US" dirty="0"/>
              <a:t>, </a:t>
            </a:r>
            <a:r>
              <a:rPr lang="en-US" dirty="0" err="1"/>
              <a:t>nome</a:t>
            </a:r>
            <a:r>
              <a:rPr lang="en-US" dirty="0"/>
              <a:t>, </a:t>
            </a:r>
            <a:r>
              <a:rPr lang="en-US" dirty="0" err="1"/>
              <a:t>cod_matricula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VALUES($1,$2,$3)</a:t>
            </a:r>
          </a:p>
          <a:p>
            <a:pPr marL="0" indent="0">
              <a:buNone/>
            </a:pPr>
            <a:r>
              <a:rPr lang="en-US" dirty="0"/>
              <a:t>RETURNING </a:t>
            </a:r>
            <a:r>
              <a:rPr lang="en-US" dirty="0" err="1">
                <a:solidFill>
                  <a:srgbClr val="FF0000"/>
                </a:solidFill>
              </a:rPr>
              <a:t>cod_matricula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select </a:t>
            </a:r>
            <a:r>
              <a:rPr lang="en-US" dirty="0" err="1"/>
              <a:t>cod_matricula</a:t>
            </a:r>
            <a:r>
              <a:rPr lang="en-US" dirty="0"/>
              <a:t> from </a:t>
            </a:r>
            <a:r>
              <a:rPr lang="en-US" dirty="0" err="1">
                <a:solidFill>
                  <a:srgbClr val="FF0000"/>
                </a:solidFill>
              </a:rPr>
              <a:t>inserido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$$ LANGUAGE SQL;</a:t>
            </a:r>
          </a:p>
          <a:p>
            <a:endParaRPr lang="en-US" dirty="0"/>
          </a:p>
          <a:p>
            <a:r>
              <a:rPr lang="en-US" dirty="0"/>
              <a:t>select </a:t>
            </a:r>
            <a:r>
              <a:rPr lang="en-US" dirty="0" err="1"/>
              <a:t>insert_alunos</a:t>
            </a:r>
            <a:r>
              <a:rPr lang="en-US" dirty="0"/>
              <a:t>(23</a:t>
            </a:r>
            <a:r>
              <a:rPr lang="en-US" dirty="0" smtClean="0"/>
              <a:t>,‘Alunoson Valdicson',</a:t>
            </a:r>
            <a:r>
              <a:rPr lang="en-US" dirty="0"/>
              <a:t>44)</a:t>
            </a:r>
            <a:endParaRPr lang="pt-BR" dirty="0" smtClean="0"/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/>
          <p:cNvSpPr txBox="1"/>
          <p:nvPr/>
        </p:nvSpPr>
        <p:spPr>
          <a:xfrm>
            <a:off x="7758259" y="4231046"/>
            <a:ext cx="34125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rgbClr val="FF0000"/>
                </a:solidFill>
              </a:rPr>
              <a:t>CTE: </a:t>
            </a:r>
            <a:r>
              <a:rPr lang="pt-BR" dirty="0" err="1" smtClean="0">
                <a:solidFill>
                  <a:srgbClr val="FF0000"/>
                </a:solidFill>
              </a:rPr>
              <a:t>Content</a:t>
            </a:r>
            <a:r>
              <a:rPr lang="pt-BR" dirty="0" smtClean="0">
                <a:solidFill>
                  <a:srgbClr val="FF0000"/>
                </a:solidFill>
              </a:rPr>
              <a:t> </a:t>
            </a:r>
            <a:r>
              <a:rPr lang="pt-BR" dirty="0" err="1" smtClean="0">
                <a:solidFill>
                  <a:srgbClr val="FF0000"/>
                </a:solidFill>
              </a:rPr>
              <a:t>Table</a:t>
            </a:r>
            <a:r>
              <a:rPr lang="pt-BR" dirty="0" smtClean="0">
                <a:solidFill>
                  <a:srgbClr val="FF0000"/>
                </a:solidFill>
              </a:rPr>
              <a:t> </a:t>
            </a:r>
            <a:r>
              <a:rPr lang="pt-BR" dirty="0" err="1" smtClean="0">
                <a:solidFill>
                  <a:srgbClr val="FF0000"/>
                </a:solidFill>
              </a:rPr>
              <a:t>Expressions</a:t>
            </a:r>
            <a:r>
              <a:rPr lang="pt-BR" dirty="0" smtClean="0">
                <a:solidFill>
                  <a:srgbClr val="FF0000"/>
                </a:solidFill>
              </a:rPr>
              <a:t>.</a:t>
            </a:r>
          </a:p>
          <a:p>
            <a:r>
              <a:rPr lang="pt-BR" dirty="0" smtClean="0">
                <a:solidFill>
                  <a:srgbClr val="FF0000"/>
                </a:solidFill>
              </a:rPr>
              <a:t>Tabela temporária para executar</a:t>
            </a:r>
            <a:endParaRPr lang="pt-B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4461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 smtClean="0"/>
              <a:t>EXERCÍCIO 1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 smtClean="0"/>
              <a:t>1 - Construa uma </a:t>
            </a:r>
            <a:r>
              <a:rPr lang="pt-BR" dirty="0" err="1" smtClean="0"/>
              <a:t>function</a:t>
            </a:r>
            <a:r>
              <a:rPr lang="pt-BR" dirty="0" smtClean="0"/>
              <a:t> que insira um novo professor. Primeiro deverá criar a tabela professor com os seguintes campos: </a:t>
            </a:r>
            <a:r>
              <a:rPr lang="pt-BR" dirty="0" err="1" smtClean="0"/>
              <a:t>idprofessor</a:t>
            </a:r>
            <a:r>
              <a:rPr lang="pt-BR" dirty="0" smtClean="0"/>
              <a:t>, nome, </a:t>
            </a:r>
            <a:r>
              <a:rPr lang="pt-BR" dirty="0" err="1" smtClean="0"/>
              <a:t>cod_professor</a:t>
            </a:r>
            <a:r>
              <a:rPr lang="pt-BR" dirty="0" smtClean="0"/>
              <a:t>, </a:t>
            </a:r>
            <a:r>
              <a:rPr lang="pt-BR" dirty="0" err="1" smtClean="0"/>
              <a:t>email</a:t>
            </a:r>
            <a:r>
              <a:rPr lang="pt-BR" dirty="0" smtClean="0"/>
              <a:t>, telefone.</a:t>
            </a:r>
          </a:p>
          <a:p>
            <a:r>
              <a:rPr lang="pt-BR" dirty="0" smtClean="0"/>
              <a:t>2 – Crie uma </a:t>
            </a:r>
            <a:r>
              <a:rPr lang="pt-BR" dirty="0" err="1" smtClean="0"/>
              <a:t>function</a:t>
            </a:r>
            <a:r>
              <a:rPr lang="pt-BR" dirty="0" smtClean="0"/>
              <a:t> para consultar os professores.</a:t>
            </a:r>
          </a:p>
          <a:p>
            <a:r>
              <a:rPr lang="pt-BR" dirty="0" smtClean="0"/>
              <a:t>3 – Crie uma </a:t>
            </a:r>
            <a:r>
              <a:rPr lang="pt-BR" dirty="0" err="1" smtClean="0"/>
              <a:t>function</a:t>
            </a:r>
            <a:r>
              <a:rPr lang="pt-BR" dirty="0" smtClean="0"/>
              <a:t> para deletar os professor </a:t>
            </a:r>
            <a:r>
              <a:rPr lang="pt-BR" dirty="0"/>
              <a:t>pelo </a:t>
            </a:r>
            <a:r>
              <a:rPr lang="pt-BR" dirty="0" err="1" smtClean="0"/>
              <a:t>cod_professor</a:t>
            </a:r>
            <a:r>
              <a:rPr lang="pt-BR" dirty="0" smtClean="0"/>
              <a:t>.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7569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 smtClean="0"/>
              <a:t>EXERCÍCIO 2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357460"/>
            <a:ext cx="10515600" cy="5279009"/>
          </a:xfrm>
        </p:spPr>
        <p:txBody>
          <a:bodyPr>
            <a:normAutofit fontScale="92500"/>
          </a:bodyPr>
          <a:lstStyle/>
          <a:p>
            <a:r>
              <a:rPr lang="pt-BR" dirty="0" smtClean="0"/>
              <a:t>1 - </a:t>
            </a:r>
            <a:r>
              <a:rPr lang="pt-BR" dirty="0"/>
              <a:t>Crie uma função chamada </a:t>
            </a:r>
            <a:r>
              <a:rPr lang="pt-BR" dirty="0" err="1"/>
              <a:t>insert_product</a:t>
            </a:r>
            <a:r>
              <a:rPr lang="pt-BR" dirty="0"/>
              <a:t> que insere um novo produto na tabela </a:t>
            </a:r>
            <a:r>
              <a:rPr lang="pt-BR" dirty="0" err="1"/>
              <a:t>products</a:t>
            </a:r>
            <a:r>
              <a:rPr lang="pt-BR" dirty="0"/>
              <a:t> com os campos </a:t>
            </a:r>
            <a:r>
              <a:rPr lang="pt-BR" dirty="0" err="1"/>
              <a:t>product_name</a:t>
            </a:r>
            <a:r>
              <a:rPr lang="pt-BR" dirty="0"/>
              <a:t> (TEXT) e </a:t>
            </a:r>
            <a:r>
              <a:rPr lang="pt-BR" dirty="0" err="1"/>
              <a:t>price</a:t>
            </a:r>
            <a:r>
              <a:rPr lang="pt-BR" dirty="0"/>
              <a:t> (NUMERIC</a:t>
            </a:r>
            <a:r>
              <a:rPr lang="pt-BR" dirty="0" smtClean="0"/>
              <a:t>).</a:t>
            </a:r>
          </a:p>
          <a:p>
            <a:r>
              <a:rPr lang="pt-BR" dirty="0"/>
              <a:t>2 - Crie uma função chamada </a:t>
            </a:r>
            <a:r>
              <a:rPr lang="pt-BR" dirty="0" err="1"/>
              <a:t>update_customer_email</a:t>
            </a:r>
            <a:r>
              <a:rPr lang="pt-BR" dirty="0"/>
              <a:t> que atualiza o </a:t>
            </a:r>
            <a:r>
              <a:rPr lang="pt-BR" dirty="0" err="1"/>
              <a:t>email</a:t>
            </a:r>
            <a:r>
              <a:rPr lang="pt-BR" dirty="0"/>
              <a:t> de um cliente na tabela </a:t>
            </a:r>
            <a:r>
              <a:rPr lang="pt-BR" dirty="0" err="1"/>
              <a:t>customers</a:t>
            </a:r>
            <a:r>
              <a:rPr lang="pt-BR" dirty="0"/>
              <a:t> com base no </a:t>
            </a:r>
            <a:r>
              <a:rPr lang="pt-BR" dirty="0" err="1"/>
              <a:t>customer_id</a:t>
            </a:r>
            <a:r>
              <a:rPr lang="pt-BR" dirty="0"/>
              <a:t> (INTEGER) e no novo </a:t>
            </a:r>
            <a:r>
              <a:rPr lang="pt-BR" dirty="0" err="1"/>
              <a:t>email</a:t>
            </a:r>
            <a:r>
              <a:rPr lang="pt-BR" dirty="0"/>
              <a:t> (TEXT</a:t>
            </a:r>
            <a:r>
              <a:rPr lang="pt-BR" dirty="0" smtClean="0"/>
              <a:t>).</a:t>
            </a:r>
          </a:p>
          <a:p>
            <a:r>
              <a:rPr lang="pt-BR" dirty="0"/>
              <a:t>3 - Crie uma função chamada </a:t>
            </a:r>
            <a:r>
              <a:rPr lang="pt-BR" dirty="0" err="1"/>
              <a:t>delete_order</a:t>
            </a:r>
            <a:r>
              <a:rPr lang="pt-BR" dirty="0"/>
              <a:t> que deleta um pedido na tabela </a:t>
            </a:r>
            <a:r>
              <a:rPr lang="pt-BR" dirty="0" err="1"/>
              <a:t>orders</a:t>
            </a:r>
            <a:r>
              <a:rPr lang="pt-BR" dirty="0"/>
              <a:t> com base no </a:t>
            </a:r>
            <a:r>
              <a:rPr lang="pt-BR" dirty="0" err="1"/>
              <a:t>order_id</a:t>
            </a:r>
            <a:r>
              <a:rPr lang="pt-BR" dirty="0"/>
              <a:t> (INTEGER</a:t>
            </a:r>
            <a:r>
              <a:rPr lang="pt-BR" dirty="0" smtClean="0"/>
              <a:t>).</a:t>
            </a:r>
          </a:p>
          <a:p>
            <a:r>
              <a:rPr lang="pt-BR" dirty="0"/>
              <a:t>4 - Crie uma função chamada </a:t>
            </a:r>
            <a:r>
              <a:rPr lang="pt-BR" dirty="0" err="1"/>
              <a:t>insert_course</a:t>
            </a:r>
            <a:r>
              <a:rPr lang="pt-BR" dirty="0"/>
              <a:t> que insere um novo curso na tabela </a:t>
            </a:r>
            <a:r>
              <a:rPr lang="pt-BR" dirty="0" err="1"/>
              <a:t>courses</a:t>
            </a:r>
            <a:r>
              <a:rPr lang="pt-BR" dirty="0"/>
              <a:t> com os campos </a:t>
            </a:r>
            <a:r>
              <a:rPr lang="pt-BR" dirty="0" err="1"/>
              <a:t>course_name</a:t>
            </a:r>
            <a:r>
              <a:rPr lang="pt-BR" dirty="0"/>
              <a:t> (TEXT) e </a:t>
            </a:r>
            <a:r>
              <a:rPr lang="pt-BR" dirty="0" err="1"/>
              <a:t>duration</a:t>
            </a:r>
            <a:r>
              <a:rPr lang="pt-BR" dirty="0"/>
              <a:t> (INTEGER</a:t>
            </a:r>
            <a:r>
              <a:rPr lang="pt-BR" dirty="0" smtClean="0"/>
              <a:t>).</a:t>
            </a:r>
          </a:p>
          <a:p>
            <a:r>
              <a:rPr lang="pt-BR" dirty="0"/>
              <a:t>5 - Crie uma função chamada </a:t>
            </a:r>
            <a:r>
              <a:rPr lang="pt-BR" dirty="0" err="1"/>
              <a:t>update_employee_department</a:t>
            </a:r>
            <a:r>
              <a:rPr lang="pt-BR" dirty="0"/>
              <a:t> que atualiza o departamento de um funcionário na tabela </a:t>
            </a:r>
            <a:r>
              <a:rPr lang="pt-BR" dirty="0" err="1"/>
              <a:t>employees</a:t>
            </a:r>
            <a:r>
              <a:rPr lang="pt-BR" dirty="0"/>
              <a:t> com base no </a:t>
            </a:r>
            <a:r>
              <a:rPr lang="pt-BR" dirty="0" err="1"/>
              <a:t>employee_id</a:t>
            </a:r>
            <a:r>
              <a:rPr lang="pt-BR" dirty="0"/>
              <a:t> (INTEGER) e no novo </a:t>
            </a:r>
            <a:r>
              <a:rPr lang="pt-BR" dirty="0" err="1"/>
              <a:t>department</a:t>
            </a:r>
            <a:r>
              <a:rPr lang="pt-BR" dirty="0"/>
              <a:t> (TEXT).</a:t>
            </a:r>
          </a:p>
          <a:p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3505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REFERÊNCIAS</a:t>
            </a:r>
            <a:br>
              <a:rPr lang="pt-BR" dirty="0"/>
            </a:br>
            <a:r>
              <a:rPr lang="pt-BR" dirty="0"/>
              <a:t>BIBLIOGRÁFICAS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 err="1"/>
              <a:t>PostgreSQL</a:t>
            </a:r>
            <a:r>
              <a:rPr lang="pt-BR" dirty="0"/>
              <a:t> 9.0.22 </a:t>
            </a:r>
            <a:r>
              <a:rPr lang="pt-BR" dirty="0" err="1"/>
              <a:t>Documentation</a:t>
            </a:r>
            <a:r>
              <a:rPr lang="pt-BR" dirty="0"/>
              <a:t>. Disponível em</a:t>
            </a:r>
            <a:r>
              <a:rPr lang="pt-BR" dirty="0" smtClean="0"/>
              <a:t>: &lt;</a:t>
            </a:r>
            <a:r>
              <a:rPr lang="pt-BR" dirty="0"/>
              <a:t>https://www.postgresql.org/files/documentation/pdf/9</a:t>
            </a:r>
            <a:r>
              <a:rPr lang="pt-BR" dirty="0" smtClean="0"/>
              <a:t>. 0/postgresql-9.0-US.pdf</a:t>
            </a:r>
            <a:r>
              <a:rPr lang="pt-BR" dirty="0"/>
              <a:t>&gt;. Acesso em </a:t>
            </a:r>
            <a:r>
              <a:rPr lang="pt-BR" dirty="0" smtClean="0"/>
              <a:t>03 Jan. 2024.</a:t>
            </a:r>
          </a:p>
          <a:p>
            <a:r>
              <a:rPr lang="pt-BR" dirty="0"/>
              <a:t>T-SQL </a:t>
            </a:r>
            <a:r>
              <a:rPr lang="pt-BR" dirty="0" err="1"/>
              <a:t>Subqueries</a:t>
            </a:r>
            <a:r>
              <a:rPr lang="pt-BR" dirty="0"/>
              <a:t>: Onde e quando utilizar. DEVMEDIA. Disponível em</a:t>
            </a:r>
            <a:r>
              <a:rPr lang="pt-BR" dirty="0" smtClean="0"/>
              <a:t>: &lt;</a:t>
            </a:r>
            <a:r>
              <a:rPr lang="pt-BR" dirty="0"/>
              <a:t>http://www.devmedia.com.br/t-sql-subqueries-onde-e-quando-utilizar/32072</a:t>
            </a:r>
            <a:r>
              <a:rPr lang="pt-BR" dirty="0" smtClean="0"/>
              <a:t>&gt;. Acesso </a:t>
            </a:r>
            <a:r>
              <a:rPr lang="pt-BR" dirty="0"/>
              <a:t>em </a:t>
            </a:r>
            <a:r>
              <a:rPr lang="pt-BR" dirty="0" smtClean="0"/>
              <a:t>21 Fev. </a:t>
            </a:r>
            <a:r>
              <a:rPr lang="pt-BR" smtClean="0"/>
              <a:t>2024.</a:t>
            </a:r>
            <a:endParaRPr lang="pt-BR" dirty="0" smtClean="0"/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4446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2073</TotalTime>
  <Words>2005</Words>
  <Application>Microsoft Office PowerPoint</Application>
  <PresentationFormat>Widescreen</PresentationFormat>
  <Paragraphs>200</Paragraphs>
  <Slides>29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29</vt:i4>
      </vt:variant>
    </vt:vector>
  </HeadingPairs>
  <TitlesOfParts>
    <vt:vector size="33" baseType="lpstr">
      <vt:lpstr>Arial</vt:lpstr>
      <vt:lpstr>Calibri</vt:lpstr>
      <vt:lpstr>Calibri Light</vt:lpstr>
      <vt:lpstr>Tema do Office</vt:lpstr>
      <vt:lpstr>Apresentação do PowerPoint</vt:lpstr>
      <vt:lpstr>FUNÇÕES PL/SQL</vt:lpstr>
      <vt:lpstr>FUNÇÕES POSTGRESQL</vt:lpstr>
      <vt:lpstr>FUNÇÕES POSTGRESQL</vt:lpstr>
      <vt:lpstr>FUNÇÕES POSTGRESQL</vt:lpstr>
      <vt:lpstr>FUNÇÕES POSTGRESQL</vt:lpstr>
      <vt:lpstr>FUNÇÕES POSTGRESQL</vt:lpstr>
      <vt:lpstr>FUNÇÕES POSTGRESQL - CAST</vt:lpstr>
      <vt:lpstr>FUNÇÕES POSTGRESQL - CONVERT</vt:lpstr>
      <vt:lpstr>Comparação entre CAST e ::</vt:lpstr>
      <vt:lpstr>USER DEFINED FUNCTION</vt:lpstr>
      <vt:lpstr>CREATE FUNCTION CREATE OR REPLACE FUNCTION</vt:lpstr>
      <vt:lpstr>NOME (ARGUMENTO)</vt:lpstr>
      <vt:lpstr>RETURNS</vt:lpstr>
      <vt:lpstr>RETURNS</vt:lpstr>
      <vt:lpstr>ARGUMENTOS NULL</vt:lpstr>
      <vt:lpstr>ARGUMENTOS NULL</vt:lpstr>
      <vt:lpstr>FUNÇÕES SQL X FUNÇÕES PLPGSQL</vt:lpstr>
      <vt:lpstr>EXEMPLO 1</vt:lpstr>
      <vt:lpstr>EXEMPLO 2</vt:lpstr>
      <vt:lpstr>FUNÇÕES SQL</vt:lpstr>
      <vt:lpstr>EXEMPLO SQL FUNTION 1</vt:lpstr>
      <vt:lpstr>EXEMPLO SQL FUNTION 1</vt:lpstr>
      <vt:lpstr>EXEMPLO SQL FUNTION 2</vt:lpstr>
      <vt:lpstr>EXEMPLO SQL FUNTION 3</vt:lpstr>
      <vt:lpstr>EXEMPLO SQL FUNTION 4</vt:lpstr>
      <vt:lpstr>EXERCÍCIO 1</vt:lpstr>
      <vt:lpstr>EXERCÍCIO 2</vt:lpstr>
      <vt:lpstr>REFERÊNCIAS BIBLIOGRÁFICAS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Circuitos lógicos combinacionais e sequenciais</dc:title>
  <dc:creator>Matheus</dc:creator>
  <cp:lastModifiedBy>Matheus</cp:lastModifiedBy>
  <cp:revision>81</cp:revision>
  <dcterms:created xsi:type="dcterms:W3CDTF">2023-01-24T23:29:32Z</dcterms:created>
  <dcterms:modified xsi:type="dcterms:W3CDTF">2024-08-05T23:35:36Z</dcterms:modified>
</cp:coreProperties>
</file>