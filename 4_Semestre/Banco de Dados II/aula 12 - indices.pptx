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  <p:sldId id="279" r:id="rId21"/>
    <p:sldId id="280" r:id="rId22"/>
    <p:sldId id="281" r:id="rId23"/>
    <p:sldId id="282" r:id="rId24"/>
    <p:sldId id="283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us raffael simon" userId="b81fe4e685964744" providerId="LiveId" clId="{054CC620-72B5-4189-8CBF-3054B96CE603}"/>
    <pc:docChg chg="undo custSel addSld delSld modSld sldOrd">
      <pc:chgData name="matheus raffael simon" userId="b81fe4e685964744" providerId="LiveId" clId="{054CC620-72B5-4189-8CBF-3054B96CE603}" dt="2024-10-21T19:23:38.812" v="952" actId="20577"/>
      <pc:docMkLst>
        <pc:docMk/>
      </pc:docMkLst>
      <pc:sldChg chg="modSp mod">
        <pc:chgData name="matheus raffael simon" userId="b81fe4e685964744" providerId="LiveId" clId="{054CC620-72B5-4189-8CBF-3054B96CE603}" dt="2024-10-21T18:37:58.047" v="16" actId="20577"/>
        <pc:sldMkLst>
          <pc:docMk/>
          <pc:sldMk cId="2123028049" sldId="258"/>
        </pc:sldMkLst>
      </pc:sldChg>
      <pc:sldChg chg="modSp mod">
        <pc:chgData name="matheus raffael simon" userId="b81fe4e685964744" providerId="LiveId" clId="{054CC620-72B5-4189-8CBF-3054B96CE603}" dt="2024-10-21T18:38:23.205" v="23" actId="14100"/>
        <pc:sldMkLst>
          <pc:docMk/>
          <pc:sldMk cId="1944787843" sldId="260"/>
        </pc:sldMkLst>
      </pc:sldChg>
      <pc:sldChg chg="modSp add mod">
        <pc:chgData name="matheus raffael simon" userId="b81fe4e685964744" providerId="LiveId" clId="{054CC620-72B5-4189-8CBF-3054B96CE603}" dt="2024-10-21T18:39:03.614" v="43" actId="20577"/>
        <pc:sldMkLst>
          <pc:docMk/>
          <pc:sldMk cId="671421121" sldId="261"/>
        </pc:sldMkLst>
      </pc:sldChg>
      <pc:sldChg chg="modSp add mod">
        <pc:chgData name="matheus raffael simon" userId="b81fe4e685964744" providerId="LiveId" clId="{054CC620-72B5-4189-8CBF-3054B96CE603}" dt="2024-10-21T18:41:07.718" v="62" actId="6549"/>
        <pc:sldMkLst>
          <pc:docMk/>
          <pc:sldMk cId="3260558949" sldId="262"/>
        </pc:sldMkLst>
      </pc:sldChg>
      <pc:sldChg chg="modSp add mod">
        <pc:chgData name="matheus raffael simon" userId="b81fe4e685964744" providerId="LiveId" clId="{054CC620-72B5-4189-8CBF-3054B96CE603}" dt="2024-10-21T18:41:51.757" v="79" actId="6549"/>
        <pc:sldMkLst>
          <pc:docMk/>
          <pc:sldMk cId="1269272006" sldId="263"/>
        </pc:sldMkLst>
      </pc:sldChg>
      <pc:sldChg chg="modSp add mod">
        <pc:chgData name="matheus raffael simon" userId="b81fe4e685964744" providerId="LiveId" clId="{054CC620-72B5-4189-8CBF-3054B96CE603}" dt="2024-10-21T18:48:18.962" v="100" actId="15"/>
        <pc:sldMkLst>
          <pc:docMk/>
          <pc:sldMk cId="1032578" sldId="264"/>
        </pc:sldMkLst>
      </pc:sldChg>
      <pc:sldChg chg="addSp delSp modSp add mod">
        <pc:chgData name="matheus raffael simon" userId="b81fe4e685964744" providerId="LiveId" clId="{054CC620-72B5-4189-8CBF-3054B96CE603}" dt="2024-10-21T18:49:50.424" v="110" actId="27636"/>
        <pc:sldMkLst>
          <pc:docMk/>
          <pc:sldMk cId="3922602328" sldId="265"/>
        </pc:sldMkLst>
      </pc:sldChg>
      <pc:sldChg chg="addSp delSp modSp add mod">
        <pc:chgData name="matheus raffael simon" userId="b81fe4e685964744" providerId="LiveId" clId="{054CC620-72B5-4189-8CBF-3054B96CE603}" dt="2024-10-21T18:50:21.682" v="118" actId="1076"/>
        <pc:sldMkLst>
          <pc:docMk/>
          <pc:sldMk cId="2903917950" sldId="266"/>
        </pc:sldMkLst>
      </pc:sldChg>
      <pc:sldChg chg="addSp delSp modSp add mod">
        <pc:chgData name="matheus raffael simon" userId="b81fe4e685964744" providerId="LiveId" clId="{054CC620-72B5-4189-8CBF-3054B96CE603}" dt="2024-10-21T18:51:09.010" v="125" actId="1076"/>
        <pc:sldMkLst>
          <pc:docMk/>
          <pc:sldMk cId="3594927783" sldId="267"/>
        </pc:sldMkLst>
      </pc:sldChg>
      <pc:sldChg chg="addSp delSp modSp add mod">
        <pc:chgData name="matheus raffael simon" userId="b81fe4e685964744" providerId="LiveId" clId="{054CC620-72B5-4189-8CBF-3054B96CE603}" dt="2024-10-21T18:51:48.080" v="132" actId="14100"/>
        <pc:sldMkLst>
          <pc:docMk/>
          <pc:sldMk cId="2594490288" sldId="268"/>
        </pc:sldMkLst>
      </pc:sldChg>
      <pc:sldChg chg="modSp add mod ord">
        <pc:chgData name="matheus raffael simon" userId="b81fe4e685964744" providerId="LiveId" clId="{054CC620-72B5-4189-8CBF-3054B96CE603}" dt="2024-10-21T18:53:01.127" v="154" actId="15"/>
        <pc:sldMkLst>
          <pc:docMk/>
          <pc:sldMk cId="259094574" sldId="269"/>
        </pc:sldMkLst>
      </pc:sldChg>
      <pc:sldChg chg="modSp add mod">
        <pc:chgData name="matheus raffael simon" userId="b81fe4e685964744" providerId="LiveId" clId="{054CC620-72B5-4189-8CBF-3054B96CE603}" dt="2024-10-21T18:54:11.097" v="170" actId="6549"/>
        <pc:sldMkLst>
          <pc:docMk/>
          <pc:sldMk cId="4227009313" sldId="270"/>
        </pc:sldMkLst>
      </pc:sldChg>
      <pc:sldChg chg="modSp add mod">
        <pc:chgData name="matheus raffael simon" userId="b81fe4e685964744" providerId="LiveId" clId="{054CC620-72B5-4189-8CBF-3054B96CE603}" dt="2024-10-21T18:55:43.311" v="192" actId="20577"/>
        <pc:sldMkLst>
          <pc:docMk/>
          <pc:sldMk cId="1102459986" sldId="271"/>
        </pc:sldMkLst>
      </pc:sldChg>
      <pc:sldChg chg="modSp add mod">
        <pc:chgData name="matheus raffael simon" userId="b81fe4e685964744" providerId="LiveId" clId="{054CC620-72B5-4189-8CBF-3054B96CE603}" dt="2024-10-21T18:56:52.724" v="206" actId="20577"/>
        <pc:sldMkLst>
          <pc:docMk/>
          <pc:sldMk cId="3179301730" sldId="272"/>
        </pc:sldMkLst>
      </pc:sldChg>
      <pc:sldChg chg="modSp add mod">
        <pc:chgData name="matheus raffael simon" userId="b81fe4e685964744" providerId="LiveId" clId="{054CC620-72B5-4189-8CBF-3054B96CE603}" dt="2024-10-21T18:57:49.174" v="230" actId="6549"/>
        <pc:sldMkLst>
          <pc:docMk/>
          <pc:sldMk cId="412556717" sldId="273"/>
        </pc:sldMkLst>
      </pc:sldChg>
      <pc:sldChg chg="modSp add mod">
        <pc:chgData name="matheus raffael simon" userId="b81fe4e685964744" providerId="LiveId" clId="{054CC620-72B5-4189-8CBF-3054B96CE603}" dt="2024-10-21T18:59:19.669" v="255" actId="6549"/>
        <pc:sldMkLst>
          <pc:docMk/>
          <pc:sldMk cId="414202800" sldId="274"/>
        </pc:sldMkLst>
      </pc:sldChg>
      <pc:sldChg chg="modSp add mod">
        <pc:chgData name="matheus raffael simon" userId="b81fe4e685964744" providerId="LiveId" clId="{054CC620-72B5-4189-8CBF-3054B96CE603}" dt="2024-10-21T19:00:15.577" v="277" actId="20577"/>
        <pc:sldMkLst>
          <pc:docMk/>
          <pc:sldMk cId="3810638670" sldId="275"/>
        </pc:sldMkLst>
      </pc:sldChg>
      <pc:sldChg chg="modSp add mod">
        <pc:chgData name="matheus raffael simon" userId="b81fe4e685964744" providerId="LiveId" clId="{054CC620-72B5-4189-8CBF-3054B96CE603}" dt="2024-10-21T19:01:35.224" v="307" actId="20577"/>
        <pc:sldMkLst>
          <pc:docMk/>
          <pc:sldMk cId="723809268" sldId="276"/>
        </pc:sldMkLst>
      </pc:sldChg>
      <pc:sldChg chg="add">
        <pc:chgData name="matheus raffael simon" userId="b81fe4e685964744" providerId="LiveId" clId="{054CC620-72B5-4189-8CBF-3054B96CE603}" dt="2024-10-21T19:02:42.479" v="308"/>
        <pc:sldMkLst>
          <pc:docMk/>
          <pc:sldMk cId="103232916" sldId="277"/>
        </pc:sldMkLst>
      </pc:sldChg>
      <pc:sldChg chg="addSp modSp add mod">
        <pc:chgData name="matheus raffael simon" userId="b81fe4e685964744" providerId="LiveId" clId="{054CC620-72B5-4189-8CBF-3054B96CE603}" dt="2024-10-21T19:13:54.023" v="532" actId="14100"/>
        <pc:sldMkLst>
          <pc:docMk/>
          <pc:sldMk cId="2391816717" sldId="278"/>
        </pc:sldMkLst>
      </pc:sldChg>
      <pc:sldChg chg="delSp modSp add mod">
        <pc:chgData name="matheus raffael simon" userId="b81fe4e685964744" providerId="LiveId" clId="{054CC620-72B5-4189-8CBF-3054B96CE603}" dt="2024-10-21T19:14:18.933" v="579" actId="20577"/>
        <pc:sldMkLst>
          <pc:docMk/>
          <pc:sldMk cId="502962637" sldId="279"/>
        </pc:sldMkLst>
      </pc:sldChg>
      <pc:sldChg chg="addSp modSp add mod">
        <pc:chgData name="matheus raffael simon" userId="b81fe4e685964744" providerId="LiveId" clId="{054CC620-72B5-4189-8CBF-3054B96CE603}" dt="2024-10-21T19:14:56.062" v="584" actId="1076"/>
        <pc:sldMkLst>
          <pc:docMk/>
          <pc:sldMk cId="1240378194" sldId="280"/>
        </pc:sldMkLst>
      </pc:sldChg>
      <pc:sldChg chg="addSp modSp add mod ord">
        <pc:chgData name="matheus raffael simon" userId="b81fe4e685964744" providerId="LiveId" clId="{054CC620-72B5-4189-8CBF-3054B96CE603}" dt="2024-10-21T19:19:11.652" v="626" actId="14100"/>
        <pc:sldMkLst>
          <pc:docMk/>
          <pc:sldMk cId="791910413" sldId="281"/>
        </pc:sldMkLst>
      </pc:sldChg>
      <pc:sldChg chg="add del">
        <pc:chgData name="matheus raffael simon" userId="b81fe4e685964744" providerId="LiveId" clId="{054CC620-72B5-4189-8CBF-3054B96CE603}" dt="2024-10-21T19:15:10.794" v="589"/>
        <pc:sldMkLst>
          <pc:docMk/>
          <pc:sldMk cId="579162650" sldId="282"/>
        </pc:sldMkLst>
      </pc:sldChg>
      <pc:sldChg chg="delSp modSp add mod ord">
        <pc:chgData name="matheus raffael simon" userId="b81fe4e685964744" providerId="LiveId" clId="{054CC620-72B5-4189-8CBF-3054B96CE603}" dt="2024-10-21T19:21:06.252" v="723" actId="20577"/>
        <pc:sldMkLst>
          <pc:docMk/>
          <pc:sldMk cId="1054239276" sldId="282"/>
        </pc:sldMkLst>
      </pc:sldChg>
      <pc:sldChg chg="modSp add mod">
        <pc:chgData name="matheus raffael simon" userId="b81fe4e685964744" providerId="LiveId" clId="{054CC620-72B5-4189-8CBF-3054B96CE603}" dt="2024-10-21T19:23:38.812" v="952" actId="20577"/>
        <pc:sldMkLst>
          <pc:docMk/>
          <pc:sldMk cId="1990291600" sldId="283"/>
        </pc:sldMkLst>
      </pc:sldChg>
    </pc:docChg>
  </pc:docChgLst>
  <pc:docChgLst>
    <pc:chgData name="matheus raffael simon" userId="b81fe4e685964744" providerId="LiveId" clId="{53501339-AF43-4929-8AB2-7FCBEF269EC3}"/>
    <pc:docChg chg="delSld">
      <pc:chgData name="matheus raffael simon" userId="b81fe4e685964744" providerId="LiveId" clId="{53501339-AF43-4929-8AB2-7FCBEF269EC3}" dt="2025-03-19T15:56:40.235" v="0" actId="2696"/>
      <pc:docMkLst>
        <pc:docMk/>
      </pc:docMkLst>
      <pc:sldChg chg="del">
        <pc:chgData name="matheus raffael simon" userId="b81fe4e685964744" providerId="LiveId" clId="{53501339-AF43-4929-8AB2-7FCBEF269EC3}" dt="2025-03-19T15:56:40.235" v="0" actId="2696"/>
        <pc:sldMkLst>
          <pc:docMk/>
          <pc:sldMk cId="103232916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46171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248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413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88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841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575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001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890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9697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4077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9558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AD9F01-DE70-421D-913C-5540CBA8C3E6}" type="datetimeFigureOut">
              <a:rPr lang="pt-BR" smtClean="0"/>
              <a:t>19/03/2025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F3264-6037-4C1F-93DF-E4F182543E7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9139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029" y="297480"/>
            <a:ext cx="3093359" cy="1809615"/>
          </a:xfrm>
          <a:prstGeom prst="rect">
            <a:avLst/>
          </a:prstGeom>
        </p:spPr>
      </p:pic>
      <p:sp>
        <p:nvSpPr>
          <p:cNvPr id="13" name="Título 1"/>
          <p:cNvSpPr txBox="1">
            <a:spLocks/>
          </p:cNvSpPr>
          <p:nvPr/>
        </p:nvSpPr>
        <p:spPr>
          <a:xfrm>
            <a:off x="245097" y="3786809"/>
            <a:ext cx="11679810" cy="7286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2800" dirty="0"/>
              <a:t>Banco de Dados II</a:t>
            </a:r>
          </a:p>
        </p:txBody>
      </p:sp>
      <p:sp>
        <p:nvSpPr>
          <p:cNvPr id="14" name="Subtítulo 2"/>
          <p:cNvSpPr txBox="1">
            <a:spLocks/>
          </p:cNvSpPr>
          <p:nvPr/>
        </p:nvSpPr>
        <p:spPr>
          <a:xfrm>
            <a:off x="245097" y="5142306"/>
            <a:ext cx="11679809" cy="75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dirty="0"/>
              <a:t>Prof. Me. Matheus </a:t>
            </a:r>
            <a:r>
              <a:rPr lang="pt-BR" dirty="0" err="1"/>
              <a:t>Raffael</a:t>
            </a:r>
            <a:r>
              <a:rPr lang="pt-BR" dirty="0"/>
              <a:t> Simon</a:t>
            </a:r>
          </a:p>
        </p:txBody>
      </p:sp>
      <p:sp>
        <p:nvSpPr>
          <p:cNvPr id="15" name="Título 1"/>
          <p:cNvSpPr txBox="1">
            <a:spLocks/>
          </p:cNvSpPr>
          <p:nvPr/>
        </p:nvSpPr>
        <p:spPr>
          <a:xfrm>
            <a:off x="964096" y="2353636"/>
            <a:ext cx="10127973" cy="13209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900" dirty="0"/>
              <a:t>TECNOLOGIA EM ANÁLISE E DESENVOLVIMENTO DE SISTEMAS</a:t>
            </a:r>
          </a:p>
        </p:txBody>
      </p:sp>
    </p:spTree>
    <p:extLst>
      <p:ext uri="{BB962C8B-B14F-4D97-AF65-F5344CB8AC3E}">
        <p14:creationId xmlns:p14="http://schemas.microsoft.com/office/powerpoint/2010/main" val="2123028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/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310165"/>
          </a:xfrm>
        </p:spPr>
        <p:txBody>
          <a:bodyPr/>
          <a:lstStyle/>
          <a:p>
            <a:pPr algn="ctr"/>
            <a:r>
              <a:rPr lang="pt-BR" dirty="0"/>
              <a:t>Índices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3675291"/>
            <a:ext cx="10515600" cy="2501671"/>
          </a:xfrm>
        </p:spPr>
        <p:txBody>
          <a:bodyPr/>
          <a:lstStyle/>
          <a:p>
            <a:r>
              <a:rPr lang="pt-BR" dirty="0"/>
              <a:t>Acelerando o acesso aos dados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787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5FB9-427F-3724-4C59-CAABBDB00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22A5C90-BB6D-5A3E-422F-BAFDF2320975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8FA0DF2-E652-DF4F-80B0-04E2201AE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O que são índices?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9DF286-9D19-F1C7-DDCA-5B46F3B8D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Estruturas de armazenamento são compostas por arquivos.</a:t>
            </a:r>
          </a:p>
          <a:p>
            <a:r>
              <a:rPr lang="pt-BR" dirty="0"/>
              <a:t>Por exemplo, um arquivo de dados pode ser usado para manter uma relação do BD.</a:t>
            </a:r>
          </a:p>
          <a:p>
            <a:r>
              <a:rPr lang="pt-BR" dirty="0"/>
              <a:t>Um arquivo de dados pode ter um ou mais arquivos de índice associados a ele.</a:t>
            </a:r>
          </a:p>
          <a:p>
            <a:r>
              <a:rPr lang="pt-BR" dirty="0"/>
              <a:t>Cada arquivo de índice associa valores da chave de busca a ponteiros para registros nos arquivos de dados que contém esses valores para o(s) atributo(s) da chave de busca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AB6DADE5-B576-A156-D7E2-09719CBAF943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142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55391-737B-5926-6516-351FD713B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AF7E7C6F-5F24-9ADE-D5D0-AB4D6E16ED4C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3CAE6B0-B276-783B-D6AA-A45FA850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índices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710251-B4BB-FE4F-45F5-26400328E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 Índice = estrutura de dados usada para acelerar o acesso às tuplas de uma relação, dados valores para um ou mais atributos</a:t>
            </a:r>
          </a:p>
          <a:p>
            <a:r>
              <a:rPr lang="pt-BR" dirty="0"/>
              <a:t> Índices evitam “</a:t>
            </a:r>
            <a:r>
              <a:rPr lang="pt-BR" dirty="0" err="1"/>
              <a:t>table</a:t>
            </a:r>
            <a:r>
              <a:rPr lang="pt-BR" dirty="0"/>
              <a:t> </a:t>
            </a:r>
            <a:r>
              <a:rPr lang="pt-BR" dirty="0" err="1"/>
              <a:t>scans</a:t>
            </a:r>
            <a:r>
              <a:rPr lang="pt-BR" dirty="0"/>
              <a:t>”</a:t>
            </a:r>
          </a:p>
          <a:p>
            <a:r>
              <a:rPr lang="pt-BR" dirty="0"/>
              <a:t> Tuplas são localizadas imediatamente</a:t>
            </a:r>
          </a:p>
          <a:p>
            <a:r>
              <a:rPr lang="pt-BR" dirty="0"/>
              <a:t> Índices são mantidos pelos </a:t>
            </a:r>
            <a:r>
              <a:rPr lang="pt-BR" dirty="0" err="1"/>
              <a:t>SGBDs</a:t>
            </a:r>
            <a:r>
              <a:rPr lang="pt-BR" dirty="0"/>
              <a:t> e ficam armazenados nos seus respectivos bancos de dados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4683C42-F930-B609-29DA-4339F5B324C7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05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5106-DCBD-831B-631E-606795DC6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8492697A-8CAE-C3D3-ADE2-94A55D225DA2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51F154-A697-6729-1A3D-C05C268B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Tipos de Índices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276FF5-3CB5-F8EA-2B26-B9C2DE35C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Primários X Secundários</a:t>
            </a:r>
          </a:p>
          <a:p>
            <a:r>
              <a:rPr lang="pt-BR" dirty="0"/>
              <a:t> Índice primário: é especificado sobre o(s) atributo(s) da chave de ordenação do arquivo de dados</a:t>
            </a:r>
          </a:p>
          <a:p>
            <a:r>
              <a:rPr lang="pt-BR" dirty="0"/>
              <a:t> Índice secundário: não determina a localização dos registros.</a:t>
            </a:r>
          </a:p>
          <a:p>
            <a:r>
              <a:rPr lang="pt-BR" dirty="0"/>
              <a:t>Uma relação pode ter no máximo um índice primário (geralmente criado sobre a chave primária), mas pode ter vários índices secundários sobre outros atributos.</a:t>
            </a:r>
          </a:p>
          <a:p>
            <a:r>
              <a:rPr lang="pt-BR" dirty="0"/>
              <a:t>Importante não confundir:</a:t>
            </a:r>
          </a:p>
          <a:p>
            <a:pPr lvl="1"/>
            <a:r>
              <a:rPr lang="pt-BR" dirty="0"/>
              <a:t>chave primária</a:t>
            </a:r>
          </a:p>
          <a:p>
            <a:pPr lvl="1"/>
            <a:r>
              <a:rPr lang="pt-BR" dirty="0"/>
              <a:t>chave de busca</a:t>
            </a:r>
          </a:p>
          <a:p>
            <a:pPr lvl="1"/>
            <a:r>
              <a:rPr lang="pt-BR" dirty="0"/>
              <a:t>chave de ordenação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0C67FC2-D6F8-21DA-EED0-DF5BEB225E80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27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92E-EA31-3F56-4B78-B7DBD0AD4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53357D49-A0DA-9038-B394-0A4F074AE41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15D369-A8E8-ADC1-B26D-2D683278E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Tipos de Índices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68270F0-BB2B-21DB-89F1-ACE7EB4DB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Densos X Esparsos</a:t>
            </a:r>
          </a:p>
          <a:p>
            <a:r>
              <a:rPr lang="pt-BR" dirty="0"/>
              <a:t> Índice denso: possui uma entrada no arquivo para cada registro no arquivo de dados</a:t>
            </a:r>
          </a:p>
          <a:p>
            <a:r>
              <a:rPr lang="pt-BR" dirty="0"/>
              <a:t> Índice esparso: possui entradas somente para alguns dos registros no arquivo de dados (geralmente, uma entrada no índice para cada bloco do arquivo de dados)</a:t>
            </a:r>
          </a:p>
          <a:p>
            <a:pPr lvl="1"/>
            <a:r>
              <a:rPr lang="pt-BR" dirty="0"/>
              <a:t>Só pode ser usado se o arquivo de dados estiver ordenado pela chave de busca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2EAF69-1A0D-E2F2-00AF-5AC566055A51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2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D6334-884C-8D0F-A903-BDE379A8D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8723BC3A-F42B-2574-BCED-8AAD539FBF8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94CCB3-A0E9-087F-9958-37DFABDD1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45" y="365125"/>
            <a:ext cx="32904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Índice Primário Denso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3627FE2-7DF7-50B0-B542-684751150A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2774" y="486228"/>
            <a:ext cx="7380571" cy="5970270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B74AD70-4E65-C283-0E24-A40B0156B0F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2602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98DD4-17C5-A2E8-D433-663375EE3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37E8BA4-4C51-51B0-D80C-D2376382E3A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0614AF-C90D-F7E6-324D-081E46D5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45" y="365125"/>
            <a:ext cx="32904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Índice Primário Esparso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22641E4-C829-102C-D24E-17FAB59673E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08A4155-69A5-9D5D-32BA-79441D32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F68D714-C876-F8BB-E1F4-FBE9A943B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36" y="104934"/>
            <a:ext cx="6096153" cy="675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91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5E15-500A-CE82-BCEC-5E2E59D14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D602AA4-F13E-8056-13E7-42DFCEBF45BE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FF44181-6349-EA51-4D15-81A9E727C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45" y="365125"/>
            <a:ext cx="3290454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pt-BR" dirty="0"/>
              <a:t>Índice Esparso Multinível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C138D9B-C26E-7E08-2B43-8764F811644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BA48AB7E-58AE-74ED-AC99-1B39F52F1C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AC44E58-6B13-D62A-D705-BE4E3BFA0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86" y="205033"/>
            <a:ext cx="7492133" cy="64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27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A97EE-0A70-4655-EC58-565007766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A2A289D3-207C-7ED8-4B3F-A0FA92648AB0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9F6D4B-5C3A-4FFC-D3CC-61C0AB77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3345" y="365125"/>
            <a:ext cx="3290454" cy="1325563"/>
          </a:xfrm>
        </p:spPr>
        <p:txBody>
          <a:bodyPr>
            <a:normAutofit/>
          </a:bodyPr>
          <a:lstStyle/>
          <a:p>
            <a:pPr algn="ctr"/>
            <a:r>
              <a:rPr lang="pt-BR" dirty="0"/>
              <a:t>Índice Secundário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3033DDC-3826-9BE7-4C62-103726C3A899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C0B8BE5-5454-19E4-7083-B775C514C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E9B1885-F4AD-D265-31FC-299971982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02" y="145835"/>
            <a:ext cx="6634443" cy="644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490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FB091-263D-ADB3-76E2-0ADDC0E0C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DB8193CB-FECE-9214-8701-FC93896FD198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1BF187-59F4-0F57-553F-C92C7F409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Estruturas de Dados Usadas</a:t>
            </a:r>
            <a:br>
              <a:rPr lang="pt-BR" dirty="0"/>
            </a:br>
            <a:r>
              <a:rPr lang="pt-BR" dirty="0"/>
              <a:t>para Implementar Índices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BF078B-A2EF-A2AD-485A-E555DD186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Tabela </a:t>
            </a:r>
            <a:r>
              <a:rPr lang="pt-BR" dirty="0" err="1"/>
              <a:t>hash</a:t>
            </a:r>
            <a:endParaRPr lang="pt-BR" dirty="0"/>
          </a:p>
          <a:p>
            <a:pPr lvl="1"/>
            <a:r>
              <a:rPr lang="pt-BR" dirty="0"/>
              <a:t> Tempo de acesso: constante</a:t>
            </a:r>
          </a:p>
          <a:p>
            <a:pPr lvl="1"/>
            <a:r>
              <a:rPr lang="pt-BR" dirty="0"/>
              <a:t> Úteis para condições envolvendo comparações de igualdade</a:t>
            </a:r>
          </a:p>
          <a:p>
            <a:r>
              <a:rPr lang="pt-BR" dirty="0"/>
              <a:t> Árvore balanceada de busca, com nós “gigantes” (uma página inteira do disco)</a:t>
            </a:r>
          </a:p>
          <a:p>
            <a:pPr lvl="1"/>
            <a:r>
              <a:rPr lang="pt-BR" dirty="0"/>
              <a:t> árvore-B (B-</a:t>
            </a:r>
            <a:r>
              <a:rPr lang="pt-BR" dirty="0" err="1"/>
              <a:t>tree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 Tempo de acesso: logarítmico</a:t>
            </a:r>
          </a:p>
          <a:p>
            <a:pPr lvl="1"/>
            <a:r>
              <a:rPr lang="pt-BR" dirty="0"/>
              <a:t> Úteis para condições envolvendo comparações feitas com os operadores =, &gt;, &gt;=, &lt;, &lt;=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DD7547F-D18D-7554-17D9-CBD28E8C0588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094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A5610-F876-BE66-F367-BD0DBFDD2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19F1C794-3B34-AF3C-12A1-47F393255050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6C8489F-FA0E-09A8-3439-7F9ED7C2D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Declaração de Índices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A4EBC3-BDA6-DEC8-512F-3C145DB9F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Sintaxe típica na SQL</a:t>
            </a:r>
          </a:p>
          <a:p>
            <a:r>
              <a:rPr lang="pt-BR" dirty="0"/>
              <a:t>CREATE INDEX &lt;</a:t>
            </a:r>
            <a:r>
              <a:rPr lang="pt-BR" dirty="0" err="1"/>
              <a:t>nome_indice</a:t>
            </a:r>
            <a:r>
              <a:rPr lang="pt-BR" dirty="0"/>
              <a:t>&gt; ON &lt;</a:t>
            </a:r>
            <a:r>
              <a:rPr lang="pt-BR" dirty="0" err="1"/>
              <a:t>nome_tabela</a:t>
            </a:r>
            <a:r>
              <a:rPr lang="pt-BR" dirty="0"/>
              <a:t>&gt;(&lt;lista de atributos&gt;);</a:t>
            </a:r>
          </a:p>
          <a:p>
            <a:r>
              <a:rPr lang="pt-BR" dirty="0"/>
              <a:t> Exemplos:</a:t>
            </a:r>
          </a:p>
          <a:p>
            <a:r>
              <a:rPr lang="pt-BR" dirty="0"/>
              <a:t>CREATE INDEX </a:t>
            </a:r>
            <a:r>
              <a:rPr lang="pt-BR" dirty="0" err="1"/>
              <a:t>IdxFabRefri</a:t>
            </a:r>
            <a:r>
              <a:rPr lang="pt-BR" dirty="0"/>
              <a:t> ON Refrigerantes(fabricante);</a:t>
            </a:r>
          </a:p>
          <a:p>
            <a:r>
              <a:rPr lang="pt-BR" dirty="0"/>
              <a:t>CREATE UNIQUE INDEX </a:t>
            </a:r>
            <a:r>
              <a:rPr lang="pt-BR" dirty="0" err="1"/>
              <a:t>IdxRefri</a:t>
            </a:r>
            <a:r>
              <a:rPr lang="pt-BR" dirty="0"/>
              <a:t> ON Refrigerantes(nome);</a:t>
            </a:r>
          </a:p>
          <a:p>
            <a:r>
              <a:rPr lang="pt-BR" dirty="0"/>
              <a:t>CREATE INDEX </a:t>
            </a:r>
            <a:r>
              <a:rPr lang="pt-BR" dirty="0" err="1"/>
              <a:t>IdxVenda</a:t>
            </a:r>
            <a:r>
              <a:rPr lang="pt-BR" dirty="0"/>
              <a:t> ON Vendas(</a:t>
            </a:r>
            <a:r>
              <a:rPr lang="pt-BR" dirty="0" err="1"/>
              <a:t>nome_lanch,nome_refri</a:t>
            </a:r>
            <a:r>
              <a:rPr lang="pt-BR" dirty="0"/>
              <a:t>);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8C931C9-8AA2-8EB5-9EBC-C16E362A8A78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009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15244-7969-D6DC-513B-F12E914BB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D6FCDA81-11E4-93F0-602F-DD574C2A64F6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9940B5B-23D3-3046-D4E0-B595CC14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Criação de Índices no</a:t>
            </a:r>
            <a:br>
              <a:rPr lang="pt-BR" dirty="0"/>
            </a:br>
            <a:r>
              <a:rPr lang="pt-BR" dirty="0"/>
              <a:t>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E1C0D3-32FB-A825-34BA-296021D46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Estrutura geral (bem simplificada!):</a:t>
            </a:r>
          </a:p>
          <a:p>
            <a:r>
              <a:rPr lang="pt-BR" dirty="0"/>
              <a:t>CREATE [ UNIQUE ] INDEX [ CONCURRENTLY ] &lt;nome do índice&gt; ON &lt; nome da tabela &gt; [ USING &lt;método&gt; ] ( { coluna } [ ASC | DESC ] [, ...] );</a:t>
            </a:r>
          </a:p>
          <a:p>
            <a:r>
              <a:rPr lang="pt-BR" dirty="0"/>
              <a:t> UNIQUE cria uma restrição de unicidade sobre a(s) coluna(s) do índice.</a:t>
            </a:r>
          </a:p>
          <a:p>
            <a:r>
              <a:rPr lang="pt-BR" dirty="0"/>
              <a:t> CONCURRENTLY permite o PostgreSQL construir o índice sem bloquear a tabela para modificações concorrentes (</a:t>
            </a:r>
            <a:r>
              <a:rPr lang="pt-BR" dirty="0" err="1"/>
              <a:t>inserts</a:t>
            </a:r>
            <a:r>
              <a:rPr lang="pt-BR" dirty="0"/>
              <a:t>, updates ou deletes) → isso pode ser perigoso!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BF314E9-BB15-7ABF-A9E4-AC84E048F398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2459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ECF58-D542-4677-BB19-5CD358BAC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39D4AAA9-AB34-297C-FAD2-2BD152D2B7F3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F39B53E-0105-8477-B492-01AD7968B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Criação de Índices no</a:t>
            </a:r>
            <a:br>
              <a:rPr lang="pt-BR" dirty="0"/>
            </a:br>
            <a:r>
              <a:rPr lang="pt-BR" dirty="0"/>
              <a:t>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6E9B5A-49F1-11F3-F7FA-1EF46BF5A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índice também pode ser construído para valores computados a partir de uma expressão envolvendo um ou mais atributos de uma tabela. </a:t>
            </a:r>
            <a:r>
              <a:rPr lang="pt-BR" dirty="0" err="1"/>
              <a:t>Ex</a:t>
            </a:r>
            <a:r>
              <a:rPr lang="pt-BR" dirty="0"/>
              <a:t>: </a:t>
            </a:r>
          </a:p>
          <a:p>
            <a:r>
              <a:rPr lang="pt-BR" dirty="0"/>
              <a:t>CREATE INDEX </a:t>
            </a:r>
            <a:r>
              <a:rPr lang="pt-BR" dirty="0" err="1"/>
              <a:t>idx_maiuscula</a:t>
            </a:r>
            <a:r>
              <a:rPr lang="pt-BR" dirty="0"/>
              <a:t> ON Lanchonete(</a:t>
            </a:r>
            <a:r>
              <a:rPr lang="pt-BR" dirty="0" err="1"/>
              <a:t>upper</a:t>
            </a:r>
            <a:r>
              <a:rPr lang="pt-BR" dirty="0"/>
              <a:t>(nome)) ;</a:t>
            </a:r>
          </a:p>
          <a:p>
            <a:r>
              <a:rPr lang="pt-BR" dirty="0"/>
              <a:t> Além de índices para tabelas, podemos também criar índices para visões materializadas.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08ACD1F-1CCB-B273-CD73-D4C1A476DDF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9301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DB14F-7F07-7406-8C75-3D0B80500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1AA10729-3D6D-F9AE-53F8-205C1A96EC96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28211F4-5871-B029-DA90-E68F34BA2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Métodos (Tipos) para</a:t>
            </a:r>
            <a:br>
              <a:rPr lang="pt-BR" dirty="0"/>
            </a:br>
            <a:r>
              <a:rPr lang="pt-BR" dirty="0"/>
              <a:t>Índices no 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101DB4-0D57-05F7-C113-2E38CD5FC9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Métodos existentes no PostgreSQL:</a:t>
            </a:r>
          </a:p>
          <a:p>
            <a:r>
              <a:rPr lang="pt-BR" dirty="0" err="1"/>
              <a:t>Btree</a:t>
            </a:r>
            <a:r>
              <a:rPr lang="pt-BR" dirty="0"/>
              <a:t> (padrão), </a:t>
            </a:r>
            <a:r>
              <a:rPr lang="pt-BR" dirty="0" err="1"/>
              <a:t>Hash</a:t>
            </a:r>
            <a:r>
              <a:rPr lang="pt-BR" dirty="0"/>
              <a:t>, </a:t>
            </a:r>
            <a:r>
              <a:rPr lang="pt-BR" dirty="0" err="1"/>
              <a:t>GiST</a:t>
            </a:r>
            <a:r>
              <a:rPr lang="pt-BR" dirty="0"/>
              <a:t>, SP-</a:t>
            </a:r>
            <a:r>
              <a:rPr lang="pt-BR" dirty="0" err="1"/>
              <a:t>GiST</a:t>
            </a:r>
            <a:r>
              <a:rPr lang="pt-BR" dirty="0"/>
              <a:t> e GIN</a:t>
            </a:r>
          </a:p>
          <a:p>
            <a:r>
              <a:rPr lang="pt-BR" dirty="0"/>
              <a:t> Somente o método </a:t>
            </a:r>
            <a:r>
              <a:rPr lang="pt-BR" dirty="0" err="1"/>
              <a:t>Btree</a:t>
            </a:r>
            <a:r>
              <a:rPr lang="pt-BR" dirty="0"/>
              <a:t> pode ser usado para índices do tipo UNIQUE.</a:t>
            </a:r>
          </a:p>
          <a:p>
            <a:r>
              <a:rPr lang="pt-BR" dirty="0"/>
              <a:t> Somente os métodos </a:t>
            </a:r>
            <a:r>
              <a:rPr lang="pt-BR" dirty="0" err="1"/>
              <a:t>Btree</a:t>
            </a:r>
            <a:r>
              <a:rPr lang="pt-BR" dirty="0"/>
              <a:t>, </a:t>
            </a:r>
            <a:r>
              <a:rPr lang="pt-BR" dirty="0" err="1"/>
              <a:t>GiST</a:t>
            </a:r>
            <a:r>
              <a:rPr lang="pt-BR" dirty="0"/>
              <a:t> e GIN suportam índices com várias colunas.</a:t>
            </a:r>
          </a:p>
          <a:p>
            <a:r>
              <a:rPr lang="pt-BR" dirty="0"/>
              <a:t> Índices com mais de um campo somente serão utilizados para agilizar consultas se as cláusulas envolvendo os campos indexados forem ligadas por AND.</a:t>
            </a:r>
          </a:p>
          <a:p>
            <a:r>
              <a:rPr lang="pt-BR" dirty="0"/>
              <a:t> Quando indicamos atributos como chave primária em uma tabela, automaticamente é criado um índice </a:t>
            </a:r>
            <a:r>
              <a:rPr lang="pt-BR" dirty="0" err="1"/>
              <a:t>Btree</a:t>
            </a:r>
            <a:r>
              <a:rPr lang="pt-BR" dirty="0"/>
              <a:t> sobre eles.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55F183B-A3E7-0846-0E46-68DC89506C9A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556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7E745-FE78-AFC4-9B1D-7C5FA720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922EFC6B-AFD2-395E-7F9C-AB9CE6A4AB14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DEA7A6-1884-9767-AD91-A4600CBB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Métodos para a Criação de</a:t>
            </a:r>
            <a:br>
              <a:rPr lang="pt-BR" dirty="0"/>
            </a:br>
            <a:r>
              <a:rPr lang="pt-BR" dirty="0"/>
              <a:t>Índices no 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8713A4-3039-B094-6424-9FBCFA5CF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Btree</a:t>
            </a:r>
            <a:r>
              <a:rPr lang="pt-BR" dirty="0"/>
              <a:t> – Árvores-B podem ser usadas em consultas com condições de seleção baseadas em igualdade de valores ou em intervalos, sobre dados que podem estar armazenados ordenadamente</a:t>
            </a:r>
          </a:p>
          <a:p>
            <a:r>
              <a:rPr lang="pt-BR" dirty="0"/>
              <a:t>O planejador de consultas do PostgreSQL considerará o uso de um índice do tipo </a:t>
            </a:r>
            <a:r>
              <a:rPr lang="pt-BR" dirty="0" err="1"/>
              <a:t>Btree</a:t>
            </a:r>
            <a:r>
              <a:rPr lang="pt-BR" dirty="0"/>
              <a:t> sempre que uma coluna indexada estiver envolvida em uma comparação usando um ou mais dos seguintes operadores:</a:t>
            </a:r>
          </a:p>
          <a:p>
            <a:r>
              <a:rPr lang="pt-BR" dirty="0"/>
              <a:t> &lt;, &lt;= , =, &gt;= e &gt;</a:t>
            </a:r>
          </a:p>
          <a:p>
            <a:r>
              <a:rPr lang="pt-BR" dirty="0"/>
              <a:t> like (se o padrão for uma constante e estiver ancorado no início da </a:t>
            </a:r>
            <a:r>
              <a:rPr lang="pt-BR" dirty="0" err="1"/>
              <a:t>string</a:t>
            </a:r>
            <a:r>
              <a:rPr lang="pt-BR" dirty="0"/>
              <a:t>, como em coluna like 'MAC%')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23440A1-5CAD-CBF3-CA6D-09DB5722FD05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028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899B0-547E-4592-87DC-084D8702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A86C96BC-390F-8C4E-047C-40B7CA53FF27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EE3902-955B-E93A-C129-F2A3F9819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Métodos para a Criação de</a:t>
            </a:r>
            <a:br>
              <a:rPr lang="pt-BR" dirty="0"/>
            </a:br>
            <a:r>
              <a:rPr lang="pt-BR" dirty="0"/>
              <a:t>Índices no PostgreSQL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42C07D-3812-8E80-2D43-A932FAA272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 err="1"/>
              <a:t>Hash</a:t>
            </a:r>
            <a:r>
              <a:rPr lang="pt-BR" dirty="0"/>
              <a:t> – só pode ser usado em consultas envolvendo condições de seleção baseadas em simples comparações de igualdade</a:t>
            </a:r>
          </a:p>
          <a:p>
            <a:r>
              <a:rPr lang="pt-BR" dirty="0"/>
              <a:t> O planejador de consultas do PostgreSQL considerará o uso de um índice do tipo </a:t>
            </a:r>
            <a:r>
              <a:rPr lang="pt-BR" dirty="0" err="1"/>
              <a:t>Hash</a:t>
            </a:r>
            <a:r>
              <a:rPr lang="pt-BR" dirty="0"/>
              <a:t> sempre que uma coluna indexada estiver envolvida em uma comparação usando o operador “=”</a:t>
            </a:r>
          </a:p>
          <a:p>
            <a:r>
              <a:rPr lang="pt-BR" dirty="0"/>
              <a:t> Nota: por problemas na forma como ele é implementado no gerenciador, o uso desse tipo de índice no PostgreSQL atualmente é desencorajado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F133DB1-1263-0155-6221-45378890F4BB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638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5BD5E-312B-E8A5-F0B2-70967F60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10BF98A9-C4EA-2B21-E2D3-D57B8EB701A6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52E05-CF08-1C26-ACE6-2E35E3CD3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 err="1"/>
              <a:t>GiSTs</a:t>
            </a:r>
            <a:br>
              <a:rPr lang="pt-BR" dirty="0"/>
            </a:br>
            <a:r>
              <a:rPr lang="pt-BR" dirty="0"/>
              <a:t>(</a:t>
            </a:r>
            <a:r>
              <a:rPr lang="pt-BR" dirty="0" err="1"/>
              <a:t>Generalized</a:t>
            </a:r>
            <a:r>
              <a:rPr lang="pt-BR" dirty="0"/>
              <a:t> Search </a:t>
            </a:r>
            <a:r>
              <a:rPr lang="pt-BR" dirty="0" err="1"/>
              <a:t>Trees</a:t>
            </a:r>
            <a:r>
              <a:rPr lang="pt-BR" dirty="0"/>
              <a:t>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62E032-CD08-FDDC-62B9-7C4119B0E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err="1"/>
              <a:t>GiSTs</a:t>
            </a:r>
            <a:r>
              <a:rPr lang="pt-BR" dirty="0"/>
              <a:t> não são um tipo único de índice, mas sim uma infraestrutura dentro da qual muitas estratégias de indexação diferentes podem ser implementadas para diferentes tipos de dados.</a:t>
            </a:r>
          </a:p>
          <a:p>
            <a:r>
              <a:rPr lang="pt-BR" dirty="0"/>
              <a:t> São baseados em árvores de busca balanceadas.</a:t>
            </a:r>
          </a:p>
          <a:p>
            <a:r>
              <a:rPr lang="pt-BR" dirty="0"/>
              <a:t> A distribuição padrão do PostgreSQL inclui classes de operações para vários tipos de dados bidimensionais e geométricos, que suportam consultas indexadas usando os seguintes operadores:</a:t>
            </a:r>
          </a:p>
          <a:p>
            <a:r>
              <a:rPr lang="pt-BR" dirty="0"/>
              <a:t> &lt;&lt;, &amp;&lt;, &amp;&gt;, &gt;&gt;, &lt;&lt;|, &amp;&lt;|, |&amp;&gt;, |&gt;&gt;, @&gt;, &lt;@, ~=, &amp;&amp;</a:t>
            </a:r>
          </a:p>
          <a:p>
            <a:r>
              <a:rPr lang="pt-BR" dirty="0"/>
              <a:t> O significado desses operadores está em: http://www.postgresql.org/docs/9.3/static/functions-geometry.html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0D53C8-1477-4ABA-5759-24BA5470D97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809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123CB-2C63-720B-B6AF-206FEE607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05B6B6F1-CE83-395D-AB7E-6857403DBC3B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010682C-03DE-BDC3-FFF2-AF7CAEA24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512F47-97E8-4D41-DC35-8FC05648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Criem um novo banco de dados.</a:t>
            </a:r>
          </a:p>
          <a:p>
            <a:r>
              <a:rPr lang="pt-BR" dirty="0"/>
              <a:t>Criem a seguinte tabela: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574D4EB-F383-CD60-DACB-EDFF8FD47422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2D40103-426D-C46B-8FB9-43A9DD098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46" y="3130720"/>
            <a:ext cx="5240721" cy="278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816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BBDDF-1B39-4CFF-195A-6896438B8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F0C021E2-BAC9-C147-BB85-71960BA9F25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14EA8CC-9611-BEDA-3DF6-869A69EA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32B3C8-4190-27D3-F29B-B0490C5F0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Agora insiram 100.000 registros nessa tabela.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351D7DC-5B3F-5E5D-7BA5-A9D325401B56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2962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711C-DCD5-8936-71B9-398A74303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38638A07-0069-2681-30EF-47B5BB5ED078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349523C-0F82-E2B6-BEB4-581A0E15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D1D9BA-9F40-0578-13E6-0AF28CEAB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Agora insiram 100.000 registros nessa tabela.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DEE56E7-1F11-42D8-21AF-E0AAB26C71B0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201BF2-C8A5-7354-0939-E40746250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178" y="2647882"/>
            <a:ext cx="10346235" cy="352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3781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69AC0-B8B3-6F6B-A811-39592DB20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CB376C20-83D9-0D6D-7C7E-A957525D789B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04D646E-C2C0-894F-0959-E2F7D139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4D88D8-4814-224C-FBF7-E872F3439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Agora insiram 100.000 registros nessa tabela.</a:t>
            </a:r>
          </a:p>
          <a:p>
            <a:r>
              <a:rPr lang="pt-BR" dirty="0" err="1"/>
              <a:t>generate_series</a:t>
            </a:r>
            <a:r>
              <a:rPr lang="pt-BR" dirty="0"/>
              <a:t>(1, 100000): Esta função gera uma série de números inteiros começando de 1 até 100.000. Cada número da série representa uma linha a ser inserida na tabela.</a:t>
            </a:r>
          </a:p>
          <a:p>
            <a:r>
              <a:rPr lang="pt-BR" dirty="0"/>
              <a:t>md5(</a:t>
            </a:r>
            <a:r>
              <a:rPr lang="pt-BR" dirty="0" err="1"/>
              <a:t>random</a:t>
            </a:r>
            <a:r>
              <a:rPr lang="pt-BR" dirty="0"/>
              <a:t>()::</a:t>
            </a:r>
            <a:r>
              <a:rPr lang="pt-BR" dirty="0" err="1"/>
              <a:t>text</a:t>
            </a:r>
            <a:r>
              <a:rPr lang="pt-BR" dirty="0"/>
              <a:t>): Esta expressão gera um valor </a:t>
            </a:r>
            <a:r>
              <a:rPr lang="pt-BR" dirty="0" err="1"/>
              <a:t>hash</a:t>
            </a:r>
            <a:r>
              <a:rPr lang="pt-BR" dirty="0"/>
              <a:t> MD5 baseado em um número aleatório.</a:t>
            </a:r>
          </a:p>
          <a:p>
            <a:pPr lvl="1"/>
            <a:r>
              <a:rPr lang="pt-BR" dirty="0" err="1"/>
              <a:t>random</a:t>
            </a:r>
            <a:r>
              <a:rPr lang="pt-BR" dirty="0"/>
              <a:t>(): A função </a:t>
            </a:r>
            <a:r>
              <a:rPr lang="pt-BR" dirty="0" err="1"/>
              <a:t>random</a:t>
            </a:r>
            <a:r>
              <a:rPr lang="pt-BR" dirty="0"/>
              <a:t>() retorna um número de ponto flutuante </a:t>
            </a:r>
            <a:r>
              <a:rPr lang="pt-BR" dirty="0" err="1"/>
              <a:t>pseudo-aleatório</a:t>
            </a:r>
            <a:r>
              <a:rPr lang="pt-BR" dirty="0"/>
              <a:t> entre 0 e 1.</a:t>
            </a:r>
          </a:p>
          <a:p>
            <a:pPr lvl="1"/>
            <a:r>
              <a:rPr lang="pt-BR" dirty="0"/>
              <a:t>md5(</a:t>
            </a:r>
            <a:r>
              <a:rPr lang="pt-BR" dirty="0" err="1"/>
              <a:t>random</a:t>
            </a:r>
            <a:r>
              <a:rPr lang="pt-BR" dirty="0"/>
              <a:t>()::</a:t>
            </a:r>
            <a:r>
              <a:rPr lang="pt-BR" dirty="0" err="1"/>
              <a:t>text</a:t>
            </a:r>
            <a:r>
              <a:rPr lang="pt-BR" dirty="0"/>
              <a:t>): Aplica a função </a:t>
            </a:r>
            <a:r>
              <a:rPr lang="pt-BR" dirty="0" err="1"/>
              <a:t>hash</a:t>
            </a:r>
            <a:r>
              <a:rPr lang="pt-BR" dirty="0"/>
              <a:t> MD5 na </a:t>
            </a:r>
            <a:r>
              <a:rPr lang="pt-BR" dirty="0" err="1"/>
              <a:t>string</a:t>
            </a:r>
            <a:r>
              <a:rPr lang="pt-BR" dirty="0"/>
              <a:t>, resultando em um valor de 32 caracteres hexadecimal. Esse valor é usado para simular um nome e um curso aleatório.</a:t>
            </a:r>
          </a:p>
          <a:p>
            <a:r>
              <a:rPr lang="pt-BR" dirty="0"/>
              <a:t>(</a:t>
            </a:r>
            <a:r>
              <a:rPr lang="pt-BR" dirty="0" err="1"/>
              <a:t>random</a:t>
            </a:r>
            <a:r>
              <a:rPr lang="pt-BR" dirty="0"/>
              <a:t>()*30)::</a:t>
            </a:r>
            <a:r>
              <a:rPr lang="pt-BR" dirty="0" err="1"/>
              <a:t>int</a:t>
            </a:r>
            <a:r>
              <a:rPr lang="pt-BR" dirty="0"/>
              <a:t>: Esta expressão gera um número inteiro aleatório entre 0 e 30.</a:t>
            </a:r>
          </a:p>
          <a:p>
            <a:pPr lvl="1"/>
            <a:r>
              <a:rPr lang="pt-BR" dirty="0" err="1"/>
              <a:t>random</a:t>
            </a:r>
            <a:r>
              <a:rPr lang="pt-BR" dirty="0"/>
              <a:t>()*30: Multiplica o número aleatório (entre 0 e 1) por 30, resultando em um número de ponto flutuante entre 0 e 30.</a:t>
            </a:r>
          </a:p>
          <a:p>
            <a:pPr lvl="1"/>
            <a:r>
              <a:rPr lang="pt-BR" dirty="0" err="1"/>
              <a:t>random</a:t>
            </a:r>
            <a:r>
              <a:rPr lang="pt-BR" dirty="0"/>
              <a:t>()*100000: Multiplica o número aleatório (entre 0 e 1) por 100.000, resultando em um número de ponto flutuante entre 0 e 100.000.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850919-B47D-5A41-0F52-24ADF74EDC74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500ED6-FD33-C9DC-F5E4-6D128878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579" y="94636"/>
            <a:ext cx="5074754" cy="173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9104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770F3-CCB9-B718-1E4B-00B3929C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B75D1AFB-9309-B224-87C7-3FB09EDB02BF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2EB578C-1185-8FFE-97CE-653A8EB57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00EC53-BCB9-1743-8B29-8ECA88987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Crie uma tabela alunos2 com a mesma estrutura do alunos.</a:t>
            </a:r>
          </a:p>
          <a:p>
            <a:r>
              <a:rPr lang="pt-BR" dirty="0"/>
              <a:t>Insira 100.000 registros na alunos 2</a:t>
            </a:r>
          </a:p>
          <a:p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598BDF-6C4C-5CE3-75BF-1743AB2E80CE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4239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09D69-5071-BD6F-264A-B35238C60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ângulo retângulo 7">
            <a:extLst>
              <a:ext uri="{FF2B5EF4-FFF2-40B4-BE49-F238E27FC236}">
                <a16:creationId xmlns:a16="http://schemas.microsoft.com/office/drawing/2014/main" id="{6834F35C-E88C-55C5-071C-D7F811430D29}"/>
              </a:ext>
            </a:extLst>
          </p:cNvPr>
          <p:cNvSpPr/>
          <p:nvPr/>
        </p:nvSpPr>
        <p:spPr>
          <a:xfrm rot="16200000">
            <a:off x="9324953" y="4007984"/>
            <a:ext cx="3088071" cy="2422688"/>
          </a:xfrm>
          <a:prstGeom prst="rtTriangl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ACF59C-871F-2E3A-0CF7-47139207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Vamos ver se os Index realmente funcionam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696526-095D-7544-1E12-F12069808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--Criar um índice para a tabela alunos no campo matricula.</a:t>
            </a:r>
          </a:p>
          <a:p>
            <a:r>
              <a:rPr lang="pt-BR" dirty="0"/>
              <a:t>CREATE INDEX </a:t>
            </a:r>
            <a:r>
              <a:rPr lang="pt-BR" dirty="0" err="1"/>
              <a:t>idx_matricula</a:t>
            </a:r>
            <a:r>
              <a:rPr lang="pt-BR" dirty="0"/>
              <a:t> ON alunos(matricula); </a:t>
            </a:r>
          </a:p>
          <a:p>
            <a:r>
              <a:rPr lang="pt-BR" dirty="0"/>
              <a:t>--Execute o </a:t>
            </a:r>
            <a:r>
              <a:rPr lang="pt-BR" dirty="0" err="1"/>
              <a:t>Explain</a:t>
            </a:r>
            <a:r>
              <a:rPr lang="pt-BR" dirty="0"/>
              <a:t> e observe a tupla “</a:t>
            </a:r>
            <a:r>
              <a:rPr lang="pt-BR" dirty="0" err="1"/>
              <a:t>Execution</a:t>
            </a:r>
            <a:r>
              <a:rPr lang="pt-BR" dirty="0"/>
              <a:t> Time:” para a tabela sem index</a:t>
            </a:r>
          </a:p>
          <a:p>
            <a:r>
              <a:rPr lang="pt-BR" dirty="0"/>
              <a:t>EXPLAIN ANALYZE SELECT * FROM alunos2 WHERE matricula = 12345; </a:t>
            </a:r>
          </a:p>
          <a:p>
            <a:r>
              <a:rPr lang="pt-BR" dirty="0"/>
              <a:t>--Faça o mesmo teste para a tabela com </a:t>
            </a:r>
            <a:r>
              <a:rPr lang="pt-BR" dirty="0" err="1"/>
              <a:t>indice</a:t>
            </a:r>
            <a:endParaRPr lang="pt-BR" dirty="0"/>
          </a:p>
          <a:p>
            <a:r>
              <a:rPr lang="pt-BR" dirty="0"/>
              <a:t>EXPLAIN ANALYZE SELECT * FROM alunos WHERE matricula = 12345;</a:t>
            </a:r>
          </a:p>
          <a:p>
            <a:r>
              <a:rPr lang="pt-BR" dirty="0"/>
              <a:t>--Compare os resultados.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A408B03-4684-506D-B285-BBAEA4C2E4F5}"/>
              </a:ext>
            </a:extLst>
          </p:cNvPr>
          <p:cNvSpPr/>
          <p:nvPr/>
        </p:nvSpPr>
        <p:spPr>
          <a:xfrm>
            <a:off x="245097" y="188536"/>
            <a:ext cx="11679810" cy="644793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02916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1516</TotalTime>
  <Words>1342</Words>
  <Application>Microsoft Office PowerPoint</Application>
  <PresentationFormat>Widescreen</PresentationFormat>
  <Paragraphs>106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Tema do Office</vt:lpstr>
      <vt:lpstr>Apresentação do PowerPoint</vt:lpstr>
      <vt:lpstr>Índices</vt:lpstr>
      <vt:lpstr>O que são índices?</vt:lpstr>
      <vt:lpstr>índices</vt:lpstr>
      <vt:lpstr>Tipos de Índices</vt:lpstr>
      <vt:lpstr>Tipos de Índices</vt:lpstr>
      <vt:lpstr>Índice Primário Denso</vt:lpstr>
      <vt:lpstr>Índice Primário Esparso</vt:lpstr>
      <vt:lpstr>Índice Esparso Multinível</vt:lpstr>
      <vt:lpstr>Índice Secundário</vt:lpstr>
      <vt:lpstr>Estruturas de Dados Usadas para Implementar Índices</vt:lpstr>
      <vt:lpstr>Declaração de Índices</vt:lpstr>
      <vt:lpstr>Criação de Índices no PostgreSQL</vt:lpstr>
      <vt:lpstr>Criação de Índices no PostgreSQL</vt:lpstr>
      <vt:lpstr>Métodos (Tipos) para Índices no PostgreSQL</vt:lpstr>
      <vt:lpstr>Métodos para a Criação de Índices no PostgreSQL</vt:lpstr>
      <vt:lpstr>Métodos para a Criação de Índices no PostgreSQL</vt:lpstr>
      <vt:lpstr>GiSTs (Generalized Search Trees)</vt:lpstr>
      <vt:lpstr>Vamos ver se os Index realmente funcionam</vt:lpstr>
      <vt:lpstr>Vamos ver se os Index realmente funcionam</vt:lpstr>
      <vt:lpstr>Vamos ver se os Index realmente funcionam</vt:lpstr>
      <vt:lpstr>Vamos ver se os Index realmente funcionam</vt:lpstr>
      <vt:lpstr>Vamos ver se os Index realmente funcionam</vt:lpstr>
      <vt:lpstr>Vamos ver se os Index realmente funcionam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Circuitos lógicos combinacionais e sequenciais</dc:title>
  <dc:creator>Matheus</dc:creator>
  <cp:lastModifiedBy>matheus raffael simon</cp:lastModifiedBy>
  <cp:revision>44</cp:revision>
  <dcterms:created xsi:type="dcterms:W3CDTF">2023-01-24T23:29:32Z</dcterms:created>
  <dcterms:modified xsi:type="dcterms:W3CDTF">2025-03-19T15:56:50Z</dcterms:modified>
</cp:coreProperties>
</file>