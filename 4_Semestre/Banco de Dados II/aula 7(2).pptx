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2" r:id="rId2"/>
    <p:sldId id="291" r:id="rId3"/>
    <p:sldId id="292" r:id="rId4"/>
    <p:sldId id="294" r:id="rId5"/>
    <p:sldId id="293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3" r:id="rId16"/>
    <p:sldId id="315" r:id="rId17"/>
    <p:sldId id="314" r:id="rId18"/>
    <p:sldId id="316" r:id="rId19"/>
    <p:sldId id="317" r:id="rId20"/>
    <p:sldId id="27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9D5FFB-0DB5-49B9-B8CE-A1106DAADBBA}" v="4" dt="2025-03-24T19:51:03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979D5FFB-0DB5-49B9-B8CE-A1106DAADBBA}"/>
    <pc:docChg chg="custSel addSld modSld sldOrd">
      <pc:chgData name="matheus raffael simon" userId="b81fe4e685964744" providerId="LiveId" clId="{979D5FFB-0DB5-49B9-B8CE-A1106DAADBBA}" dt="2025-03-24T19:51:49.761" v="787" actId="20577"/>
      <pc:docMkLst>
        <pc:docMk/>
      </pc:docMkLst>
      <pc:sldChg chg="modSp mod">
        <pc:chgData name="matheus raffael simon" userId="b81fe4e685964744" providerId="LiveId" clId="{979D5FFB-0DB5-49B9-B8CE-A1106DAADBBA}" dt="2025-03-24T19:48:51.386" v="512" actId="20577"/>
        <pc:sldMkLst>
          <pc:docMk/>
          <pc:sldMk cId="2218680444" sldId="303"/>
        </pc:sldMkLst>
        <pc:spChg chg="mod">
          <ac:chgData name="matheus raffael simon" userId="b81fe4e685964744" providerId="LiveId" clId="{979D5FFB-0DB5-49B9-B8CE-A1106DAADBBA}" dt="2025-03-24T19:48:51.386" v="512" actId="20577"/>
          <ac:spMkLst>
            <pc:docMk/>
            <pc:sldMk cId="2218680444" sldId="303"/>
            <ac:spMk id="3" creationId="{00000000-0000-0000-0000-000000000000}"/>
          </ac:spMkLst>
        </pc:spChg>
      </pc:sldChg>
      <pc:sldChg chg="addSp modSp add mod ord">
        <pc:chgData name="matheus raffael simon" userId="b81fe4e685964744" providerId="LiveId" clId="{979D5FFB-0DB5-49B9-B8CE-A1106DAADBBA}" dt="2025-03-24T19:46:58.521" v="220"/>
        <pc:sldMkLst>
          <pc:docMk/>
          <pc:sldMk cId="3282009938" sldId="313"/>
        </pc:sldMkLst>
        <pc:picChg chg="add mod">
          <ac:chgData name="matheus raffael simon" userId="b81fe4e685964744" providerId="LiveId" clId="{979D5FFB-0DB5-49B9-B8CE-A1106DAADBBA}" dt="2025-03-24T19:43:12.226" v="4" actId="1076"/>
          <ac:picMkLst>
            <pc:docMk/>
            <pc:sldMk cId="3282009938" sldId="313"/>
            <ac:picMk id="6" creationId="{26787B3B-1E92-FCDE-4FBA-6792DC8DD95E}"/>
          </ac:picMkLst>
        </pc:picChg>
      </pc:sldChg>
      <pc:sldChg chg="modSp add mod">
        <pc:chgData name="matheus raffael simon" userId="b81fe4e685964744" providerId="LiveId" clId="{979D5FFB-0DB5-49B9-B8CE-A1106DAADBBA}" dt="2025-03-24T19:46:48.490" v="217" actId="20577"/>
        <pc:sldMkLst>
          <pc:docMk/>
          <pc:sldMk cId="2352706986" sldId="314"/>
        </pc:sldMkLst>
        <pc:spChg chg="mod">
          <ac:chgData name="matheus raffael simon" userId="b81fe4e685964744" providerId="LiveId" clId="{979D5FFB-0DB5-49B9-B8CE-A1106DAADBBA}" dt="2025-03-24T19:46:48.490" v="217" actId="20577"/>
          <ac:spMkLst>
            <pc:docMk/>
            <pc:sldMk cId="2352706986" sldId="314"/>
            <ac:spMk id="3" creationId="{7777C488-CFBF-802F-0638-62CE33A10E2C}"/>
          </ac:spMkLst>
        </pc:spChg>
      </pc:sldChg>
      <pc:sldChg chg="add">
        <pc:chgData name="matheus raffael simon" userId="b81fe4e685964744" providerId="LiveId" clId="{979D5FFB-0DB5-49B9-B8CE-A1106DAADBBA}" dt="2025-03-24T19:46:55.124" v="218"/>
        <pc:sldMkLst>
          <pc:docMk/>
          <pc:sldMk cId="3142333651" sldId="315"/>
        </pc:sldMkLst>
      </pc:sldChg>
      <pc:sldChg chg="modSp add mod">
        <pc:chgData name="matheus raffael simon" userId="b81fe4e685964744" providerId="LiveId" clId="{979D5FFB-0DB5-49B9-B8CE-A1106DAADBBA}" dt="2025-03-24T19:50:34.843" v="668" actId="20577"/>
        <pc:sldMkLst>
          <pc:docMk/>
          <pc:sldMk cId="1968153667" sldId="316"/>
        </pc:sldMkLst>
        <pc:spChg chg="mod">
          <ac:chgData name="matheus raffael simon" userId="b81fe4e685964744" providerId="LiveId" clId="{979D5FFB-0DB5-49B9-B8CE-A1106DAADBBA}" dt="2025-03-24T19:50:34.843" v="668" actId="20577"/>
          <ac:spMkLst>
            <pc:docMk/>
            <pc:sldMk cId="1968153667" sldId="316"/>
            <ac:spMk id="3" creationId="{529AE5B9-9ED2-B61C-F661-EA65D418FF4C}"/>
          </ac:spMkLst>
        </pc:spChg>
      </pc:sldChg>
      <pc:sldChg chg="modSp add mod">
        <pc:chgData name="matheus raffael simon" userId="b81fe4e685964744" providerId="LiveId" clId="{979D5FFB-0DB5-49B9-B8CE-A1106DAADBBA}" dt="2025-03-24T19:51:49.761" v="787" actId="20577"/>
        <pc:sldMkLst>
          <pc:docMk/>
          <pc:sldMk cId="2064297791" sldId="317"/>
        </pc:sldMkLst>
        <pc:spChg chg="mod">
          <ac:chgData name="matheus raffael simon" userId="b81fe4e685964744" providerId="LiveId" clId="{979D5FFB-0DB5-49B9-B8CE-A1106DAADBBA}" dt="2025-03-24T19:51:49.761" v="787" actId="20577"/>
          <ac:spMkLst>
            <pc:docMk/>
            <pc:sldMk cId="2064297791" sldId="317"/>
            <ac:spMk id="3" creationId="{DBA7B391-AADC-CC30-BF93-0BCE42752E05}"/>
          </ac:spMkLst>
        </pc:spChg>
      </pc:sldChg>
    </pc:docChg>
  </pc:docChgLst>
  <pc:docChgLst>
    <pc:chgData name="matheus raffael simon" userId="b81fe4e685964744" providerId="LiveId" clId="{2E7950FC-194B-41ED-BB1B-284F41473703}"/>
    <pc:docChg chg="addSld delSld modSld">
      <pc:chgData name="matheus raffael simon" userId="b81fe4e685964744" providerId="LiveId" clId="{2E7950FC-194B-41ED-BB1B-284F41473703}" dt="2024-09-02T22:41:53.986" v="1" actId="47"/>
      <pc:docMkLst>
        <pc:docMk/>
      </pc:docMkLst>
      <pc:sldChg chg="del">
        <pc:chgData name="matheus raffael simon" userId="b81fe4e685964744" providerId="LiveId" clId="{2E7950FC-194B-41ED-BB1B-284F41473703}" dt="2024-09-02T22:41:53.986" v="1" actId="47"/>
        <pc:sldMkLst>
          <pc:docMk/>
          <pc:sldMk cId="4247130675" sldId="258"/>
        </pc:sldMkLst>
      </pc:sldChg>
      <pc:sldChg chg="add">
        <pc:chgData name="matheus raffael simon" userId="b81fe4e685964744" providerId="LiveId" clId="{2E7950FC-194B-41ED-BB1B-284F41473703}" dt="2024-09-02T22:41:52.005" v="0"/>
        <pc:sldMkLst>
          <pc:docMk/>
          <pc:sldMk cId="2136392277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24/03/2025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PROBLEMA...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Em muitos casos uma determinada consulta pode ser frequentemente requisitada, por vários usuários e sessões distintas.</a:t>
            </a:r>
          </a:p>
          <a:p>
            <a:endParaRPr lang="pt-BR" dirty="0"/>
          </a:p>
          <a:p>
            <a:r>
              <a:rPr lang="pt-BR" dirty="0"/>
              <a:t>Verificar os alunos em ordem alfabética, por exemplo, ou o ranking das turmas com maiores notas... Essas são visões particulares do banco de dados que estão além do estado em que os dados estão armazenados no banco de dados.</a:t>
            </a:r>
          </a:p>
          <a:p>
            <a:endParaRPr lang="pt-BR" dirty="0"/>
          </a:p>
          <a:p>
            <a:r>
              <a:rPr lang="pt-BR" dirty="0"/>
              <a:t>Vamos criar essas queries ...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VIEWS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As </a:t>
            </a:r>
            <a:r>
              <a:rPr lang="pt-BR" dirty="0" err="1"/>
              <a:t>views</a:t>
            </a:r>
            <a:r>
              <a:rPr lang="pt-BR" dirty="0"/>
              <a:t> permitem criar uma visão estática da consulta no banco de dados.</a:t>
            </a:r>
          </a:p>
          <a:p>
            <a:r>
              <a:rPr lang="pt-BR" dirty="0"/>
              <a:t>É definida por uma query e é um objeto pesquisável, ou seja, é possível executar um </a:t>
            </a:r>
            <a:r>
              <a:rPr lang="pt-BR" dirty="0" err="1"/>
              <a:t>select</a:t>
            </a:r>
            <a:r>
              <a:rPr lang="pt-BR" dirty="0"/>
              <a:t> em uma </a:t>
            </a:r>
            <a:r>
              <a:rPr lang="pt-BR" dirty="0" err="1"/>
              <a:t>view</a:t>
            </a:r>
            <a:r>
              <a:rPr lang="pt-BR" dirty="0"/>
              <a:t> da mesma forma que em uma tabela.</a:t>
            </a:r>
          </a:p>
          <a:p>
            <a:r>
              <a:rPr lang="pt-BR" dirty="0"/>
              <a:t>As </a:t>
            </a:r>
            <a:r>
              <a:rPr lang="pt-BR" dirty="0" err="1"/>
              <a:t>views</a:t>
            </a:r>
            <a:r>
              <a:rPr lang="pt-BR" dirty="0"/>
              <a:t> são úteis para abstrair ou esconder queries mais complexas, ou repetitivas.</a:t>
            </a:r>
          </a:p>
          <a:p>
            <a:r>
              <a:rPr lang="pt-BR" dirty="0"/>
              <a:t>Uma </a:t>
            </a:r>
            <a:r>
              <a:rPr lang="pt-BR" dirty="0" err="1"/>
              <a:t>view</a:t>
            </a:r>
            <a:r>
              <a:rPr lang="pt-BR" dirty="0"/>
              <a:t> pode exibir um subconjunto de uma tabela.</a:t>
            </a:r>
          </a:p>
          <a:p>
            <a:r>
              <a:rPr lang="pt-BR" dirty="0"/>
              <a:t>Uma </a:t>
            </a:r>
            <a:r>
              <a:rPr lang="pt-BR" dirty="0" err="1"/>
              <a:t>view</a:t>
            </a:r>
            <a:r>
              <a:rPr lang="pt-BR" dirty="0"/>
              <a:t> pode combinar dados de mais de uma tabela usando </a:t>
            </a:r>
            <a:r>
              <a:rPr lang="pt-BR" dirty="0" err="1"/>
              <a:t>joins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96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32" y="53630"/>
            <a:ext cx="8101819" cy="680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2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VIEW POSSIBILIDADES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As </a:t>
            </a:r>
            <a:r>
              <a:rPr lang="pt-BR" dirty="0" err="1"/>
              <a:t>views</a:t>
            </a:r>
            <a:r>
              <a:rPr lang="pt-BR" dirty="0"/>
              <a:t> permitem implementar restrições sobre o banco de dados:</a:t>
            </a:r>
          </a:p>
          <a:p>
            <a:endParaRPr lang="pt-BR" b="1" dirty="0"/>
          </a:p>
          <a:p>
            <a:r>
              <a:rPr lang="pt-BR" b="1" dirty="0"/>
              <a:t>Usuário x Dados</a:t>
            </a:r>
          </a:p>
          <a:p>
            <a:r>
              <a:rPr lang="pt-BR" dirty="0"/>
              <a:t>Usuários da biblioteca não precisam ter acesso a todas as notas de um aluno, mas apenas das disciplinas nas quais está atualmente matriculado.</a:t>
            </a:r>
          </a:p>
          <a:p>
            <a:endParaRPr lang="pt-BR" b="1" dirty="0"/>
          </a:p>
          <a:p>
            <a:r>
              <a:rPr lang="pt-BR" b="1" dirty="0"/>
              <a:t>Usuário x Domínio</a:t>
            </a:r>
          </a:p>
          <a:p>
            <a:r>
              <a:rPr lang="pt-BR" dirty="0"/>
              <a:t>Usuários da cantina não precisam ter acesso as notas de um aluno, apenas nome do aluno e disciplina.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58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VIEW POSSIBILIDADES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Nova visão</a:t>
            </a:r>
          </a:p>
          <a:p>
            <a:r>
              <a:rPr lang="pt-BR" dirty="0"/>
              <a:t>Junção de vários domínios em uma nova visão.</a:t>
            </a:r>
          </a:p>
          <a:p>
            <a:endParaRPr lang="pt-BR" dirty="0"/>
          </a:p>
          <a:p>
            <a:r>
              <a:rPr lang="pt-BR" b="1" dirty="0"/>
              <a:t>Agregar informações</a:t>
            </a:r>
          </a:p>
          <a:p>
            <a:r>
              <a:rPr lang="pt-BR" dirty="0"/>
              <a:t>Apresentar as médias de notas das disciplinas, por exemplo.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84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VIEW 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Aplicar Regras de Negócio</a:t>
            </a:r>
          </a:p>
          <a:p>
            <a:r>
              <a:rPr lang="pt-BR" dirty="0"/>
              <a:t>Podem ser aplicadas diretamente na visão, selecionando dados, ou calculando valores.</a:t>
            </a:r>
          </a:p>
          <a:p>
            <a:endParaRPr lang="pt-BR" b="1" dirty="0"/>
          </a:p>
          <a:p>
            <a:r>
              <a:rPr lang="pt-BR" b="1" dirty="0"/>
              <a:t>Consistência</a:t>
            </a:r>
          </a:p>
          <a:p>
            <a:r>
              <a:rPr lang="pt-BR" dirty="0"/>
              <a:t>Simplifica queries complexas transformando-as em uma única </a:t>
            </a:r>
            <a:r>
              <a:rPr lang="pt-BR" dirty="0" err="1"/>
              <a:t>view</a:t>
            </a:r>
            <a:r>
              <a:rPr lang="pt-BR" dirty="0"/>
              <a:t>. Os cálculos e regras definidas serão definidas uma única vez evitando a manutenção de inúmeras queries separadas.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24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VIEW 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Segurança</a:t>
            </a:r>
          </a:p>
          <a:p>
            <a:r>
              <a:rPr lang="pt-BR" dirty="0"/>
              <a:t>Restringir o acesso a uma tabela, mas permitir acesso a visões de dados não confidenciais.</a:t>
            </a:r>
          </a:p>
          <a:p>
            <a:endParaRPr lang="pt-BR" dirty="0"/>
          </a:p>
          <a:p>
            <a:r>
              <a:rPr lang="pt-BR" b="1" dirty="0"/>
              <a:t>Simplicidade</a:t>
            </a:r>
          </a:p>
          <a:p>
            <a:r>
              <a:rPr lang="pt-BR" dirty="0"/>
              <a:t>Bancos de dados com muitas tabelas possuem relacionamentos complicados, os quais podem tornar difícil navegar.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295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VIEW DESVANTAGENS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Performance</a:t>
            </a:r>
          </a:p>
          <a:p>
            <a:r>
              <a:rPr lang="pt-BR" dirty="0"/>
              <a:t>Apesar de parecer simples, as </a:t>
            </a:r>
            <a:r>
              <a:rPr lang="pt-BR" dirty="0" err="1"/>
              <a:t>views</a:t>
            </a:r>
            <a:r>
              <a:rPr lang="pt-BR" dirty="0"/>
              <a:t> são montadas por queries mais complexas e cada fez que a </a:t>
            </a:r>
            <a:r>
              <a:rPr lang="pt-BR" dirty="0" err="1"/>
              <a:t>view</a:t>
            </a:r>
            <a:r>
              <a:rPr lang="pt-BR" dirty="0"/>
              <a:t> é executada a query é reexecutada.</a:t>
            </a:r>
          </a:p>
          <a:p>
            <a:endParaRPr lang="pt-BR" dirty="0"/>
          </a:p>
          <a:p>
            <a:r>
              <a:rPr lang="pt-BR" b="1" dirty="0"/>
              <a:t>Modificações</a:t>
            </a:r>
          </a:p>
          <a:p>
            <a:r>
              <a:rPr lang="pt-BR" dirty="0"/>
              <a:t>Não é qualquer </a:t>
            </a:r>
            <a:r>
              <a:rPr lang="pt-BR" dirty="0" err="1"/>
              <a:t>view</a:t>
            </a:r>
            <a:r>
              <a:rPr lang="pt-BR" dirty="0"/>
              <a:t> que permite operações INSERT, UPDATE, o DELETE.</a:t>
            </a:r>
          </a:p>
          <a:p>
            <a:endParaRPr lang="pt-BR" dirty="0"/>
          </a:p>
          <a:p>
            <a:r>
              <a:rPr lang="pt-BR" b="1" dirty="0"/>
              <a:t>Dica não faça </a:t>
            </a:r>
            <a:r>
              <a:rPr lang="pt-BR" b="1" dirty="0" err="1"/>
              <a:t>view</a:t>
            </a:r>
            <a:r>
              <a:rPr lang="pt-BR" b="1" dirty="0"/>
              <a:t> para INSERT, UPDATE, o DELETE.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29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SINTAXE VIEW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Comando:</a:t>
            </a:r>
          </a:p>
          <a:p>
            <a:endParaRPr lang="pt-BR" dirty="0"/>
          </a:p>
          <a:p>
            <a:r>
              <a:rPr lang="pt-BR" b="1" dirty="0"/>
              <a:t>CREATE VIEW</a:t>
            </a:r>
          </a:p>
          <a:p>
            <a:r>
              <a:rPr lang="pt-BR" dirty="0"/>
              <a:t>Define uma </a:t>
            </a:r>
            <a:r>
              <a:rPr lang="pt-BR" dirty="0" err="1"/>
              <a:t>view</a:t>
            </a:r>
            <a:r>
              <a:rPr lang="pt-BR" dirty="0"/>
              <a:t> de uma query.</a:t>
            </a:r>
          </a:p>
          <a:p>
            <a:endParaRPr lang="pt-BR" dirty="0"/>
          </a:p>
          <a:p>
            <a:r>
              <a:rPr lang="pt-BR" b="1" dirty="0"/>
              <a:t>CREATE OR REPLACE VIEW</a:t>
            </a:r>
          </a:p>
          <a:p>
            <a:r>
              <a:rPr lang="pt-BR" dirty="0"/>
              <a:t>Define uma </a:t>
            </a:r>
            <a:r>
              <a:rPr lang="pt-BR" dirty="0" err="1"/>
              <a:t>view</a:t>
            </a:r>
            <a:r>
              <a:rPr lang="pt-BR" dirty="0"/>
              <a:t> de uma query. Caso já exista uma </a:t>
            </a:r>
            <a:r>
              <a:rPr lang="pt-BR" dirty="0" err="1"/>
              <a:t>view</a:t>
            </a:r>
            <a:r>
              <a:rPr lang="pt-BR" dirty="0"/>
              <a:t> de mesmo nome, ela será substituída. A nova </a:t>
            </a:r>
            <a:r>
              <a:rPr lang="pt-BR" dirty="0" err="1"/>
              <a:t>view</a:t>
            </a:r>
            <a:r>
              <a:rPr lang="pt-BR" dirty="0"/>
              <a:t> deverá ter as mesmas colunas (nomes, ordem e tipos) e pode ter adicionadas novas colunas ao final da lista.</a:t>
            </a: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401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SINTAXE VIEW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CREATE OR REPLACE VIEW </a:t>
            </a:r>
            <a:r>
              <a:rPr lang="en-US" dirty="0" err="1"/>
              <a:t>alunos_view</a:t>
            </a:r>
            <a:endParaRPr lang="en-US" dirty="0"/>
          </a:p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</a:rPr>
              <a:t>AS 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</a:rPr>
              <a:t>SELECT </a:t>
            </a:r>
            <a:r>
              <a:rPr lang="pt-BR" b="1" dirty="0" err="1">
                <a:solidFill>
                  <a:srgbClr val="0070C0"/>
                </a:solidFill>
              </a:rPr>
              <a:t>nom_alu</a:t>
            </a:r>
            <a:endParaRPr lang="pt-BR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</a:rPr>
              <a:t>FROM alunos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</a:rPr>
              <a:t>ORDER BY </a:t>
            </a:r>
            <a:r>
              <a:rPr lang="pt-BR" b="1" dirty="0" err="1">
                <a:solidFill>
                  <a:srgbClr val="0070C0"/>
                </a:solidFill>
              </a:rPr>
              <a:t>nom_alu</a:t>
            </a:r>
            <a:r>
              <a:rPr lang="pt-BR" b="1" dirty="0">
                <a:solidFill>
                  <a:srgbClr val="0070C0"/>
                </a:solidFill>
              </a:rPr>
              <a:t> </a:t>
            </a:r>
            <a:r>
              <a:rPr lang="pt-BR" b="1" dirty="0" err="1">
                <a:solidFill>
                  <a:srgbClr val="0070C0"/>
                </a:solidFill>
              </a:rPr>
              <a:t>asc</a:t>
            </a:r>
            <a:r>
              <a:rPr lang="pt-BR" dirty="0"/>
              <a:t>;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 err="1"/>
              <a:t>select</a:t>
            </a:r>
            <a:r>
              <a:rPr lang="pt-BR" dirty="0"/>
              <a:t> *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alunos_view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alunos_view</a:t>
            </a:r>
            <a:r>
              <a:rPr lang="en-US" dirty="0"/>
              <a:t> where </a:t>
            </a:r>
            <a:r>
              <a:rPr lang="en-US" dirty="0" err="1"/>
              <a:t>nom_alu</a:t>
            </a:r>
            <a:r>
              <a:rPr lang="en-US" dirty="0"/>
              <a:t> like 'A%‘;</a:t>
            </a: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023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SINTAXE VIEW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CREATE OR REPLACE VIEW </a:t>
            </a:r>
            <a:r>
              <a:rPr lang="en-US" dirty="0" err="1"/>
              <a:t>media_cursos</a:t>
            </a:r>
            <a:endParaRPr lang="en-US" dirty="0"/>
          </a:p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</a:rPr>
              <a:t>AS</a:t>
            </a:r>
          </a:p>
          <a:p>
            <a:pPr marL="0" indent="0">
              <a:buNone/>
            </a:pPr>
            <a:r>
              <a:rPr lang="pt-BR" dirty="0"/>
              <a:t>SELECT </a:t>
            </a:r>
            <a:r>
              <a:rPr lang="pt-BR" dirty="0" err="1"/>
              <a:t>D.nom_disc</a:t>
            </a:r>
            <a:r>
              <a:rPr lang="pt-BR" dirty="0"/>
              <a:t>, AVG(</a:t>
            </a:r>
            <a:r>
              <a:rPr lang="pt-BR" dirty="0" err="1"/>
              <a:t>H.media</a:t>
            </a:r>
            <a:r>
              <a:rPr lang="pt-BR" dirty="0"/>
              <a:t>) </a:t>
            </a:r>
            <a:r>
              <a:rPr lang="pt-BR" dirty="0" err="1"/>
              <a:t>from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disciplinas D INNER JOIN </a:t>
            </a:r>
            <a:r>
              <a:rPr lang="pt-BR" dirty="0" err="1"/>
              <a:t>historicos_escolares</a:t>
            </a:r>
            <a:r>
              <a:rPr lang="pt-BR" dirty="0"/>
              <a:t> H</a:t>
            </a:r>
          </a:p>
          <a:p>
            <a:pPr marL="0" indent="0">
              <a:buNone/>
            </a:pPr>
            <a:r>
              <a:rPr lang="pt-BR" dirty="0"/>
              <a:t>ON </a:t>
            </a:r>
            <a:r>
              <a:rPr lang="pt-BR" dirty="0" err="1"/>
              <a:t>D.cod_disc</a:t>
            </a:r>
            <a:r>
              <a:rPr lang="pt-BR" dirty="0"/>
              <a:t> = </a:t>
            </a:r>
            <a:r>
              <a:rPr lang="pt-BR" dirty="0" err="1"/>
              <a:t>H.cod_disc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GROUP BY </a:t>
            </a:r>
            <a:r>
              <a:rPr lang="pt-BR" dirty="0" err="1"/>
              <a:t>D.nom_disc</a:t>
            </a: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1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ATUALIZAÇÃO DE VIEWS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Uma </a:t>
            </a:r>
            <a:r>
              <a:rPr lang="pt-BR" dirty="0" err="1"/>
              <a:t>view</a:t>
            </a:r>
            <a:r>
              <a:rPr lang="pt-BR" dirty="0"/>
              <a:t> pode ser atualizável se ela possui os seguintes requisitos:</a:t>
            </a:r>
          </a:p>
          <a:p>
            <a:r>
              <a:rPr lang="pt-BR" dirty="0"/>
              <a:t>A query de definição da </a:t>
            </a:r>
            <a:r>
              <a:rPr lang="pt-BR" dirty="0" err="1"/>
              <a:t>view</a:t>
            </a:r>
            <a:r>
              <a:rPr lang="pt-BR" dirty="0"/>
              <a:t> deve ter exatamente uma tabela em sua cláusula FROM.</a:t>
            </a:r>
          </a:p>
          <a:p>
            <a:endParaRPr lang="pt-BR" dirty="0"/>
          </a:p>
          <a:p>
            <a:r>
              <a:rPr lang="pt-BR" dirty="0"/>
              <a:t>A query de definição não deve conter:</a:t>
            </a:r>
          </a:p>
          <a:p>
            <a:r>
              <a:rPr lang="en-US" dirty="0"/>
              <a:t>GROUP BY, HAVING, LIMIT, OFFSET, DISTINCT, WITH, UNION, INTERSECT, and </a:t>
            </a:r>
            <a:r>
              <a:rPr lang="pt-BR" dirty="0"/>
              <a:t>EXCEPT.</a:t>
            </a:r>
          </a:p>
          <a:p>
            <a:endParaRPr lang="pt-BR" dirty="0"/>
          </a:p>
          <a:p>
            <a:r>
              <a:rPr lang="pt-BR" dirty="0"/>
              <a:t>A lista do </a:t>
            </a:r>
            <a:r>
              <a:rPr lang="pt-BR" dirty="0" err="1"/>
              <a:t>select</a:t>
            </a:r>
            <a:r>
              <a:rPr lang="pt-BR" dirty="0"/>
              <a:t> não deve conter:</a:t>
            </a:r>
          </a:p>
          <a:p>
            <a:r>
              <a:rPr lang="pt-BR" dirty="0"/>
              <a:t>SUM, COUNT, AVG, MIN, MAX...</a:t>
            </a: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896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0 - Crie o banco de dados abaixo e insira no mínimo 5 usuários, 5 clientes, 10 pedidos, 3 tabelas de preço, 3 condições de pagamento, 15 produtos, 3 estados, 10 cidades e 1 pais.</a:t>
            </a:r>
          </a:p>
          <a:p>
            <a:r>
              <a:rPr lang="pt-BR" b="1" dirty="0"/>
              <a:t>Lembrando que todo usuário/parceiro possui telefone e endereço.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68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A1457-6386-FE2F-BEEA-73DF263E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76DFBF55-AE48-DCDB-FE15-CF86453039C5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DD4584-0C71-7461-003C-8FD48F55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C1E0A-7CE2-63F7-FBCC-7A38199E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Crie uma </a:t>
            </a:r>
            <a:r>
              <a:rPr lang="pt-BR" dirty="0" err="1"/>
              <a:t>view</a:t>
            </a:r>
            <a:r>
              <a:rPr lang="pt-BR" dirty="0"/>
              <a:t> para mostrar as seguintes informações:</a:t>
            </a:r>
          </a:p>
          <a:p>
            <a:r>
              <a:rPr lang="pt-BR" b="1" dirty="0"/>
              <a:t>Número do pedido;</a:t>
            </a:r>
          </a:p>
          <a:p>
            <a:r>
              <a:rPr lang="pt-BR" b="1" dirty="0"/>
              <a:t>Nome do Parceiro;</a:t>
            </a:r>
          </a:p>
          <a:p>
            <a:r>
              <a:rPr lang="pt-BR" b="1" dirty="0"/>
              <a:t>Endereço do Parceiro;</a:t>
            </a:r>
          </a:p>
          <a:p>
            <a:r>
              <a:rPr lang="pt-BR" b="1" dirty="0"/>
              <a:t>Tabela de preço;</a:t>
            </a:r>
          </a:p>
          <a:p>
            <a:r>
              <a:rPr lang="pt-BR" b="1" dirty="0"/>
              <a:t>Condição de pagamento;</a:t>
            </a:r>
          </a:p>
          <a:p>
            <a:r>
              <a:rPr lang="pt-BR" b="1" dirty="0"/>
              <a:t>Nome do Usuário;</a:t>
            </a:r>
          </a:p>
          <a:p>
            <a:r>
              <a:rPr lang="pt-BR" b="1" dirty="0"/>
              <a:t>Endereço </a:t>
            </a:r>
            <a:r>
              <a:rPr lang="pt-BR" b="1"/>
              <a:t>do Usuário.</a:t>
            </a:r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85ADE29-0AAB-0726-1C84-720757C7D9B7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26787B3B-1E92-FCDE-4FBA-6792DC8DD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72" y="0"/>
            <a:ext cx="9921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0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A8C0-AAC5-4F08-B966-86BB8EC5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FD0B24FD-E04B-6B3E-44DD-B28A6AB0D036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A2DB28-27BE-9E5B-3620-C44A11DF5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21921-A128-3A0B-C939-87E5E98D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1 - Crie uma </a:t>
            </a:r>
            <a:r>
              <a:rPr lang="pt-BR" dirty="0" err="1"/>
              <a:t>view</a:t>
            </a:r>
            <a:r>
              <a:rPr lang="pt-BR" dirty="0"/>
              <a:t> para mostrar as seguintes informações:</a:t>
            </a:r>
          </a:p>
          <a:p>
            <a:r>
              <a:rPr lang="pt-BR" b="1" dirty="0"/>
              <a:t>Número do pedido;</a:t>
            </a:r>
          </a:p>
          <a:p>
            <a:r>
              <a:rPr lang="pt-BR" b="1" dirty="0"/>
              <a:t>Nome do Parceiro;</a:t>
            </a:r>
          </a:p>
          <a:p>
            <a:r>
              <a:rPr lang="pt-BR" b="1" dirty="0"/>
              <a:t>Endereço do Parceiro;</a:t>
            </a:r>
          </a:p>
          <a:p>
            <a:r>
              <a:rPr lang="pt-BR" b="1" dirty="0"/>
              <a:t>Tabela de preço;</a:t>
            </a:r>
          </a:p>
          <a:p>
            <a:r>
              <a:rPr lang="pt-BR" b="1" dirty="0"/>
              <a:t>Condição de pagamento;</a:t>
            </a:r>
          </a:p>
          <a:p>
            <a:r>
              <a:rPr lang="pt-BR" b="1" dirty="0"/>
              <a:t>Nome do Usuário;</a:t>
            </a:r>
          </a:p>
          <a:p>
            <a:r>
              <a:rPr lang="pt-BR" b="1" dirty="0"/>
              <a:t>Endereço do Usuário.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6E148C-11DD-E9D2-B427-5F2F1984E66D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333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2D90-3166-E4B5-15FF-2DAB31D8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20A654A8-45A6-60D8-DF17-AE34CB1F43E5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95C6B1-6814-03D2-A494-10380B72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7C488-CFBF-802F-0638-62CE33A10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2 - Crie uma </a:t>
            </a:r>
            <a:r>
              <a:rPr lang="pt-BR" dirty="0" err="1"/>
              <a:t>view</a:t>
            </a:r>
            <a:r>
              <a:rPr lang="pt-BR" dirty="0"/>
              <a:t> para mostrar as seguintes informações:</a:t>
            </a:r>
          </a:p>
          <a:p>
            <a:r>
              <a:rPr lang="pt-BR" b="1" dirty="0"/>
              <a:t>Código e descrição do produto;</a:t>
            </a:r>
          </a:p>
          <a:p>
            <a:r>
              <a:rPr lang="pt-BR" b="1" dirty="0"/>
              <a:t>Descrição da tabela de preço;</a:t>
            </a:r>
          </a:p>
          <a:p>
            <a:r>
              <a:rPr lang="pt-BR" b="1" dirty="0"/>
              <a:t>Inicio e fim da vigência da tabela de preço;</a:t>
            </a:r>
          </a:p>
          <a:p>
            <a:r>
              <a:rPr lang="pt-BR" b="1" dirty="0"/>
              <a:t>Preço do produto para a tabela em questão;</a:t>
            </a:r>
          </a:p>
          <a:p>
            <a:r>
              <a:rPr lang="pt-BR" b="1" dirty="0"/>
              <a:t>Descrição da condição de pagamento; </a:t>
            </a:r>
          </a:p>
          <a:p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0FA2C5-27E9-89E2-1D00-2EF9512B36FE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706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16B8-5FE6-56CC-48ED-7040D70D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BBE9F39-2467-C7D3-840C-58A281D8190A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F4FE14-10B8-1350-A53B-FA4BE7D1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AE5B9-9ED2-B61C-F661-EA65D418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3 - Crie uma </a:t>
            </a:r>
            <a:r>
              <a:rPr lang="pt-BR" dirty="0" err="1"/>
              <a:t>view</a:t>
            </a:r>
            <a:r>
              <a:rPr lang="pt-BR" dirty="0"/>
              <a:t> para mostrar as seguintes informações:</a:t>
            </a:r>
          </a:p>
          <a:p>
            <a:r>
              <a:rPr lang="pt-BR" b="1" dirty="0"/>
              <a:t>Endereços e telefones do parceiro;</a:t>
            </a:r>
          </a:p>
          <a:p>
            <a:r>
              <a:rPr lang="pt-BR" b="1" dirty="0"/>
              <a:t>Pedidos para esse parceiro, com numeração, data, valor e quantidade.</a:t>
            </a:r>
          </a:p>
          <a:p>
            <a:r>
              <a:rPr lang="pt-BR" b="1" dirty="0"/>
              <a:t>Pais, cidade e estado.</a:t>
            </a:r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5B6DCB2-2151-851B-DE5A-E7BDC6690E29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153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2EDE-162B-9D3C-22EA-34E69A53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67D2928-D7B6-89B9-0EF7-EB36FAF918B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BE3654-2B87-788B-5104-F90C44AB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7B391-AADC-CC30-BF93-0BCE4275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4 - Crie uma </a:t>
            </a:r>
            <a:r>
              <a:rPr lang="pt-BR" dirty="0" err="1"/>
              <a:t>view</a:t>
            </a:r>
            <a:r>
              <a:rPr lang="pt-BR" dirty="0"/>
              <a:t> para mostrar as seguintes informações:</a:t>
            </a:r>
          </a:p>
          <a:p>
            <a:r>
              <a:rPr lang="pt-BR" b="1" dirty="0"/>
              <a:t>Nome do usuário e quantidade de produtos vinculados a ele.</a:t>
            </a:r>
          </a:p>
          <a:p>
            <a:r>
              <a:rPr lang="pt-BR" b="1" dirty="0"/>
              <a:t>Valor do maior pedido.</a:t>
            </a:r>
          </a:p>
          <a:p>
            <a:r>
              <a:rPr lang="pt-BR" b="1" dirty="0"/>
              <a:t>Valor do </a:t>
            </a:r>
            <a:r>
              <a:rPr lang="pt-BR" b="1"/>
              <a:t>menor pedido.</a:t>
            </a:r>
            <a:endParaRPr lang="pt-BR" b="1" dirty="0"/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960424-3C56-5506-DFBF-C7A539C82739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297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em: &lt;https://www.postgresql.org/files/documentation/pdf/9. 0/postgresql-9.0-US.pdf&gt;. Acesso em 03 Jan. 2024.</a:t>
            </a:r>
          </a:p>
          <a:p>
            <a:r>
              <a:rPr lang="pt-BR" dirty="0"/>
              <a:t>CARVALHO, VINÍCIUS. </a:t>
            </a:r>
            <a:r>
              <a:rPr lang="pt-BR" dirty="0" err="1"/>
              <a:t>PostgreSQL</a:t>
            </a:r>
            <a:r>
              <a:rPr lang="pt-BR" dirty="0"/>
              <a:t>: Banco de dados para aplicações web modernas. 1 ed. São Paulo: Casa do Código, 2017.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2084</TotalTime>
  <Words>954</Words>
  <Application>Microsoft Office PowerPoint</Application>
  <PresentationFormat>Widescreen</PresentationFormat>
  <Paragraphs>123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PROBLEMA...</vt:lpstr>
      <vt:lpstr>VIEWS</vt:lpstr>
      <vt:lpstr>Apresentação do PowerPoint</vt:lpstr>
      <vt:lpstr>VIEW POSSIBILIDADES</vt:lpstr>
      <vt:lpstr>VIEW POSSIBILIDADES</vt:lpstr>
      <vt:lpstr>VIEW VANTAGENS</vt:lpstr>
      <vt:lpstr>VIEW VANTAGENS</vt:lpstr>
      <vt:lpstr>VIEW DESVANTAGENS</vt:lpstr>
      <vt:lpstr>SINTAXE VIEW</vt:lpstr>
      <vt:lpstr>SINTAXE VIEW</vt:lpstr>
      <vt:lpstr>SINTAXE VIEW</vt:lpstr>
      <vt:lpstr>ATUALIZAÇÃO DE VIEWS</vt:lpstr>
      <vt:lpstr>Exercício</vt:lpstr>
      <vt:lpstr>Exercício</vt:lpstr>
      <vt:lpstr>Exercício</vt:lpstr>
      <vt:lpstr>Exercício</vt:lpstr>
      <vt:lpstr>Exercício</vt:lpstr>
      <vt:lpstr>Exercício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89</cp:revision>
  <dcterms:created xsi:type="dcterms:W3CDTF">2023-01-24T23:29:32Z</dcterms:created>
  <dcterms:modified xsi:type="dcterms:W3CDTF">2025-03-24T19:51:55Z</dcterms:modified>
</cp:coreProperties>
</file>