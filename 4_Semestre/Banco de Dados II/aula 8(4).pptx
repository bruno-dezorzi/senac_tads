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312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8" r:id="rId14"/>
    <p:sldId id="302" r:id="rId15"/>
    <p:sldId id="303" r:id="rId16"/>
    <p:sldId id="304" r:id="rId17"/>
    <p:sldId id="305" r:id="rId18"/>
    <p:sldId id="306" r:id="rId19"/>
    <p:sldId id="307" r:id="rId20"/>
    <p:sldId id="313" r:id="rId21"/>
    <p:sldId id="314" r:id="rId22"/>
    <p:sldId id="315" r:id="rId23"/>
    <p:sldId id="316" r:id="rId24"/>
    <p:sldId id="271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BF693D-DE81-4E12-99F2-8F9F65892352}" v="2" dt="2024-10-01T18:21:54.1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80" autoAdjust="0"/>
  </p:normalViewPr>
  <p:slideViewPr>
    <p:cSldViewPr snapToGrid="0">
      <p:cViewPr varScale="1">
        <p:scale>
          <a:sx n="73" d="100"/>
          <a:sy n="73" d="100"/>
        </p:scale>
        <p:origin x="9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98BF693D-DE81-4E12-99F2-8F9F65892352}"/>
    <pc:docChg chg="undo custSel addSld delSld modSld">
      <pc:chgData name="matheus raffael simon" userId="b81fe4e685964744" providerId="LiveId" clId="{98BF693D-DE81-4E12-99F2-8F9F65892352}" dt="2024-10-01T18:33:28.352" v="280" actId="20577"/>
      <pc:docMkLst>
        <pc:docMk/>
      </pc:docMkLst>
      <pc:sldChg chg="del">
        <pc:chgData name="matheus raffael simon" userId="b81fe4e685964744" providerId="LiveId" clId="{98BF693D-DE81-4E12-99F2-8F9F65892352}" dt="2024-09-04T21:09:14.470" v="2" actId="47"/>
        <pc:sldMkLst>
          <pc:docMk/>
          <pc:sldMk cId="4247130675" sldId="258"/>
        </pc:sldMkLst>
      </pc:sldChg>
      <pc:sldChg chg="modSp mod">
        <pc:chgData name="matheus raffael simon" userId="b81fe4e685964744" providerId="LiveId" clId="{98BF693D-DE81-4E12-99F2-8F9F65892352}" dt="2024-09-04T21:12:07.994" v="3" actId="33524"/>
        <pc:sldMkLst>
          <pc:docMk/>
          <pc:sldMk cId="571451746" sldId="298"/>
        </pc:sldMkLst>
        <pc:spChg chg="mod">
          <ac:chgData name="matheus raffael simon" userId="b81fe4e685964744" providerId="LiveId" clId="{98BF693D-DE81-4E12-99F2-8F9F65892352}" dt="2024-09-04T21:12:07.994" v="3" actId="33524"/>
          <ac:spMkLst>
            <pc:docMk/>
            <pc:sldMk cId="571451746" sldId="298"/>
            <ac:spMk id="3" creationId="{00000000-0000-0000-0000-000000000000}"/>
          </ac:spMkLst>
        </pc:spChg>
      </pc:sldChg>
      <pc:sldChg chg="modSp mod">
        <pc:chgData name="matheus raffael simon" userId="b81fe4e685964744" providerId="LiveId" clId="{98BF693D-DE81-4E12-99F2-8F9F65892352}" dt="2024-09-04T21:09:12.815" v="1" actId="27636"/>
        <pc:sldMkLst>
          <pc:docMk/>
          <pc:sldMk cId="2947929629" sldId="301"/>
        </pc:sldMkLst>
        <pc:spChg chg="mod">
          <ac:chgData name="matheus raffael simon" userId="b81fe4e685964744" providerId="LiveId" clId="{98BF693D-DE81-4E12-99F2-8F9F65892352}" dt="2024-09-04T21:09:12.815" v="1" actId="27636"/>
          <ac:spMkLst>
            <pc:docMk/>
            <pc:sldMk cId="2947929629" sldId="301"/>
            <ac:spMk id="3" creationId="{00000000-0000-0000-0000-000000000000}"/>
          </ac:spMkLst>
        </pc:spChg>
      </pc:sldChg>
      <pc:sldChg chg="mod modShow">
        <pc:chgData name="matheus raffael simon" userId="b81fe4e685964744" providerId="LiveId" clId="{98BF693D-DE81-4E12-99F2-8F9F65892352}" dt="2024-10-01T18:20:55.952" v="54" actId="729"/>
        <pc:sldMkLst>
          <pc:docMk/>
          <pc:sldMk cId="1463330825" sldId="305"/>
        </pc:sldMkLst>
      </pc:sldChg>
      <pc:sldChg chg="add del mod modShow">
        <pc:chgData name="matheus raffael simon" userId="b81fe4e685964744" providerId="LiveId" clId="{98BF693D-DE81-4E12-99F2-8F9F65892352}" dt="2024-10-01T18:20:58.532" v="55" actId="729"/>
        <pc:sldMkLst>
          <pc:docMk/>
          <pc:sldMk cId="1470738514" sldId="306"/>
        </pc:sldMkLst>
      </pc:sldChg>
      <pc:sldChg chg="add del mod modShow">
        <pc:chgData name="matheus raffael simon" userId="b81fe4e685964744" providerId="LiveId" clId="{98BF693D-DE81-4E12-99F2-8F9F65892352}" dt="2024-10-01T18:21:01.332" v="56" actId="729"/>
        <pc:sldMkLst>
          <pc:docMk/>
          <pc:sldMk cId="1746701154" sldId="307"/>
        </pc:sldMkLst>
      </pc:sldChg>
      <pc:sldChg chg="add">
        <pc:chgData name="matheus raffael simon" userId="b81fe4e685964744" providerId="LiveId" clId="{98BF693D-DE81-4E12-99F2-8F9F65892352}" dt="2024-09-04T21:09:12.658" v="0"/>
        <pc:sldMkLst>
          <pc:docMk/>
          <pc:sldMk cId="2136392277" sldId="312"/>
        </pc:sldMkLst>
      </pc:sldChg>
      <pc:sldChg chg="modSp add mod">
        <pc:chgData name="matheus raffael simon" userId="b81fe4e685964744" providerId="LiveId" clId="{98BF693D-DE81-4E12-99F2-8F9F65892352}" dt="2024-10-01T18:06:03.152" v="32" actId="27636"/>
        <pc:sldMkLst>
          <pc:docMk/>
          <pc:sldMk cId="1736456483" sldId="313"/>
        </pc:sldMkLst>
        <pc:spChg chg="mod">
          <ac:chgData name="matheus raffael simon" userId="b81fe4e685964744" providerId="LiveId" clId="{98BF693D-DE81-4E12-99F2-8F9F65892352}" dt="2024-10-01T18:04:57.142" v="9" actId="20577"/>
          <ac:spMkLst>
            <pc:docMk/>
            <pc:sldMk cId="1736456483" sldId="313"/>
            <ac:spMk id="2" creationId="{00000000-0000-0000-0000-000000000000}"/>
          </ac:spMkLst>
        </pc:spChg>
        <pc:spChg chg="mod">
          <ac:chgData name="matheus raffael simon" userId="b81fe4e685964744" providerId="LiveId" clId="{98BF693D-DE81-4E12-99F2-8F9F65892352}" dt="2024-10-01T18:06:03.152" v="32" actId="27636"/>
          <ac:spMkLst>
            <pc:docMk/>
            <pc:sldMk cId="1736456483" sldId="313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98BF693D-DE81-4E12-99F2-8F9F65892352}" dt="2024-10-01T18:06:58.548" v="42" actId="20577"/>
        <pc:sldMkLst>
          <pc:docMk/>
          <pc:sldMk cId="2603074292" sldId="314"/>
        </pc:sldMkLst>
        <pc:spChg chg="mod">
          <ac:chgData name="matheus raffael simon" userId="b81fe4e685964744" providerId="LiveId" clId="{98BF693D-DE81-4E12-99F2-8F9F65892352}" dt="2024-10-01T18:06:58.548" v="42" actId="20577"/>
          <ac:spMkLst>
            <pc:docMk/>
            <pc:sldMk cId="2603074292" sldId="314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98BF693D-DE81-4E12-99F2-8F9F65892352}" dt="2024-10-01T18:08:18.657" v="49" actId="20577"/>
        <pc:sldMkLst>
          <pc:docMk/>
          <pc:sldMk cId="2760059966" sldId="315"/>
        </pc:sldMkLst>
        <pc:spChg chg="mod">
          <ac:chgData name="matheus raffael simon" userId="b81fe4e685964744" providerId="LiveId" clId="{98BF693D-DE81-4E12-99F2-8F9F65892352}" dt="2024-10-01T18:08:18.657" v="49" actId="20577"/>
          <ac:spMkLst>
            <pc:docMk/>
            <pc:sldMk cId="2760059966" sldId="315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98BF693D-DE81-4E12-99F2-8F9F65892352}" dt="2024-10-01T18:33:28.352" v="280" actId="20577"/>
        <pc:sldMkLst>
          <pc:docMk/>
          <pc:sldMk cId="2158394359" sldId="316"/>
        </pc:sldMkLst>
        <pc:spChg chg="mod">
          <ac:chgData name="matheus raffael simon" userId="b81fe4e685964744" providerId="LiveId" clId="{98BF693D-DE81-4E12-99F2-8F9F65892352}" dt="2024-10-01T18:21:59.332" v="66" actId="20577"/>
          <ac:spMkLst>
            <pc:docMk/>
            <pc:sldMk cId="2158394359" sldId="316"/>
            <ac:spMk id="2" creationId="{00000000-0000-0000-0000-000000000000}"/>
          </ac:spMkLst>
        </pc:spChg>
        <pc:spChg chg="mod">
          <ac:chgData name="matheus raffael simon" userId="b81fe4e685964744" providerId="LiveId" clId="{98BF693D-DE81-4E12-99F2-8F9F65892352}" dt="2024-10-01T18:33:28.352" v="280" actId="20577"/>
          <ac:spMkLst>
            <pc:docMk/>
            <pc:sldMk cId="2158394359" sldId="31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3AFB0-1ED8-4FD0-8E3F-932E03C5F5D3}" type="datetimeFigureOut">
              <a:rPr lang="pt-BR" smtClean="0"/>
              <a:t>01/10/2024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BA374-B371-43DE-94BF-C44D94255B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42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%ROWTYPE </a:t>
            </a:r>
            <a:r>
              <a:rPr lang="pt-PT" b="1" dirty="0"/>
              <a:t>é usado para definir um registro com campos correspondentes a todas as colunas que são buscadas a partir de uma variável de cursor ou cursor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5BA374-B371-43DE-94BF-C44D94255B4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325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01/10/2024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50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01/10/2024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4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01/10/2024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08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01/10/2024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6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01/10/2024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38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01/10/2024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0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01/10/2024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4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01/10/2024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4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01/10/2024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66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01/10/2024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15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01/10/2024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01/10/2024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786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dirty="0"/>
              <a:t>BANCO DE DADOS II</a:t>
            </a: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213639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CURSOR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Cursores são utilizados para processar uma </a:t>
            </a:r>
            <a:r>
              <a:rPr lang="pt-BR" dirty="0" err="1"/>
              <a:t>tupla</a:t>
            </a:r>
            <a:r>
              <a:rPr lang="pt-BR" dirty="0"/>
              <a:t> de cada vez dentro do programa.</a:t>
            </a:r>
          </a:p>
          <a:p>
            <a:r>
              <a:rPr lang="pt-BR" dirty="0"/>
              <a:t>Um cursor pode ser representado através da metáfora de um ponteiro que aponta para uma única </a:t>
            </a:r>
            <a:r>
              <a:rPr lang="pt-BR" dirty="0" err="1"/>
              <a:t>tupla</a:t>
            </a:r>
            <a:r>
              <a:rPr lang="pt-BR" dirty="0"/>
              <a:t> do resultado de uma consulta que retornou diversas </a:t>
            </a:r>
            <a:r>
              <a:rPr lang="pt-BR" dirty="0" err="1"/>
              <a:t>tuplas</a:t>
            </a:r>
            <a:r>
              <a:rPr lang="pt-BR" dirty="0"/>
              <a:t>.</a:t>
            </a:r>
          </a:p>
          <a:p>
            <a:r>
              <a:rPr lang="pt-BR" dirty="0"/>
              <a:t>Um Cursor permite encapsular uma query e processar uma </a:t>
            </a:r>
            <a:r>
              <a:rPr lang="pt-BR" dirty="0" err="1"/>
              <a:t>tupla</a:t>
            </a:r>
            <a:r>
              <a:rPr lang="pt-BR" dirty="0"/>
              <a:t> por vez. Usa-se cursor para dividir um grande </a:t>
            </a:r>
            <a:r>
              <a:rPr lang="pt-BR" dirty="0" err="1"/>
              <a:t>result</a:t>
            </a:r>
            <a:r>
              <a:rPr lang="pt-BR" dirty="0"/>
              <a:t> set em partes e processá-las individualmente, evitando overflow de memória.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8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CURSOR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 diagrama abaixo ilustra o uso de um cursor em </a:t>
            </a:r>
            <a:r>
              <a:rPr lang="pt-BR" dirty="0" err="1"/>
              <a:t>PostgreSQL</a:t>
            </a:r>
            <a:r>
              <a:rPr lang="pt-BR" dirty="0"/>
              <a:t>:</a:t>
            </a:r>
          </a:p>
          <a:p>
            <a:r>
              <a:rPr lang="pt-BR" dirty="0"/>
              <a:t>1. Declarar um cursor;</a:t>
            </a:r>
          </a:p>
          <a:p>
            <a:r>
              <a:rPr lang="pt-BR" dirty="0"/>
              <a:t>2. Abrir o cursor;</a:t>
            </a:r>
          </a:p>
          <a:p>
            <a:r>
              <a:rPr lang="pt-BR" dirty="0"/>
              <a:t>3. </a:t>
            </a:r>
            <a:r>
              <a:rPr lang="pt-BR" dirty="0" err="1"/>
              <a:t>Fetch</a:t>
            </a:r>
            <a:r>
              <a:rPr lang="pt-BR" dirty="0"/>
              <a:t> (buscar) linhas do </a:t>
            </a:r>
            <a:r>
              <a:rPr lang="pt-BR" dirty="0" err="1"/>
              <a:t>result</a:t>
            </a:r>
            <a:r>
              <a:rPr lang="pt-BR" dirty="0"/>
              <a:t> set;</a:t>
            </a:r>
          </a:p>
          <a:p>
            <a:r>
              <a:rPr lang="pt-BR" dirty="0"/>
              <a:t>4. Checar se há linhas restantes para </a:t>
            </a:r>
            <a:r>
              <a:rPr lang="pt-BR" dirty="0" err="1"/>
              <a:t>fetch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 Sim:</a:t>
            </a:r>
          </a:p>
          <a:p>
            <a:pPr lvl="2"/>
            <a:r>
              <a:rPr lang="pt-BR" dirty="0"/>
              <a:t>Passo 3;</a:t>
            </a:r>
          </a:p>
          <a:p>
            <a:pPr lvl="1"/>
            <a:r>
              <a:rPr lang="pt-BR" dirty="0"/>
              <a:t> Não:</a:t>
            </a:r>
          </a:p>
          <a:p>
            <a:pPr lvl="2"/>
            <a:r>
              <a:rPr lang="pt-BR" dirty="0"/>
              <a:t> Fechar o cursor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723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CURSOR</a:t>
            </a: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781" y="1989826"/>
            <a:ext cx="10314442" cy="3984287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5547674" y="3602876"/>
            <a:ext cx="1074655" cy="373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Buscar</a:t>
            </a:r>
          </a:p>
        </p:txBody>
      </p:sp>
    </p:spTree>
    <p:extLst>
      <p:ext uri="{BB962C8B-B14F-4D97-AF65-F5344CB8AC3E}">
        <p14:creationId xmlns:p14="http://schemas.microsoft.com/office/powerpoint/2010/main" val="529569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DECLARAÇÃO DE CURSORES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Há dois tipos de cursores:</a:t>
            </a:r>
          </a:p>
          <a:p>
            <a:pPr lvl="1"/>
            <a:r>
              <a:rPr lang="pt-BR" dirty="0" err="1"/>
              <a:t>Unbound</a:t>
            </a:r>
            <a:endParaRPr lang="pt-BR" dirty="0"/>
          </a:p>
          <a:p>
            <a:pPr lvl="1"/>
            <a:r>
              <a:rPr lang="pt-BR" dirty="0" err="1"/>
              <a:t>Bound</a:t>
            </a:r>
            <a:endParaRPr lang="pt-BR" dirty="0"/>
          </a:p>
          <a:p>
            <a:r>
              <a:rPr lang="pt-BR" b="1" dirty="0" err="1"/>
              <a:t>Unbound</a:t>
            </a:r>
            <a:r>
              <a:rPr lang="pt-BR" b="1" dirty="0"/>
              <a:t>:</a:t>
            </a:r>
          </a:p>
          <a:p>
            <a:r>
              <a:rPr lang="pt-BR" dirty="0"/>
              <a:t>Todo acesso se dá por meio de uma variável de cursor.</a:t>
            </a:r>
          </a:p>
          <a:p>
            <a:r>
              <a:rPr lang="pt-BR" b="1" dirty="0" err="1"/>
              <a:t>Bound</a:t>
            </a:r>
            <a:r>
              <a:rPr lang="pt-BR" b="1" dirty="0"/>
              <a:t>:</a:t>
            </a:r>
          </a:p>
          <a:p>
            <a:r>
              <a:rPr lang="pt-BR" dirty="0"/>
              <a:t>A declaração é ligada diretamente uma query.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2577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DECLARAÇÃO DE CURSORES UNBOUND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Para ter acesso ao cursor é necessário declarar uma variável.</a:t>
            </a:r>
          </a:p>
          <a:p>
            <a:r>
              <a:rPr lang="pt-BR" dirty="0"/>
              <a:t>O </a:t>
            </a:r>
            <a:r>
              <a:rPr lang="pt-BR" dirty="0" err="1"/>
              <a:t>PostgreSQL</a:t>
            </a:r>
            <a:r>
              <a:rPr lang="pt-BR" dirty="0"/>
              <a:t> provê um tipo especial - REFCURSOR.</a:t>
            </a:r>
          </a:p>
          <a:p>
            <a:r>
              <a:rPr lang="pt-BR" dirty="0"/>
              <a:t>Nesse caso a variável pode ser utilizada com qualquer query.</a:t>
            </a:r>
          </a:p>
          <a:p>
            <a:r>
              <a:rPr lang="pt-BR" dirty="0"/>
              <a:t>DECLARE </a:t>
            </a:r>
            <a:r>
              <a:rPr lang="pt-BR" dirty="0" err="1"/>
              <a:t>meu_cursor</a:t>
            </a:r>
            <a:r>
              <a:rPr lang="pt-BR" dirty="0"/>
              <a:t> REFCURSOR;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694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DECLARAÇÃO DE CURSORES BOUND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Para ter acesso ao cursor é necessário declarar uma variável, mas nesse caso a variável está ligada (</a:t>
            </a:r>
            <a:r>
              <a:rPr lang="pt-BR" dirty="0" err="1"/>
              <a:t>bound</a:t>
            </a:r>
            <a:r>
              <a:rPr lang="pt-BR" dirty="0"/>
              <a:t>) a uma query especificada.</a:t>
            </a:r>
          </a:p>
          <a:p>
            <a:endParaRPr lang="pt-BR" dirty="0"/>
          </a:p>
          <a:p>
            <a:r>
              <a:rPr lang="pt-BR" dirty="0"/>
              <a:t>DECLARE </a:t>
            </a:r>
            <a:r>
              <a:rPr lang="pt-BR" dirty="0" err="1"/>
              <a:t>cur_filme</a:t>
            </a:r>
            <a:r>
              <a:rPr lang="pt-BR" dirty="0"/>
              <a:t> CURSOR FOR SELECT * FROM filme;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767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DECLARAÇÃO DE CURSORES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curs1:</a:t>
            </a:r>
          </a:p>
          <a:p>
            <a:pPr lvl="1"/>
            <a:r>
              <a:rPr lang="pt-BR" dirty="0"/>
              <a:t>Pode ser utilizada com qualquer query.</a:t>
            </a:r>
          </a:p>
          <a:p>
            <a:r>
              <a:rPr lang="pt-BR" dirty="0"/>
              <a:t>2. curs2:</a:t>
            </a:r>
          </a:p>
          <a:p>
            <a:pPr lvl="1"/>
            <a:r>
              <a:rPr lang="pt-BR" dirty="0"/>
              <a:t>Está ligada ao </a:t>
            </a:r>
            <a:r>
              <a:rPr lang="pt-BR" dirty="0" err="1"/>
              <a:t>result</a:t>
            </a:r>
            <a:r>
              <a:rPr lang="pt-BR" dirty="0"/>
              <a:t> set equivalente a todas as </a:t>
            </a:r>
            <a:r>
              <a:rPr lang="pt-BR" dirty="0" err="1"/>
              <a:t>tuplas</a:t>
            </a:r>
            <a:r>
              <a:rPr lang="pt-BR" dirty="0"/>
              <a:t> da relação tenk1.</a:t>
            </a:r>
          </a:p>
          <a:p>
            <a:r>
              <a:rPr lang="pt-BR" dirty="0"/>
              <a:t>3. curs3:</a:t>
            </a:r>
          </a:p>
          <a:p>
            <a:pPr lvl="1"/>
            <a:r>
              <a:rPr lang="pt-BR" dirty="0" err="1"/>
              <a:t>key</a:t>
            </a:r>
            <a:r>
              <a:rPr lang="pt-BR" dirty="0"/>
              <a:t> será substituído por um inteiro quando o cursor for aberto.</a:t>
            </a:r>
          </a:p>
          <a:p>
            <a:pPr lvl="1"/>
            <a:r>
              <a:rPr lang="pt-BR" dirty="0"/>
              <a:t>Está ligada ao </a:t>
            </a:r>
            <a:r>
              <a:rPr lang="pt-BR" dirty="0" err="1"/>
              <a:t>result</a:t>
            </a:r>
            <a:r>
              <a:rPr lang="pt-BR" dirty="0"/>
              <a:t> set equivalente às </a:t>
            </a:r>
            <a:r>
              <a:rPr lang="pt-BR" dirty="0" err="1"/>
              <a:t>tuplas</a:t>
            </a:r>
            <a:r>
              <a:rPr lang="pt-BR" dirty="0"/>
              <a:t> da relação tenk1 que tenham o valor de unique1 igual ao valor de </a:t>
            </a:r>
            <a:r>
              <a:rPr lang="pt-BR" dirty="0" err="1"/>
              <a:t>key</a:t>
            </a:r>
            <a:r>
              <a:rPr lang="pt-BR" dirty="0"/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723" y="5391620"/>
            <a:ext cx="7933495" cy="124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37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DECLARAÇÃO DE CURSORES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 err="1"/>
              <a:t>name</a:t>
            </a:r>
            <a:r>
              <a:rPr lang="pt-BR" dirty="0"/>
              <a:t>: nome da variável</a:t>
            </a:r>
          </a:p>
          <a:p>
            <a:r>
              <a:rPr lang="pt-BR" b="1" dirty="0"/>
              <a:t>[NO] SCROLL: </a:t>
            </a:r>
            <a:r>
              <a:rPr lang="pt-BR" dirty="0"/>
              <a:t>Define se o cursor é ou não capaz de executar </a:t>
            </a:r>
            <a:r>
              <a:rPr lang="pt-BR" dirty="0" err="1"/>
              <a:t>fetches</a:t>
            </a:r>
            <a:r>
              <a:rPr lang="pt-BR" dirty="0"/>
              <a:t> para trás.</a:t>
            </a:r>
          </a:p>
          <a:p>
            <a:r>
              <a:rPr lang="pt-BR" dirty="0"/>
              <a:t>Default: Scroll</a:t>
            </a:r>
          </a:p>
          <a:p>
            <a:r>
              <a:rPr lang="pt-BR" dirty="0"/>
              <a:t> </a:t>
            </a:r>
            <a:r>
              <a:rPr lang="pt-BR" b="1" dirty="0" err="1"/>
              <a:t>arguments</a:t>
            </a:r>
            <a:r>
              <a:rPr lang="pt-BR" b="1" dirty="0"/>
              <a:t>: </a:t>
            </a:r>
            <a:r>
              <a:rPr lang="pt-BR" dirty="0"/>
              <a:t>Se utilizado deve apresentar uma lista de parâmetros contendo nome e </a:t>
            </a:r>
            <a:r>
              <a:rPr lang="pt-BR" dirty="0" err="1"/>
              <a:t>datatype</a:t>
            </a:r>
            <a:r>
              <a:rPr lang="pt-BR" dirty="0"/>
              <a:t>. Os itens devem ser separados por vírgula.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476" y="5342952"/>
            <a:ext cx="9147007" cy="77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5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ABRINDO UM UNBOUND CURSOR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r>
              <a:rPr lang="pt-BR" dirty="0"/>
              <a:t>A variável cursor é aberta e dada uma query específica para executar.</a:t>
            </a:r>
          </a:p>
          <a:p>
            <a:r>
              <a:rPr lang="pt-BR" dirty="0"/>
              <a:t>O cursor não pode ter sido aberto previamente.</a:t>
            </a:r>
          </a:p>
          <a:p>
            <a:r>
              <a:rPr lang="pt-BR" dirty="0"/>
              <a:t>Deve ser utilizado um cursor </a:t>
            </a:r>
            <a:r>
              <a:rPr lang="pt-BR" b="1" dirty="0" err="1"/>
              <a:t>unbound</a:t>
            </a:r>
            <a:r>
              <a:rPr lang="pt-BR" b="1" dirty="0"/>
              <a:t>.</a:t>
            </a:r>
          </a:p>
          <a:p>
            <a:r>
              <a:rPr lang="pt-BR" dirty="0"/>
              <a:t>A query deve ser um SELECT, ou algo que retorne linhas.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64" y="1690688"/>
            <a:ext cx="9653661" cy="854549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856" y="5341875"/>
            <a:ext cx="9007741" cy="81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30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ABRINDO UM BOUND CURSOR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r>
              <a:rPr lang="pt-BR" dirty="0"/>
              <a:t>O cursor não pode ter sido aberto previamente.</a:t>
            </a:r>
          </a:p>
          <a:p>
            <a:r>
              <a:rPr lang="pt-BR" dirty="0"/>
              <a:t>Uma lista dos valores dos argumentos devem ser declarados se o cursor foi declarado com argumentos.</a:t>
            </a:r>
          </a:p>
          <a:p>
            <a:r>
              <a:rPr lang="pt-BR" dirty="0"/>
              <a:t>Os argumentos podem ser passados usando uma notação posicional ou nominal.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856" y="1528969"/>
            <a:ext cx="8728207" cy="76174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323" y="5334829"/>
            <a:ext cx="4841996" cy="120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7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CURSOR - FETCH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77500" lnSpcReduction="20000"/>
          </a:bodyPr>
          <a:lstStyle/>
          <a:p>
            <a:endParaRPr lang="pt-BR" dirty="0"/>
          </a:p>
          <a:p>
            <a:endParaRPr lang="pt-BR" dirty="0"/>
          </a:p>
          <a:p>
            <a:r>
              <a:rPr lang="pt-BR" dirty="0"/>
              <a:t>O comando </a:t>
            </a:r>
            <a:r>
              <a:rPr lang="pt-BR" b="1" dirty="0"/>
              <a:t>FETCH </a:t>
            </a:r>
            <a:r>
              <a:rPr lang="pt-BR" dirty="0"/>
              <a:t>recupera a próxima linha do cursor e atribui a uma variável </a:t>
            </a:r>
            <a:r>
              <a:rPr lang="pt-BR" b="1" dirty="0" err="1"/>
              <a:t>target</a:t>
            </a:r>
            <a:endParaRPr lang="pt-BR" b="1" dirty="0"/>
          </a:p>
          <a:p>
            <a:pPr lvl="1"/>
            <a:r>
              <a:rPr lang="pt-BR" dirty="0"/>
              <a:t>Pode ser uma linha ou uma lista de variáveis - semelhante ao </a:t>
            </a:r>
            <a:r>
              <a:rPr lang="pt-BR" dirty="0" err="1"/>
              <a:t>select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Caso não haja mais linhas, será atribuído NULL à variável.</a:t>
            </a:r>
          </a:p>
          <a:p>
            <a:r>
              <a:rPr lang="pt-BR" dirty="0"/>
              <a:t>Por padrão um cursor recupera a próxima linha. As direções válidas são:</a:t>
            </a:r>
          </a:p>
          <a:p>
            <a:pPr lvl="1"/>
            <a:r>
              <a:rPr lang="pt-BR" dirty="0"/>
              <a:t> NEXT</a:t>
            </a:r>
          </a:p>
          <a:p>
            <a:pPr lvl="1"/>
            <a:r>
              <a:rPr lang="pt-BR" dirty="0"/>
              <a:t> LAST</a:t>
            </a:r>
          </a:p>
          <a:p>
            <a:pPr lvl="1"/>
            <a:r>
              <a:rPr lang="pt-BR" dirty="0"/>
              <a:t> PRIOR</a:t>
            </a:r>
          </a:p>
          <a:p>
            <a:pPr lvl="1"/>
            <a:r>
              <a:rPr lang="pt-BR" dirty="0"/>
              <a:t> FIRST</a:t>
            </a:r>
          </a:p>
          <a:p>
            <a:pPr lvl="1"/>
            <a:r>
              <a:rPr lang="pt-BR" dirty="0"/>
              <a:t> ALL</a:t>
            </a:r>
          </a:p>
          <a:p>
            <a:pPr lvl="1"/>
            <a:r>
              <a:rPr lang="pt-BR" dirty="0"/>
              <a:t> ABSOLUTE </a:t>
            </a:r>
            <a:r>
              <a:rPr lang="pt-BR" dirty="0" err="1"/>
              <a:t>count</a:t>
            </a:r>
            <a:endParaRPr lang="pt-BR" dirty="0"/>
          </a:p>
          <a:p>
            <a:pPr lvl="1"/>
            <a:r>
              <a:rPr lang="pt-BR" dirty="0"/>
              <a:t> RELATIVE </a:t>
            </a:r>
            <a:r>
              <a:rPr lang="pt-BR" dirty="0" err="1"/>
              <a:t>count</a:t>
            </a:r>
            <a:endParaRPr lang="pt-BR" dirty="0"/>
          </a:p>
          <a:p>
            <a:pPr lvl="1"/>
            <a:r>
              <a:rPr lang="pt-BR" dirty="0"/>
              <a:t> FORWARD (SCROLL)</a:t>
            </a:r>
          </a:p>
          <a:p>
            <a:pPr lvl="1"/>
            <a:r>
              <a:rPr lang="pt-BR" dirty="0"/>
              <a:t> BACKWARD (SCROLL)	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052" y="1559755"/>
            <a:ext cx="9463756" cy="806373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912" y="4408728"/>
            <a:ext cx="8276681" cy="131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29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CURSOR - FETCH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5599521"/>
          </a:xfrm>
        </p:spPr>
        <p:txBody>
          <a:bodyPr>
            <a:normAutofit fontScale="55000" lnSpcReduction="20000"/>
          </a:bodyPr>
          <a:lstStyle/>
          <a:p>
            <a:r>
              <a:rPr lang="pt-BR" sz="2900" b="1" dirty="0"/>
              <a:t>NEXT</a:t>
            </a:r>
          </a:p>
          <a:p>
            <a:r>
              <a:rPr lang="pt-BR" sz="2900" dirty="0"/>
              <a:t>Retorna a linha de resultado imediatamente seguinte à linha atual e adiciona a linha atual à linha retornada. Se FETCH NEXT for a primeira busca de um cursor, a primeira linha do conjunto de resultados será retornada. NEXT é a opção padrão de busca de cursor.</a:t>
            </a:r>
          </a:p>
          <a:p>
            <a:r>
              <a:rPr lang="pt-BR" sz="2900" b="1" dirty="0"/>
              <a:t>PRIOR</a:t>
            </a:r>
          </a:p>
          <a:p>
            <a:r>
              <a:rPr lang="pt-BR" sz="2900" dirty="0"/>
              <a:t>Retorna a linha de resultado imediatamente anterior à linha atual e decrementa a linha atual da linha retornada. Se FETCH PRIOR for a primeira busca de um cursor, nenhuma linha será retornada e o cursor será deixado posicionado antes da primeira linha.</a:t>
            </a:r>
          </a:p>
          <a:p>
            <a:r>
              <a:rPr lang="pt-BR" sz="2900" b="1" dirty="0"/>
              <a:t>FIRST</a:t>
            </a:r>
          </a:p>
          <a:p>
            <a:r>
              <a:rPr lang="pt-BR" sz="2900" dirty="0"/>
              <a:t>Retorna a primeira linha no cursor e a torna a linha atual.</a:t>
            </a:r>
          </a:p>
          <a:p>
            <a:r>
              <a:rPr lang="pt-BR" sz="2900" b="1" dirty="0"/>
              <a:t>LAST</a:t>
            </a:r>
          </a:p>
          <a:p>
            <a:r>
              <a:rPr lang="pt-BR" sz="2900" dirty="0"/>
              <a:t>Retorna a última linha no cursor e a torna a linha atual.</a:t>
            </a:r>
          </a:p>
          <a:p>
            <a:r>
              <a:rPr lang="pt-BR" sz="2900" b="1" dirty="0"/>
              <a:t>ABSOLUTE { n| @</a:t>
            </a:r>
            <a:r>
              <a:rPr lang="pt-BR" sz="2900" b="1" dirty="0" err="1"/>
              <a:t>nvar</a:t>
            </a:r>
            <a:r>
              <a:rPr lang="pt-BR" sz="2900" b="1" dirty="0"/>
              <a:t>}</a:t>
            </a:r>
          </a:p>
          <a:p>
            <a:r>
              <a:rPr lang="pt-BR" sz="2900" dirty="0"/>
              <a:t>Se n ou @</a:t>
            </a:r>
            <a:r>
              <a:rPr lang="pt-BR" sz="2900" dirty="0" err="1"/>
              <a:t>nvar</a:t>
            </a:r>
            <a:r>
              <a:rPr lang="pt-BR" sz="2900" dirty="0"/>
              <a:t> é positivo, retorna a linha que está n linhas do início do cursor e torna a linha retornada a nova linha atual. Se n ou @</a:t>
            </a:r>
            <a:r>
              <a:rPr lang="pt-BR" sz="2900" dirty="0" err="1"/>
              <a:t>nvar</a:t>
            </a:r>
            <a:r>
              <a:rPr lang="pt-BR" sz="2900" dirty="0"/>
              <a:t> é negativo, retorna a linha que está n linhas antes do final do cursor e torna a linha retornada a nova linha atual. Se n ou @</a:t>
            </a:r>
            <a:r>
              <a:rPr lang="pt-BR" sz="2900" dirty="0" err="1"/>
              <a:t>nvar</a:t>
            </a:r>
            <a:r>
              <a:rPr lang="pt-BR" sz="2900" dirty="0"/>
              <a:t> é 0, nenhuma linha é retornada. n deve ser uma constante de inteiro e @</a:t>
            </a:r>
            <a:r>
              <a:rPr lang="pt-BR" sz="2900" dirty="0" err="1"/>
              <a:t>nvar</a:t>
            </a:r>
            <a:r>
              <a:rPr lang="pt-BR" sz="2900" dirty="0"/>
              <a:t> deve ser </a:t>
            </a:r>
            <a:r>
              <a:rPr lang="pt-BR" sz="2900" dirty="0" err="1"/>
              <a:t>smallint</a:t>
            </a:r>
            <a:r>
              <a:rPr lang="pt-BR" sz="2900" dirty="0"/>
              <a:t>, </a:t>
            </a:r>
            <a:r>
              <a:rPr lang="pt-BR" sz="2900" dirty="0" err="1"/>
              <a:t>tinyint</a:t>
            </a:r>
            <a:r>
              <a:rPr lang="pt-BR" sz="2900" dirty="0"/>
              <a:t> ou int.</a:t>
            </a:r>
          </a:p>
          <a:p>
            <a:r>
              <a:rPr lang="pt-BR" sz="2900" b="1" dirty="0"/>
              <a:t>RELATIVE { n| @</a:t>
            </a:r>
            <a:r>
              <a:rPr lang="pt-BR" sz="2900" b="1" dirty="0" err="1"/>
              <a:t>nvar</a:t>
            </a:r>
            <a:r>
              <a:rPr lang="pt-BR" sz="2900" b="1" dirty="0"/>
              <a:t>}</a:t>
            </a:r>
          </a:p>
          <a:p>
            <a:r>
              <a:rPr lang="pt-BR" sz="2900" dirty="0"/>
              <a:t>Se n ou @</a:t>
            </a:r>
            <a:r>
              <a:rPr lang="pt-BR" sz="2900" dirty="0" err="1"/>
              <a:t>nvar</a:t>
            </a:r>
            <a:r>
              <a:rPr lang="pt-BR" sz="2900" dirty="0"/>
              <a:t> é positivo, retorna a linha que está n linhas após a linha atual e torna a linha retornada a nova linha atual. Se n ou @</a:t>
            </a:r>
            <a:r>
              <a:rPr lang="pt-BR" sz="2900" dirty="0" err="1"/>
              <a:t>nvar</a:t>
            </a:r>
            <a:r>
              <a:rPr lang="pt-BR" sz="2900" dirty="0"/>
              <a:t> é negativo, retorna a linha que está n linhas antes da linha atual e torna a linha retornada a nova linha atual. Se n ou @</a:t>
            </a:r>
            <a:r>
              <a:rPr lang="pt-BR" sz="2900" dirty="0" err="1"/>
              <a:t>nvar</a:t>
            </a:r>
            <a:r>
              <a:rPr lang="pt-BR" sz="2900" dirty="0"/>
              <a:t> é 0, retorna a linha atual. Se FETCH RELATIVE é especificado com n ou @</a:t>
            </a:r>
            <a:r>
              <a:rPr lang="pt-BR" sz="2900" dirty="0" err="1"/>
              <a:t>nvar</a:t>
            </a:r>
            <a:r>
              <a:rPr lang="pt-BR" sz="2900" dirty="0"/>
              <a:t> definido como números negativos ou 0 na primeira busca feita em um cursor, nenhuma linha é retornada. n deve ser uma constante de inteiro e @</a:t>
            </a:r>
            <a:r>
              <a:rPr lang="pt-BR" sz="2900" dirty="0" err="1"/>
              <a:t>nvar</a:t>
            </a:r>
            <a:r>
              <a:rPr lang="pt-BR" sz="2900" dirty="0"/>
              <a:t> deve ser </a:t>
            </a:r>
            <a:r>
              <a:rPr lang="pt-BR" sz="2900" dirty="0" err="1"/>
              <a:t>smallint</a:t>
            </a:r>
            <a:r>
              <a:rPr lang="pt-BR" sz="2900" dirty="0"/>
              <a:t>, </a:t>
            </a:r>
            <a:r>
              <a:rPr lang="pt-BR" sz="2900" dirty="0" err="1"/>
              <a:t>tinyint</a:t>
            </a:r>
            <a:r>
              <a:rPr lang="pt-BR" sz="2900" dirty="0"/>
              <a:t> ou int.</a:t>
            </a:r>
            <a:r>
              <a:rPr lang="pt-BR" dirty="0"/>
              <a:t>	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93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CURSOR - MOVE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 comando MOVE reposiciona um cursor semelhantemente ao FETCH, no entanto sem recuperar qualquer dado.	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93" y="3259494"/>
            <a:ext cx="11307218" cy="991783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480" y="4814636"/>
            <a:ext cx="8988398" cy="137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30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USANDO CURSOR </a:t>
            </a:r>
            <a:r>
              <a:rPr lang="en-US" dirty="0"/>
              <a:t>UPDATE / DELETE WHERE CURRENT OF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Uma linha obtida ao percorrer o cursor pode ser atualizada ou removida utilizando os comandos </a:t>
            </a:r>
            <a:r>
              <a:rPr lang="pt-BR" b="1" dirty="0"/>
              <a:t>UPDATE </a:t>
            </a:r>
            <a:r>
              <a:rPr lang="pt-BR" dirty="0"/>
              <a:t>e </a:t>
            </a:r>
            <a:r>
              <a:rPr lang="pt-BR" b="1" dirty="0"/>
              <a:t>DELETE</a:t>
            </a:r>
            <a:r>
              <a:rPr lang="pt-BR" dirty="0"/>
              <a:t>, bem como utilizar a expressão </a:t>
            </a:r>
            <a:r>
              <a:rPr lang="pt-BR" b="1" dirty="0"/>
              <a:t>CURRENT OF </a:t>
            </a:r>
            <a:r>
              <a:rPr lang="pt-BR" dirty="0"/>
              <a:t>para identificar a linha atual.	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091" y="3412503"/>
            <a:ext cx="9162139" cy="97096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701" y="5084920"/>
            <a:ext cx="9269240" cy="79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443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USANDO CURSOR - CLOSE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 comando </a:t>
            </a:r>
            <a:r>
              <a:rPr lang="pt-BR" b="1" dirty="0"/>
              <a:t>CLOSE </a:t>
            </a:r>
            <a:r>
              <a:rPr lang="pt-BR" dirty="0"/>
              <a:t>fecha um cursor. É utilizado para liberar os recursos antes do fim da transação, ou liberar a variável do cursor para ser aberto novamente.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48" y="4231046"/>
            <a:ext cx="9333596" cy="78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12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USANDO CURSOR - 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4594"/>
            <a:ext cx="10515600" cy="5231875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CREATE TABLE alunos2 (</a:t>
            </a:r>
          </a:p>
          <a:p>
            <a:r>
              <a:rPr lang="pt-BR" dirty="0"/>
              <a:t>    id SERIAL PRIMARY KEY,</a:t>
            </a:r>
          </a:p>
          <a:p>
            <a:r>
              <a:rPr lang="pt-BR" dirty="0"/>
              <a:t>    </a:t>
            </a:r>
            <a:r>
              <a:rPr lang="pt-BR" dirty="0" err="1"/>
              <a:t>nom_alu</a:t>
            </a:r>
            <a:r>
              <a:rPr lang="pt-BR" dirty="0"/>
              <a:t> VARCHAR(100)</a:t>
            </a:r>
          </a:p>
          <a:p>
            <a:r>
              <a:rPr lang="pt-BR" dirty="0"/>
              <a:t>);</a:t>
            </a:r>
          </a:p>
          <a:p>
            <a:endParaRPr lang="pt-BR" dirty="0"/>
          </a:p>
          <a:p>
            <a:r>
              <a:rPr lang="pt-BR" dirty="0"/>
              <a:t>-- Inserir dados na tabela alunos</a:t>
            </a:r>
          </a:p>
          <a:p>
            <a:r>
              <a:rPr lang="pt-BR" dirty="0"/>
              <a:t>INSERT INTO alunos2 (</a:t>
            </a:r>
            <a:r>
              <a:rPr lang="pt-BR" dirty="0" err="1"/>
              <a:t>nom_alu</a:t>
            </a:r>
            <a:r>
              <a:rPr lang="pt-BR" dirty="0"/>
              <a:t>) VALUES ('Alice');</a:t>
            </a:r>
          </a:p>
          <a:p>
            <a:r>
              <a:rPr lang="pt-BR" dirty="0"/>
              <a:t>INSERT INTO alunos2 (</a:t>
            </a:r>
            <a:r>
              <a:rPr lang="pt-BR" dirty="0" err="1"/>
              <a:t>nom_alu</a:t>
            </a:r>
            <a:r>
              <a:rPr lang="pt-BR" dirty="0"/>
              <a:t>) VALUES ('Bob');</a:t>
            </a:r>
          </a:p>
          <a:p>
            <a:r>
              <a:rPr lang="pt-BR" dirty="0"/>
              <a:t>INSERT INTO alunos2 (</a:t>
            </a:r>
            <a:r>
              <a:rPr lang="pt-BR" dirty="0" err="1"/>
              <a:t>nom_alu</a:t>
            </a:r>
            <a:r>
              <a:rPr lang="pt-BR" dirty="0"/>
              <a:t>) VALUES ('Carol');</a:t>
            </a:r>
          </a:p>
          <a:p>
            <a:r>
              <a:rPr lang="pt-BR" dirty="0"/>
              <a:t>INSERT INTO alunos2 (</a:t>
            </a:r>
            <a:r>
              <a:rPr lang="pt-BR" dirty="0" err="1"/>
              <a:t>nom_alu</a:t>
            </a:r>
            <a:r>
              <a:rPr lang="pt-BR" dirty="0"/>
              <a:t>) VALUES ('David');</a:t>
            </a:r>
          </a:p>
          <a:p>
            <a:r>
              <a:rPr lang="pt-BR" dirty="0"/>
              <a:t>INSERT INTO alunos2 (</a:t>
            </a:r>
            <a:r>
              <a:rPr lang="pt-BR" dirty="0" err="1"/>
              <a:t>nom_alu</a:t>
            </a:r>
            <a:r>
              <a:rPr lang="pt-BR" dirty="0"/>
              <a:t>) VALUES ('</a:t>
            </a:r>
            <a:r>
              <a:rPr lang="pt-BR" dirty="0" err="1"/>
              <a:t>Eve</a:t>
            </a:r>
            <a:r>
              <a:rPr lang="pt-BR" dirty="0"/>
              <a:t>');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330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USANDO CURSOR - 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4594"/>
            <a:ext cx="10515600" cy="52318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CREATE OR REPLACE FUNCTION </a:t>
            </a:r>
            <a:r>
              <a:rPr lang="pt-BR" dirty="0" err="1"/>
              <a:t>refAlunos</a:t>
            </a:r>
            <a:r>
              <a:rPr lang="pt-BR" dirty="0"/>
              <a:t>() RETURNS VOID AS $$</a:t>
            </a:r>
          </a:p>
          <a:p>
            <a:pPr marL="0" indent="0">
              <a:buNone/>
            </a:pPr>
            <a:r>
              <a:rPr lang="pt-BR" dirty="0"/>
              <a:t>DECLARE</a:t>
            </a:r>
          </a:p>
          <a:p>
            <a:pPr marL="0" indent="0">
              <a:buNone/>
            </a:pPr>
            <a:r>
              <a:rPr lang="pt-BR" dirty="0"/>
              <a:t>    </a:t>
            </a:r>
            <a:r>
              <a:rPr lang="pt-BR" dirty="0" err="1"/>
              <a:t>exemplo_cursor_alunos</a:t>
            </a:r>
            <a:r>
              <a:rPr lang="pt-BR" dirty="0"/>
              <a:t> CURSOR FOR SELECT * FROM alunos2;</a:t>
            </a:r>
          </a:p>
          <a:p>
            <a:pPr marL="0" indent="0">
              <a:buNone/>
            </a:pPr>
            <a:r>
              <a:rPr lang="pt-BR" dirty="0"/>
              <a:t>    aluno2 alunos2%ROWTYPE;</a:t>
            </a:r>
          </a:p>
          <a:p>
            <a:pPr marL="0" indent="0">
              <a:buNone/>
            </a:pPr>
            <a:r>
              <a:rPr lang="pt-BR" dirty="0"/>
              <a:t>BEGIN</a:t>
            </a:r>
          </a:p>
          <a:p>
            <a:pPr marL="0" indent="0">
              <a:buNone/>
            </a:pPr>
            <a:r>
              <a:rPr lang="pt-BR" dirty="0"/>
              <a:t>    OPEN </a:t>
            </a:r>
            <a:r>
              <a:rPr lang="pt-BR" dirty="0" err="1"/>
              <a:t>exemplo_cursor_alunos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    -- Loop para percorrer os registros</a:t>
            </a:r>
          </a:p>
          <a:p>
            <a:pPr marL="0" indent="0">
              <a:buNone/>
            </a:pPr>
            <a:r>
              <a:rPr lang="pt-BR" dirty="0"/>
              <a:t>    LOOP</a:t>
            </a:r>
          </a:p>
          <a:p>
            <a:pPr marL="0" indent="0">
              <a:buNone/>
            </a:pPr>
            <a:r>
              <a:rPr lang="pt-BR" dirty="0"/>
              <a:t>        FETCH </a:t>
            </a:r>
            <a:r>
              <a:rPr lang="pt-BR" dirty="0" err="1"/>
              <a:t>exemplo_cursor_alunos</a:t>
            </a:r>
            <a:r>
              <a:rPr lang="pt-BR" dirty="0"/>
              <a:t> INTO aluno2;</a:t>
            </a:r>
          </a:p>
          <a:p>
            <a:pPr marL="0" indent="0">
              <a:buNone/>
            </a:pPr>
            <a:r>
              <a:rPr lang="pt-BR" dirty="0"/>
              <a:t>        EXIT WHEN NOT FOUND;</a:t>
            </a:r>
          </a:p>
          <a:p>
            <a:pPr marL="0" indent="0">
              <a:buNone/>
            </a:pPr>
            <a:r>
              <a:rPr lang="pt-BR" dirty="0"/>
              <a:t>        -- Exibir o nome do aluno</a:t>
            </a:r>
          </a:p>
          <a:p>
            <a:pPr marL="0" indent="0">
              <a:buNone/>
            </a:pPr>
            <a:r>
              <a:rPr lang="pt-BR" dirty="0"/>
              <a:t>        RAISE NOTICE 'Nome: %', aluno2.nom_alu;</a:t>
            </a:r>
          </a:p>
          <a:p>
            <a:pPr marL="0" indent="0">
              <a:buNone/>
            </a:pPr>
            <a:r>
              <a:rPr lang="pt-BR" dirty="0"/>
              <a:t>    END LOOP;</a:t>
            </a:r>
          </a:p>
          <a:p>
            <a:pPr marL="0" indent="0">
              <a:buNone/>
            </a:pPr>
            <a:r>
              <a:rPr lang="pt-BR" dirty="0"/>
              <a:t>    CLOSE </a:t>
            </a:r>
            <a:r>
              <a:rPr lang="pt-BR" dirty="0" err="1"/>
              <a:t>exemplo_cursor_alunos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END;</a:t>
            </a:r>
          </a:p>
          <a:p>
            <a:pPr marL="0" indent="0">
              <a:buNone/>
            </a:pPr>
            <a:r>
              <a:rPr lang="pt-BR" dirty="0"/>
              <a:t>$$ LANGUAGE </a:t>
            </a:r>
            <a:r>
              <a:rPr lang="pt-BR" dirty="0" err="1"/>
              <a:t>plpgsql</a:t>
            </a:r>
            <a:r>
              <a:rPr lang="pt-BR" dirty="0"/>
              <a:t>;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738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USANDO CURSOR - 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4594"/>
            <a:ext cx="10515600" cy="5231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BEGIN;</a:t>
            </a:r>
          </a:p>
          <a:p>
            <a:pPr marL="0" indent="0">
              <a:buNone/>
            </a:pPr>
            <a:r>
              <a:rPr lang="pt-BR" dirty="0"/>
              <a:t>SELECT </a:t>
            </a:r>
            <a:r>
              <a:rPr lang="pt-BR" dirty="0" err="1"/>
              <a:t>refAlunos</a:t>
            </a:r>
            <a:r>
              <a:rPr lang="pt-BR" dirty="0"/>
              <a:t>();</a:t>
            </a:r>
          </a:p>
          <a:p>
            <a:pPr marL="0" indent="0">
              <a:buNone/>
            </a:pPr>
            <a:r>
              <a:rPr lang="pt-BR" dirty="0"/>
              <a:t>COMMIT;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6701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- 2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4594"/>
            <a:ext cx="10515600" cy="52318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CREATE TABLE Produto ( </a:t>
            </a:r>
          </a:p>
          <a:p>
            <a:pPr marL="0" indent="0">
              <a:buNone/>
            </a:pPr>
            <a:r>
              <a:rPr lang="pt-BR" dirty="0" err="1"/>
              <a:t>cod_prod</a:t>
            </a:r>
            <a:r>
              <a:rPr lang="pt-BR" dirty="0"/>
              <a:t> INT PRIMARY KEY, </a:t>
            </a:r>
          </a:p>
          <a:p>
            <a:pPr marL="0" indent="0">
              <a:buNone/>
            </a:pPr>
            <a:r>
              <a:rPr lang="pt-BR" dirty="0" err="1"/>
              <a:t>descricao</a:t>
            </a:r>
            <a:r>
              <a:rPr lang="pt-BR" dirty="0"/>
              <a:t> VARCHAR(50) UNIQUE, </a:t>
            </a:r>
          </a:p>
          <a:p>
            <a:pPr marL="0" indent="0">
              <a:buNone/>
            </a:pPr>
            <a:r>
              <a:rPr lang="pt-BR" dirty="0" err="1"/>
              <a:t>qtde_disponivel</a:t>
            </a:r>
            <a:r>
              <a:rPr lang="pt-BR" dirty="0"/>
              <a:t> INT NOT NULL DEFAULT 0</a:t>
            </a:r>
          </a:p>
          <a:p>
            <a:pPr marL="0" indent="0">
              <a:buNone/>
            </a:pPr>
            <a:r>
              <a:rPr lang="pt-BR" dirty="0"/>
              <a:t>);</a:t>
            </a:r>
          </a:p>
          <a:p>
            <a:pPr marL="0" indent="0">
              <a:buNone/>
            </a:pPr>
            <a:r>
              <a:rPr lang="pt-BR" dirty="0"/>
              <a:t>INSERT INTO Produto VALUES (1, 'Feijão', 10);</a:t>
            </a:r>
          </a:p>
          <a:p>
            <a:pPr marL="0" indent="0">
              <a:buNone/>
            </a:pPr>
            <a:r>
              <a:rPr lang="pt-BR" dirty="0"/>
              <a:t>INSERT INTO Produto VALUES (2, 'Arroz', 5);</a:t>
            </a:r>
          </a:p>
          <a:p>
            <a:pPr marL="0" indent="0">
              <a:buNone/>
            </a:pPr>
            <a:r>
              <a:rPr lang="pt-BR" dirty="0"/>
              <a:t>INSERT INTO Produto VALUES (3, 'Macarrão', 15);</a:t>
            </a:r>
          </a:p>
          <a:p>
            <a:pPr marL="0" indent="0">
              <a:buNone/>
            </a:pPr>
            <a:r>
              <a:rPr lang="pt-BR" dirty="0"/>
              <a:t>INSERT INTO Produto VALUES (4, 'Farinha', 25);</a:t>
            </a:r>
          </a:p>
          <a:p>
            <a:pPr marL="0" indent="0">
              <a:buNone/>
            </a:pPr>
            <a:r>
              <a:rPr lang="pt-BR" dirty="0"/>
              <a:t>INSERT INTO Produto VALUES (5, 'Fubá', 7);</a:t>
            </a:r>
          </a:p>
          <a:p>
            <a:pPr marL="0" indent="0">
              <a:buNone/>
            </a:pPr>
            <a:r>
              <a:rPr lang="pt-BR" dirty="0"/>
              <a:t>INSERT INTO Produto VALUES (6, 'Achocolatado', 10);</a:t>
            </a:r>
          </a:p>
          <a:p>
            <a:pPr marL="0" indent="0">
              <a:buNone/>
            </a:pPr>
            <a:r>
              <a:rPr lang="pt-BR" dirty="0"/>
              <a:t>INSERT INTO Produto VALUES (7, 'Sal', 15);</a:t>
            </a:r>
          </a:p>
          <a:p>
            <a:pPr marL="0" indent="0">
              <a:buNone/>
            </a:pPr>
            <a:r>
              <a:rPr lang="pt-BR" dirty="0"/>
              <a:t>INSERT INTO Produto VALUES (8, 'Açúcar', 10);</a:t>
            </a:r>
          </a:p>
          <a:p>
            <a:pPr marL="0" indent="0">
              <a:buNone/>
            </a:pPr>
            <a:r>
              <a:rPr lang="pt-BR" dirty="0"/>
              <a:t>INSERT INTO Produto VALUES (9, 'Óleo', 30);</a:t>
            </a:r>
          </a:p>
          <a:p>
            <a:pPr marL="0" indent="0">
              <a:buNone/>
            </a:pPr>
            <a:r>
              <a:rPr lang="pt-BR" dirty="0" err="1"/>
              <a:t>select</a:t>
            </a:r>
            <a:r>
              <a:rPr lang="pt-BR" dirty="0"/>
              <a:t> * </a:t>
            </a:r>
            <a:r>
              <a:rPr lang="pt-BR" dirty="0" err="1"/>
              <a:t>from</a:t>
            </a:r>
            <a:r>
              <a:rPr lang="pt-BR" dirty="0"/>
              <a:t> produto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456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- 2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4594"/>
            <a:ext cx="10515600" cy="5231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--criar um cursor para fazer a busca.</a:t>
            </a:r>
          </a:p>
          <a:p>
            <a:pPr marL="0" indent="0">
              <a:buNone/>
            </a:pPr>
            <a:r>
              <a:rPr lang="pt-BR" dirty="0" err="1"/>
              <a:t>create</a:t>
            </a:r>
            <a:r>
              <a:rPr lang="pt-BR" dirty="0"/>
              <a:t>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dirty="0" err="1"/>
              <a:t>replace</a:t>
            </a:r>
            <a:r>
              <a:rPr lang="pt-BR" dirty="0"/>
              <a:t>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listagem_produtos</a:t>
            </a:r>
            <a:r>
              <a:rPr lang="pt-BR" dirty="0"/>
              <a:t> (</a:t>
            </a:r>
            <a:r>
              <a:rPr lang="pt-BR" dirty="0" err="1"/>
              <a:t>prod_cursor</a:t>
            </a:r>
            <a:r>
              <a:rPr lang="pt-BR" dirty="0"/>
              <a:t> </a:t>
            </a:r>
            <a:r>
              <a:rPr lang="pt-BR" dirty="0" err="1"/>
              <a:t>refcursor</a:t>
            </a:r>
            <a:r>
              <a:rPr lang="pt-BR" dirty="0"/>
              <a:t>) </a:t>
            </a:r>
            <a:r>
              <a:rPr lang="pt-BR" dirty="0" err="1"/>
              <a:t>returns</a:t>
            </a:r>
            <a:r>
              <a:rPr lang="pt-BR" dirty="0"/>
              <a:t> </a:t>
            </a:r>
            <a:r>
              <a:rPr lang="pt-BR" dirty="0" err="1"/>
              <a:t>refcursor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as </a:t>
            </a:r>
          </a:p>
          <a:p>
            <a:pPr marL="0" indent="0">
              <a:buNone/>
            </a:pPr>
            <a:r>
              <a:rPr lang="pt-BR" dirty="0"/>
              <a:t>$$</a:t>
            </a:r>
          </a:p>
          <a:p>
            <a:pPr marL="0" indent="0">
              <a:buNone/>
            </a:pPr>
            <a:r>
              <a:rPr lang="pt-BR" dirty="0" err="1"/>
              <a:t>begin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	open </a:t>
            </a:r>
            <a:r>
              <a:rPr lang="pt-BR" dirty="0" err="1"/>
              <a:t>prod_cursor</a:t>
            </a:r>
            <a:r>
              <a:rPr lang="pt-BR" dirty="0"/>
              <a:t> for </a:t>
            </a:r>
            <a:r>
              <a:rPr lang="pt-BR" dirty="0" err="1"/>
              <a:t>select</a:t>
            </a:r>
            <a:r>
              <a:rPr lang="pt-BR" dirty="0"/>
              <a:t> * </a:t>
            </a:r>
            <a:r>
              <a:rPr lang="pt-BR" dirty="0" err="1"/>
              <a:t>from</a:t>
            </a:r>
            <a:r>
              <a:rPr lang="pt-BR" dirty="0"/>
              <a:t> produto;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prod_cursor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 err="1"/>
              <a:t>end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$$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plpgsql</a:t>
            </a:r>
            <a:r>
              <a:rPr lang="pt-BR" dirty="0"/>
              <a:t>;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074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- 2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4594"/>
            <a:ext cx="10515600" cy="52318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--testa a função</a:t>
            </a:r>
          </a:p>
          <a:p>
            <a:pPr marL="0" indent="0">
              <a:buNone/>
            </a:pPr>
            <a:r>
              <a:rPr lang="pt-BR" dirty="0"/>
              <a:t>--retorna a primeira tupla</a:t>
            </a:r>
          </a:p>
          <a:p>
            <a:pPr marL="0" indent="0">
              <a:buNone/>
            </a:pPr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listagem_produtos</a:t>
            </a:r>
            <a:r>
              <a:rPr lang="pt-BR" dirty="0"/>
              <a:t> ('</a:t>
            </a:r>
            <a:r>
              <a:rPr lang="pt-BR" dirty="0" err="1"/>
              <a:t>cursor_prod</a:t>
            </a:r>
            <a:r>
              <a:rPr lang="pt-BR" dirty="0"/>
              <a:t>');</a:t>
            </a:r>
          </a:p>
          <a:p>
            <a:pPr marL="0" indent="0">
              <a:buNone/>
            </a:pPr>
            <a:r>
              <a:rPr lang="pt-BR" dirty="0" err="1"/>
              <a:t>fetch</a:t>
            </a:r>
            <a:r>
              <a:rPr lang="pt-BR" dirty="0"/>
              <a:t> </a:t>
            </a:r>
            <a:r>
              <a:rPr lang="pt-BR" dirty="0" err="1"/>
              <a:t>first</a:t>
            </a:r>
            <a:r>
              <a:rPr lang="pt-BR" dirty="0"/>
              <a:t> in </a:t>
            </a:r>
            <a:r>
              <a:rPr lang="pt-BR" dirty="0" err="1"/>
              <a:t>cursor_prod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--retornar as 4 primeiras tuplas</a:t>
            </a:r>
          </a:p>
          <a:p>
            <a:pPr marL="0" indent="0">
              <a:buNone/>
            </a:pPr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listagem_produtos</a:t>
            </a:r>
            <a:r>
              <a:rPr lang="pt-BR" dirty="0"/>
              <a:t> ('</a:t>
            </a:r>
            <a:r>
              <a:rPr lang="pt-BR" dirty="0" err="1"/>
              <a:t>cursor_prod</a:t>
            </a:r>
            <a:r>
              <a:rPr lang="pt-BR" dirty="0"/>
              <a:t>');</a:t>
            </a:r>
          </a:p>
          <a:p>
            <a:pPr marL="0" indent="0">
              <a:buNone/>
            </a:pPr>
            <a:r>
              <a:rPr lang="pt-BR" dirty="0" err="1"/>
              <a:t>fetch</a:t>
            </a:r>
            <a:r>
              <a:rPr lang="pt-BR" dirty="0"/>
              <a:t> 4 in </a:t>
            </a:r>
            <a:r>
              <a:rPr lang="pt-BR" dirty="0" err="1"/>
              <a:t>cursor_prod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--retornar apenas a 4  tupla</a:t>
            </a:r>
          </a:p>
          <a:p>
            <a:pPr marL="0" indent="0">
              <a:buNone/>
            </a:pPr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listagem_produtos</a:t>
            </a:r>
            <a:r>
              <a:rPr lang="pt-BR" dirty="0"/>
              <a:t> ('</a:t>
            </a:r>
            <a:r>
              <a:rPr lang="pt-BR" dirty="0" err="1"/>
              <a:t>cursor_prod</a:t>
            </a:r>
            <a:r>
              <a:rPr lang="pt-BR" dirty="0"/>
              <a:t>');</a:t>
            </a:r>
          </a:p>
          <a:p>
            <a:pPr marL="0" indent="0">
              <a:buNone/>
            </a:pPr>
            <a:r>
              <a:rPr lang="pt-BR" dirty="0" err="1"/>
              <a:t>fetch</a:t>
            </a:r>
            <a:r>
              <a:rPr lang="pt-BR" dirty="0"/>
              <a:t> </a:t>
            </a:r>
            <a:r>
              <a:rPr lang="pt-BR" dirty="0" err="1"/>
              <a:t>absolute</a:t>
            </a:r>
            <a:r>
              <a:rPr lang="pt-BR" dirty="0"/>
              <a:t> 4 in </a:t>
            </a:r>
            <a:r>
              <a:rPr lang="pt-BR" dirty="0" err="1"/>
              <a:t>cursor_prod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--retornar a linha 4 primeiro (porém não vamos ver) e depois ele soma as turmas conforme o valor da </a:t>
            </a:r>
            <a:r>
              <a:rPr lang="pt-BR" dirty="0" err="1"/>
              <a:t>relative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-- ele sobrescreve o primeiro retorno e usa ele como base para o segundo</a:t>
            </a:r>
          </a:p>
          <a:p>
            <a:pPr marL="0" indent="0">
              <a:buNone/>
            </a:pPr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listagem_produtos</a:t>
            </a:r>
            <a:r>
              <a:rPr lang="pt-BR" dirty="0"/>
              <a:t> ('</a:t>
            </a:r>
            <a:r>
              <a:rPr lang="pt-BR" dirty="0" err="1"/>
              <a:t>cursor_prod</a:t>
            </a:r>
            <a:r>
              <a:rPr lang="pt-BR" dirty="0"/>
              <a:t>');</a:t>
            </a:r>
          </a:p>
          <a:p>
            <a:pPr marL="0" indent="0">
              <a:buNone/>
            </a:pPr>
            <a:r>
              <a:rPr lang="pt-BR" dirty="0" err="1"/>
              <a:t>fetch</a:t>
            </a:r>
            <a:r>
              <a:rPr lang="pt-BR" dirty="0"/>
              <a:t> </a:t>
            </a:r>
            <a:r>
              <a:rPr lang="pt-BR" dirty="0" err="1"/>
              <a:t>absolute</a:t>
            </a:r>
            <a:r>
              <a:rPr lang="pt-BR" dirty="0"/>
              <a:t> 4 in </a:t>
            </a:r>
            <a:r>
              <a:rPr lang="pt-BR" dirty="0" err="1"/>
              <a:t>cursor_prod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 err="1"/>
              <a:t>fetch</a:t>
            </a:r>
            <a:r>
              <a:rPr lang="pt-BR" dirty="0"/>
              <a:t> </a:t>
            </a:r>
            <a:r>
              <a:rPr lang="pt-BR" dirty="0" err="1"/>
              <a:t>relative</a:t>
            </a:r>
            <a:r>
              <a:rPr lang="pt-BR" dirty="0"/>
              <a:t> 3 in </a:t>
            </a:r>
            <a:r>
              <a:rPr lang="pt-BR" dirty="0" err="1"/>
              <a:t>cursor_prod</a:t>
            </a:r>
            <a:r>
              <a:rPr lang="pt-BR" dirty="0"/>
              <a:t>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059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4594"/>
            <a:ext cx="10515600" cy="5231875"/>
          </a:xfrm>
        </p:spPr>
        <p:txBody>
          <a:bodyPr>
            <a:normAutofit/>
          </a:bodyPr>
          <a:lstStyle/>
          <a:p>
            <a:r>
              <a:rPr lang="pt-BR" dirty="0"/>
              <a:t>Faça um exemplo do cursor </a:t>
            </a:r>
            <a:r>
              <a:rPr lang="pt-BR" dirty="0" err="1"/>
              <a:t>listagem_produtos</a:t>
            </a:r>
            <a:r>
              <a:rPr lang="pt-BR" dirty="0"/>
              <a:t>  para cada opção do </a:t>
            </a:r>
            <a:r>
              <a:rPr lang="pt-BR" dirty="0" err="1"/>
              <a:t>fetch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Criem um nova tabela chamada carros , com 5 atributos e no mínimo 20 </a:t>
            </a:r>
            <a:r>
              <a:rPr lang="pt-BR" err="1"/>
              <a:t>inserts</a:t>
            </a:r>
            <a:r>
              <a:rPr lang="pt-BR"/>
              <a:t>, e </a:t>
            </a:r>
            <a:r>
              <a:rPr lang="pt-BR" dirty="0"/>
              <a:t>reescrevam os testes realizados acima. 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8394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REFERÊNCIAS</a:t>
            </a:r>
            <a:br>
              <a:rPr lang="pt-BR" dirty="0"/>
            </a:br>
            <a:r>
              <a:rPr lang="pt-BR" dirty="0"/>
              <a:t>BIBLIOGRÁFICAS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err="1"/>
              <a:t>PostgreSQL</a:t>
            </a:r>
            <a:r>
              <a:rPr lang="pt-BR" dirty="0"/>
              <a:t> 9.0.22 </a:t>
            </a:r>
            <a:r>
              <a:rPr lang="pt-BR" dirty="0" err="1"/>
              <a:t>Documentation</a:t>
            </a:r>
            <a:r>
              <a:rPr lang="pt-BR" dirty="0"/>
              <a:t>. Disponível em: &lt;https://www.postgresql.org/files/documentation/pdf/9. 0/postgresql-9.0-US.pdf&gt;. Acesso em 03 Jan. 2024.</a:t>
            </a:r>
          </a:p>
          <a:p>
            <a:r>
              <a:rPr lang="pt-BR" dirty="0"/>
              <a:t>CARVALHO, VINÍCIUS. </a:t>
            </a:r>
            <a:r>
              <a:rPr lang="pt-BR" dirty="0" err="1"/>
              <a:t>PostgreSQL</a:t>
            </a:r>
            <a:r>
              <a:rPr lang="pt-BR" dirty="0"/>
              <a:t>: Banco de dados para aplicações web modernas. 1 ed. São Paulo: Casa do Código, 2017.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4465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2169</TotalTime>
  <Words>1674</Words>
  <Application>Microsoft Office PowerPoint</Application>
  <PresentationFormat>Widescreen</PresentationFormat>
  <Paragraphs>186</Paragraphs>
  <Slides>24</Slides>
  <Notes>1</Notes>
  <HiddenSlides>3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do Office</vt:lpstr>
      <vt:lpstr>Apresentação do PowerPoint</vt:lpstr>
      <vt:lpstr>CURSOR</vt:lpstr>
      <vt:lpstr>CURSOR</vt:lpstr>
      <vt:lpstr>CURSOR</vt:lpstr>
      <vt:lpstr>DECLARAÇÃO DE CURSORES</vt:lpstr>
      <vt:lpstr>DECLARAÇÃO DE CURSORES UNBOUND</vt:lpstr>
      <vt:lpstr>DECLARAÇÃO DE CURSORES BOUND</vt:lpstr>
      <vt:lpstr>DECLARAÇÃO DE CURSORES</vt:lpstr>
      <vt:lpstr>DECLARAÇÃO DE CURSORES</vt:lpstr>
      <vt:lpstr>ABRINDO UM UNBOUND CURSOR</vt:lpstr>
      <vt:lpstr>ABRINDO UM BOUND CURSOR</vt:lpstr>
      <vt:lpstr>USANDO CURSOR - FETCH</vt:lpstr>
      <vt:lpstr>USANDO CURSOR - FETCH</vt:lpstr>
      <vt:lpstr>USANDO CURSOR - MOVE</vt:lpstr>
      <vt:lpstr>USANDO CURSOR UPDATE / DELETE WHERE CURRENT OF</vt:lpstr>
      <vt:lpstr>USANDO CURSOR - CLOSE</vt:lpstr>
      <vt:lpstr>USANDO CURSOR - EXEMPLO</vt:lpstr>
      <vt:lpstr>USANDO CURSOR - EXEMPLO</vt:lpstr>
      <vt:lpstr>USANDO CURSOR - EXEMPLO</vt:lpstr>
      <vt:lpstr>EXEMPLO - 2</vt:lpstr>
      <vt:lpstr>EXEMPLO - 2</vt:lpstr>
      <vt:lpstr>EXEMPLO - 2</vt:lpstr>
      <vt:lpstr>Exercício</vt:lpstr>
      <vt:lpstr>REFERÊNCIAS BIBLIOGRÁFICAS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95</cp:revision>
  <dcterms:created xsi:type="dcterms:W3CDTF">2023-01-24T23:29:32Z</dcterms:created>
  <dcterms:modified xsi:type="dcterms:W3CDTF">2024-10-01T18:33:28Z</dcterms:modified>
</cp:coreProperties>
</file>