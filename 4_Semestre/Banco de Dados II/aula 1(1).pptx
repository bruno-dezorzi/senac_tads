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12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330616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76460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459965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1857208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Content Placeholder 3"/>
          <p:cNvSpPr>
            <a:spLocks noGrp="1"/>
          </p:cNvSpPr>
          <p:nvPr>
            <p:ph sz="half" idx="2"/>
          </p:nvPr>
        </p:nvSpPr>
        <p:spPr>
          <a:xfrm>
            <a:off x="629842" y="2505075"/>
            <a:ext cx="3868340"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Content Placeholder 5"/>
          <p:cNvSpPr>
            <a:spLocks noGrp="1"/>
          </p:cNvSpPr>
          <p:nvPr>
            <p:ph sz="quarter" idx="4"/>
          </p:nvPr>
        </p:nvSpPr>
        <p:spPr>
          <a:xfrm>
            <a:off x="4629150" y="2505075"/>
            <a:ext cx="3887391"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8" name="Footer Placeholder 7"/>
          <p:cNvSpPr>
            <a:spLocks noGrp="1"/>
          </p:cNvSpPr>
          <p:nvPr>
            <p:ph type="ftr" sz="quarter" idx="11"/>
          </p:nvPr>
        </p:nvSpPr>
        <p:spPr/>
        <p:txBody>
          <a:bodyPr/>
          <a:lstStyle/>
          <a:p>
            <a:endParaRPr lang="pt-BR" dirty="0"/>
          </a:p>
        </p:txBody>
      </p:sp>
      <p:sp>
        <p:nvSpPr>
          <p:cNvPr id="9" name="Slide Number Placeholder 8"/>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3315532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4" name="Footer Placeholder 3"/>
          <p:cNvSpPr>
            <a:spLocks noGrp="1"/>
          </p:cNvSpPr>
          <p:nvPr>
            <p:ph type="ftr" sz="quarter" idx="11"/>
          </p:nvPr>
        </p:nvSpPr>
        <p:spPr/>
        <p:txBody>
          <a:bodyPr/>
          <a:lstStyle/>
          <a:p>
            <a:endParaRPr lang="pt-BR" dirty="0"/>
          </a:p>
        </p:txBody>
      </p:sp>
      <p:sp>
        <p:nvSpPr>
          <p:cNvPr id="5" name="Slide Number Placeholder 4"/>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3822384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3" name="Footer Placeholder 2"/>
          <p:cNvSpPr>
            <a:spLocks noGrp="1"/>
          </p:cNvSpPr>
          <p:nvPr>
            <p:ph type="ftr" sz="quarter" idx="11"/>
          </p:nvPr>
        </p:nvSpPr>
        <p:spPr/>
        <p:txBody>
          <a:bodyPr/>
          <a:lstStyle/>
          <a:p>
            <a:endParaRPr lang="pt-BR" dirty="0"/>
          </a:p>
        </p:txBody>
      </p:sp>
      <p:sp>
        <p:nvSpPr>
          <p:cNvPr id="4" name="Slide Number Placeholder 3"/>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2907261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3686831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Date Placeholder 4"/>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2706468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595870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4AD9F01-DE70-421D-913C-5540CBA8C3E6}" type="datetimeFigureOut">
              <a:rPr lang="pt-BR" smtClean="0"/>
              <a:t>22/07/2024</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B98F3264-6037-4C1F-93DF-E4F182543E70}" type="slidenum">
              <a:rPr lang="pt-BR" smtClean="0"/>
              <a:t>‹nº›</a:t>
            </a:fld>
            <a:endParaRPr lang="pt-BR" dirty="0"/>
          </a:p>
        </p:txBody>
      </p:sp>
    </p:spTree>
    <p:extLst>
      <p:ext uri="{BB962C8B-B14F-4D97-AF65-F5344CB8AC3E}">
        <p14:creationId xmlns:p14="http://schemas.microsoft.com/office/powerpoint/2010/main" val="344388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AD9F01-DE70-421D-913C-5540CBA8C3E6}" type="datetimeFigureOut">
              <a:rPr lang="pt-BR" smtClean="0"/>
              <a:t>22/07/2024</a:t>
            </a:fld>
            <a:endParaRPr lang="pt-BR"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8F3264-6037-4C1F-93DF-E4F182543E70}" type="slidenum">
              <a:rPr lang="pt-BR" smtClean="0"/>
              <a:t>‹nº›</a:t>
            </a:fld>
            <a:endParaRPr lang="pt-BR" dirty="0"/>
          </a:p>
        </p:txBody>
      </p:sp>
    </p:spTree>
    <p:extLst>
      <p:ext uri="{BB962C8B-B14F-4D97-AF65-F5344CB8AC3E}">
        <p14:creationId xmlns:p14="http://schemas.microsoft.com/office/powerpoint/2010/main" val="40589945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 xmlns:a16="http://schemas.microsoft.com/office/drawing/2014/main" id="{19D32F93-50AC-4C46-A5DB-291C60DDB7B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m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977" y="919321"/>
            <a:ext cx="2652916" cy="1551956"/>
          </a:xfrm>
          <a:prstGeom prst="rect">
            <a:avLst/>
          </a:prstGeom>
        </p:spPr>
      </p:pic>
      <p:sp>
        <p:nvSpPr>
          <p:cNvPr id="11" name="Right Triangle 10">
            <a:extLst>
              <a:ext uri="{FF2B5EF4-FFF2-40B4-BE49-F238E27FC236}">
                <a16:creationId xmlns="" xmlns:a16="http://schemas.microsoft.com/office/drawing/2014/main" id="{827DC2C4-B485-428A-BF4A-472D2967F47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 xmlns:a16="http://schemas.microsoft.com/office/drawing/2014/main" id="{EE04B5EB-F158-4507-90DD-BD23620C7C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966977" y="3194465"/>
            <a:ext cx="6691254" cy="1320997"/>
          </a:xfrm>
        </p:spPr>
        <p:txBody>
          <a:bodyPr anchor="b">
            <a:normAutofit/>
          </a:bodyPr>
          <a:lstStyle/>
          <a:p>
            <a:pPr algn="l"/>
            <a:r>
              <a:rPr lang="pt-BR" sz="2800" dirty="0" smtClean="0"/>
              <a:t>BANCO DE DADOS II</a:t>
            </a:r>
            <a:endParaRPr lang="pt-BR" sz="2800" dirty="0"/>
          </a:p>
        </p:txBody>
      </p:sp>
      <p:sp>
        <p:nvSpPr>
          <p:cNvPr id="3" name="Subtítulo 2"/>
          <p:cNvSpPr>
            <a:spLocks noGrp="1"/>
          </p:cNvSpPr>
          <p:nvPr>
            <p:ph type="subTitle" idx="1"/>
          </p:nvPr>
        </p:nvSpPr>
        <p:spPr>
          <a:xfrm>
            <a:off x="966977" y="5142305"/>
            <a:ext cx="5490973" cy="753165"/>
          </a:xfrm>
        </p:spPr>
        <p:txBody>
          <a:bodyPr anchor="t">
            <a:normAutofit/>
          </a:bodyPr>
          <a:lstStyle/>
          <a:p>
            <a:pPr algn="l"/>
            <a:r>
              <a:rPr lang="pt-BR" dirty="0"/>
              <a:t>Prof. Me. Matheus </a:t>
            </a:r>
            <a:r>
              <a:rPr lang="pt-BR" dirty="0" err="1"/>
              <a:t>Raffael</a:t>
            </a:r>
            <a:r>
              <a:rPr lang="pt-BR" dirty="0"/>
              <a:t> Simon</a:t>
            </a:r>
          </a:p>
        </p:txBody>
      </p:sp>
      <p:sp>
        <p:nvSpPr>
          <p:cNvPr id="8" name="Título 1"/>
          <p:cNvSpPr txBox="1">
            <a:spLocks/>
          </p:cNvSpPr>
          <p:nvPr/>
        </p:nvSpPr>
        <p:spPr>
          <a:xfrm>
            <a:off x="966977" y="2353635"/>
            <a:ext cx="6691254" cy="1320997"/>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pt-BR" sz="3900" dirty="0" smtClean="0"/>
              <a:t>TECNOLOGIA EM ANÁLISE E DESENVOLVIMENTO DE SISTEMAS</a:t>
            </a:r>
            <a:endParaRPr lang="pt-BR" sz="3900" dirty="0"/>
          </a:p>
        </p:txBody>
      </p:sp>
    </p:spTree>
    <p:extLst>
      <p:ext uri="{BB962C8B-B14F-4D97-AF65-F5344CB8AC3E}">
        <p14:creationId xmlns:p14="http://schemas.microsoft.com/office/powerpoint/2010/main" val="15093213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Ementa</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a:bodyPr>
          <a:lstStyle/>
          <a:p>
            <a:r>
              <a:rPr lang="pt-BR" sz="2500" dirty="0"/>
              <a:t>SQL Avançada, DDL, DML. Restrições de integridade de dados, tipos de junções, manipulação de junções de tabelas. Funções de agregação, operações sobre conjuntos. Operações sobre Visões em banco de dados. Processamento e otimização de consultas. </a:t>
            </a:r>
            <a:r>
              <a:rPr lang="pt-BR" sz="2500" dirty="0" err="1"/>
              <a:t>Stored</a:t>
            </a:r>
            <a:r>
              <a:rPr lang="pt-BR" sz="2500" dirty="0"/>
              <a:t> Procedures. </a:t>
            </a:r>
            <a:r>
              <a:rPr lang="pt-BR" sz="2500" dirty="0" err="1"/>
              <a:t>Functions</a:t>
            </a:r>
            <a:r>
              <a:rPr lang="pt-BR" sz="2500" dirty="0"/>
              <a:t>. Triggers. Transações. Controle de concorrência e recuperação.</a:t>
            </a:r>
            <a:endParaRPr lang="pt-BR" sz="1600" dirty="0" smtClean="0"/>
          </a:p>
          <a:p>
            <a:endParaRPr lang="pt-BR" sz="1600" dirty="0" smtClean="0"/>
          </a:p>
        </p:txBody>
      </p:sp>
    </p:spTree>
    <p:extLst>
      <p:ext uri="{BB962C8B-B14F-4D97-AF65-F5344CB8AC3E}">
        <p14:creationId xmlns:p14="http://schemas.microsoft.com/office/powerpoint/2010/main" val="12437854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Sistema de Avaliação</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a:bodyPr>
          <a:lstStyle/>
          <a:p>
            <a:r>
              <a:rPr lang="pt-BR" sz="2500" dirty="0"/>
              <a:t>Prova com peso 6.</a:t>
            </a:r>
          </a:p>
          <a:p>
            <a:r>
              <a:rPr lang="pt-BR" sz="2500" dirty="0"/>
              <a:t>Trabalhos teóricos ou práticos com peso 4.</a:t>
            </a:r>
          </a:p>
          <a:p>
            <a:r>
              <a:rPr lang="pt-BR" sz="2500" dirty="0"/>
              <a:t>Os alunos serão avaliados em dois bimestres.</a:t>
            </a:r>
          </a:p>
          <a:p>
            <a:r>
              <a:rPr lang="pt-BR" sz="2500" dirty="0"/>
              <a:t>A nota final será a nota do 1º B. somados com o 2º B. dividido por 2.</a:t>
            </a:r>
          </a:p>
          <a:p>
            <a:endParaRPr lang="pt-BR" sz="1600" dirty="0" smtClean="0"/>
          </a:p>
        </p:txBody>
      </p:sp>
    </p:spTree>
    <p:extLst>
      <p:ext uri="{BB962C8B-B14F-4D97-AF65-F5344CB8AC3E}">
        <p14:creationId xmlns:p14="http://schemas.microsoft.com/office/powerpoint/2010/main" val="22954923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Conteúdo programático</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lnSpcReduction="10000"/>
          </a:bodyPr>
          <a:lstStyle/>
          <a:p>
            <a:r>
              <a:rPr lang="pt-BR" sz="2500" dirty="0"/>
              <a:t>Introdução ao Banco de Dados </a:t>
            </a:r>
            <a:r>
              <a:rPr lang="pt-BR" sz="2500" dirty="0" smtClean="0"/>
              <a:t>2.</a:t>
            </a:r>
          </a:p>
          <a:p>
            <a:r>
              <a:rPr lang="pt-BR" sz="2500" dirty="0"/>
              <a:t>SQL Avançada utilizando DDL e </a:t>
            </a:r>
            <a:r>
              <a:rPr lang="pt-BR" sz="2500" dirty="0" smtClean="0"/>
              <a:t>DML</a:t>
            </a:r>
          </a:p>
          <a:p>
            <a:r>
              <a:rPr lang="pt-BR" sz="2500" dirty="0"/>
              <a:t>Restrições de Integridade de Dados e Tipos de Junções </a:t>
            </a:r>
            <a:endParaRPr lang="pt-BR" sz="2500" dirty="0" smtClean="0"/>
          </a:p>
          <a:p>
            <a:r>
              <a:rPr lang="pt-BR" sz="2500" dirty="0"/>
              <a:t>Manipulação de Junções de Tabelas e Operações sobre </a:t>
            </a:r>
            <a:r>
              <a:rPr lang="pt-BR" sz="2500" dirty="0" smtClean="0"/>
              <a:t>Conjuntos</a:t>
            </a:r>
          </a:p>
          <a:p>
            <a:r>
              <a:rPr lang="pt-BR" sz="2500" dirty="0"/>
              <a:t>Operações sobre Visões em Bancos de Dados</a:t>
            </a:r>
            <a:endParaRPr lang="pt-BR" sz="2500" dirty="0" smtClean="0"/>
          </a:p>
          <a:p>
            <a:endParaRPr lang="pt-BR" sz="1600" dirty="0" smtClean="0"/>
          </a:p>
        </p:txBody>
      </p:sp>
    </p:spTree>
    <p:extLst>
      <p:ext uri="{BB962C8B-B14F-4D97-AF65-F5344CB8AC3E}">
        <p14:creationId xmlns:p14="http://schemas.microsoft.com/office/powerpoint/2010/main" val="894067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Conteúdo programático</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a:bodyPr>
          <a:lstStyle/>
          <a:p>
            <a:r>
              <a:rPr lang="pt-BR" sz="2500" dirty="0"/>
              <a:t>Processamento e Otimização de Consultas </a:t>
            </a:r>
            <a:endParaRPr lang="pt-BR" sz="2500" dirty="0" smtClean="0"/>
          </a:p>
          <a:p>
            <a:r>
              <a:rPr lang="pt-BR" sz="2500" dirty="0" err="1"/>
              <a:t>Stored</a:t>
            </a:r>
            <a:r>
              <a:rPr lang="pt-BR" sz="2500" dirty="0"/>
              <a:t> </a:t>
            </a:r>
            <a:r>
              <a:rPr lang="pt-BR" sz="2500" dirty="0" smtClean="0"/>
              <a:t>Procedures</a:t>
            </a:r>
            <a:endParaRPr lang="pt-BR" sz="1600" dirty="0"/>
          </a:p>
          <a:p>
            <a:r>
              <a:rPr lang="pt-BR" sz="2500" dirty="0" err="1"/>
              <a:t>Stored</a:t>
            </a:r>
            <a:r>
              <a:rPr lang="pt-BR" sz="2500" dirty="0"/>
              <a:t>  </a:t>
            </a:r>
            <a:r>
              <a:rPr lang="pt-BR" sz="2500" dirty="0" err="1" smtClean="0"/>
              <a:t>Functions</a:t>
            </a:r>
            <a:endParaRPr lang="pt-BR" sz="2500" dirty="0" smtClean="0"/>
          </a:p>
          <a:p>
            <a:r>
              <a:rPr lang="pt-BR" sz="2500" dirty="0" smtClean="0"/>
              <a:t>Triggers</a:t>
            </a:r>
          </a:p>
          <a:p>
            <a:r>
              <a:rPr lang="pt-BR" sz="2500" dirty="0" smtClean="0"/>
              <a:t>Transações</a:t>
            </a:r>
          </a:p>
          <a:p>
            <a:r>
              <a:rPr lang="pt-BR" sz="2500" dirty="0" smtClean="0"/>
              <a:t>Controle de Concorrência</a:t>
            </a:r>
          </a:p>
        </p:txBody>
      </p:sp>
    </p:spTree>
    <p:extLst>
      <p:ext uri="{BB962C8B-B14F-4D97-AF65-F5344CB8AC3E}">
        <p14:creationId xmlns:p14="http://schemas.microsoft.com/office/powerpoint/2010/main" val="42338674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Conteúdo programático</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a:bodyPr>
          <a:lstStyle/>
          <a:p>
            <a:r>
              <a:rPr lang="pt-BR" sz="2500" dirty="0"/>
              <a:t>Recuperação de </a:t>
            </a:r>
            <a:r>
              <a:rPr lang="pt-BR" sz="2500" dirty="0" smtClean="0"/>
              <a:t>dados</a:t>
            </a:r>
          </a:p>
          <a:p>
            <a:r>
              <a:rPr lang="pt-BR" sz="2500" dirty="0"/>
              <a:t>Segurança e integridade de dados</a:t>
            </a:r>
          </a:p>
          <a:p>
            <a:r>
              <a:rPr lang="pt-BR" sz="2500" dirty="0" smtClean="0"/>
              <a:t>Prova 1 e 2</a:t>
            </a:r>
          </a:p>
          <a:p>
            <a:r>
              <a:rPr lang="pt-BR" sz="2500" dirty="0" smtClean="0"/>
              <a:t>Devolutiva 1 e 2</a:t>
            </a:r>
          </a:p>
          <a:p>
            <a:r>
              <a:rPr lang="pt-BR" sz="2500" dirty="0" smtClean="0"/>
              <a:t>Semana acadêmica</a:t>
            </a:r>
          </a:p>
          <a:p>
            <a:r>
              <a:rPr lang="pt-BR" sz="2500" dirty="0" smtClean="0"/>
              <a:t>Palestras</a:t>
            </a:r>
          </a:p>
        </p:txBody>
      </p:sp>
    </p:spTree>
    <p:extLst>
      <p:ext uri="{BB962C8B-B14F-4D97-AF65-F5344CB8AC3E}">
        <p14:creationId xmlns:p14="http://schemas.microsoft.com/office/powerpoint/2010/main" val="42233036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Bibliografia básica</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fontScale="92500" lnSpcReduction="20000"/>
          </a:bodyPr>
          <a:lstStyle/>
          <a:p>
            <a:r>
              <a:rPr lang="pt-BR" sz="2500" dirty="0"/>
              <a:t>- TEOREY, </a:t>
            </a:r>
            <a:r>
              <a:rPr lang="pt-BR" sz="2500" dirty="0" err="1"/>
              <a:t>Toby</a:t>
            </a:r>
            <a:r>
              <a:rPr lang="pt-BR" sz="2500" dirty="0"/>
              <a:t> J.; LIGHTSTONE, Sam; NADEAU, Tom. Projeto e modelagem de banco de dados. 2. ed. Rio de Janeiro: </a:t>
            </a:r>
            <a:r>
              <a:rPr lang="pt-BR" sz="2500" dirty="0" err="1"/>
              <a:t>Elsevier</a:t>
            </a:r>
            <a:r>
              <a:rPr lang="pt-BR" sz="2500" dirty="0"/>
              <a:t>, 2014. Modelagem de Banco de Dados 80 Período Disciplinas Pré-requisitos C.H. </a:t>
            </a:r>
          </a:p>
          <a:p>
            <a:r>
              <a:rPr lang="pt-BR" sz="2500" dirty="0"/>
              <a:t>- SILBERSCHATZ, Abraham; KORTH, Henry F.; SUDARSHAN, S. Sistema de banco de dados. 1. ed. Rio de Janeiro: </a:t>
            </a:r>
            <a:r>
              <a:rPr lang="pt-BR" sz="2500" dirty="0" err="1"/>
              <a:t>Elsevier</a:t>
            </a:r>
            <a:r>
              <a:rPr lang="pt-BR" sz="2500" dirty="0"/>
              <a:t>, 2012. </a:t>
            </a:r>
          </a:p>
          <a:p>
            <a:r>
              <a:rPr lang="pt-BR" sz="2500" dirty="0"/>
              <a:t>- ELMASRI, Ramez; VIEIRA, Daniel (Trad.). Sistemas de banco de dados. 6. ed. São Paulo: Pearson </a:t>
            </a:r>
            <a:r>
              <a:rPr lang="pt-BR" sz="2500" dirty="0" err="1"/>
              <a:t>Addison</a:t>
            </a:r>
            <a:r>
              <a:rPr lang="pt-BR" sz="2500" dirty="0"/>
              <a:t> Wesley, 2011. </a:t>
            </a:r>
          </a:p>
        </p:txBody>
      </p:sp>
    </p:spTree>
    <p:extLst>
      <p:ext uri="{BB962C8B-B14F-4D97-AF65-F5344CB8AC3E}">
        <p14:creationId xmlns:p14="http://schemas.microsoft.com/office/powerpoint/2010/main" val="6537061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Bibliografia complementar</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fontScale="70000" lnSpcReduction="20000"/>
          </a:bodyPr>
          <a:lstStyle/>
          <a:p>
            <a:r>
              <a:rPr lang="pt-BR" sz="2500" dirty="0"/>
              <a:t>- CARVALHO, Vinícius. MySQL: comece com o principal banco de dados open </a:t>
            </a:r>
            <a:r>
              <a:rPr lang="pt-BR" sz="2500" dirty="0" err="1"/>
              <a:t>source</a:t>
            </a:r>
            <a:r>
              <a:rPr lang="pt-BR" sz="2500" dirty="0"/>
              <a:t> do mercado. 1. ed. São Paulo: Casa do Código, [2017]. </a:t>
            </a:r>
          </a:p>
          <a:p>
            <a:r>
              <a:rPr lang="pt-BR" sz="2500" dirty="0"/>
              <a:t>- MANZANO, José Augusto N. G. Microsoft SQL Server 2014 </a:t>
            </a:r>
            <a:r>
              <a:rPr lang="pt-BR" sz="2500" dirty="0" err="1"/>
              <a:t>express</a:t>
            </a:r>
            <a:r>
              <a:rPr lang="pt-BR" sz="2500" dirty="0"/>
              <a:t>: guia prático e interativo. 1. ed. São Paulo: Érica, 2014.</a:t>
            </a:r>
          </a:p>
          <a:p>
            <a:r>
              <a:rPr lang="pt-BR" sz="2500" dirty="0"/>
              <a:t>- MANZANO, José Augusto N. G. MySQL 5.5 interativo: guia essencial de orientações e desenvolvimento. 1. ed. São Paulo: Érica, 2011. </a:t>
            </a:r>
          </a:p>
          <a:p>
            <a:r>
              <a:rPr lang="pt-BR" sz="2500" dirty="0"/>
              <a:t>- HEUSER, Carlos Alberto. Projeto de banco de dados. 6. ed. Porto Alegre: </a:t>
            </a:r>
            <a:r>
              <a:rPr lang="pt-BR" sz="2500" dirty="0" err="1"/>
              <a:t>Bookman</a:t>
            </a:r>
            <a:r>
              <a:rPr lang="pt-BR" sz="2500" dirty="0"/>
              <a:t>, 2009. (Livros Didáticos Informática UFRGS ; n. 4.). </a:t>
            </a:r>
          </a:p>
          <a:p>
            <a:r>
              <a:rPr lang="pt-BR" sz="2500" dirty="0"/>
              <a:t>- MANNINO, Michael V. Projeto, desenvolvimento de aplicações e administração de banco de dados. São Paulo: McGraw-Hill, 2008.</a:t>
            </a:r>
          </a:p>
          <a:p>
            <a:endParaRPr lang="pt-BR" sz="2500" dirty="0"/>
          </a:p>
        </p:txBody>
      </p:sp>
    </p:spTree>
    <p:extLst>
      <p:ext uri="{BB962C8B-B14F-4D97-AF65-F5344CB8AC3E}">
        <p14:creationId xmlns:p14="http://schemas.microsoft.com/office/powerpoint/2010/main" val="10444204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Metodologia</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lnSpcReduction="10000"/>
          </a:bodyPr>
          <a:lstStyle/>
          <a:p>
            <a:r>
              <a:rPr lang="pt-BR" sz="2500" dirty="0"/>
              <a:t>Aulas expositivas com recursos audiovisuais e com material didático, leitura de livros, artigos e textos complementares, atividades práticas no laboratório e resolução de problemas, além de apresentação de seminários pelos alunos, pesquisas e trabalhos individuais e/ou em grupos. Aplicação de exercícios teóricos, práticos e desenvolvimento de projeto integrado com disciplinas de programação.</a:t>
            </a:r>
          </a:p>
          <a:p>
            <a:endParaRPr lang="pt-BR" sz="2500" dirty="0"/>
          </a:p>
          <a:p>
            <a:endParaRPr lang="pt-BR" sz="2500" dirty="0"/>
          </a:p>
          <a:p>
            <a:endParaRPr lang="pt-BR" sz="2500" dirty="0"/>
          </a:p>
        </p:txBody>
      </p:sp>
    </p:spTree>
    <p:extLst>
      <p:ext uri="{BB962C8B-B14F-4D97-AF65-F5344CB8AC3E}">
        <p14:creationId xmlns:p14="http://schemas.microsoft.com/office/powerpoint/2010/main" val="20325223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Objetivo Geral</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fontScale="85000" lnSpcReduction="20000"/>
          </a:bodyPr>
          <a:lstStyle/>
          <a:p>
            <a:r>
              <a:rPr lang="pt-BR" sz="2500" dirty="0"/>
              <a:t>Tem como objetivo capacitar os estudantes a desenvolver habilidades avançadas no uso e gerenciamento de bancos de dados. Eles serão preparados para aplicar técnicas de modelagem de dados, manipulação avançada da linguagem SQL, otimização de consultas, criação e gerenciamento de procedimentos armazenados, utilização de triggers, controle de transações e recuperação de falhas. O foco é proporcionar aos alunos competências essenciais para trabalhar de forma eficiente e eficaz com bancos de dados, visando a integridade, desempenho e escalabilidade dos sistemas de gerenciamento de banco de dados.</a:t>
            </a:r>
          </a:p>
          <a:p>
            <a:endParaRPr lang="pt-BR" sz="2500" dirty="0"/>
          </a:p>
          <a:p>
            <a:endParaRPr lang="pt-BR" sz="2500" dirty="0"/>
          </a:p>
        </p:txBody>
      </p:sp>
    </p:spTree>
    <p:extLst>
      <p:ext uri="{BB962C8B-B14F-4D97-AF65-F5344CB8AC3E}">
        <p14:creationId xmlns:p14="http://schemas.microsoft.com/office/powerpoint/2010/main" val="19966430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Competências</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lnSpcReduction="10000"/>
          </a:bodyPr>
          <a:lstStyle/>
          <a:p>
            <a:r>
              <a:rPr lang="pt-BR" sz="2500" dirty="0"/>
              <a:t>Permitir ao aluno desenvolver sua capacidade de abstrair dados reais essenciais para soluções computacionais de forma a estruturar bancos de dados.</a:t>
            </a:r>
          </a:p>
          <a:p>
            <a:r>
              <a:rPr lang="pt-BR" sz="2500" dirty="0"/>
              <a:t>Fornecer ao aluno a capacidade de utilizar métodos teóricos e ferramentas que permitem uma boa criação, manipulação, consulta e aprimorar um banco de dado completo e que atendam demandas.</a:t>
            </a:r>
          </a:p>
          <a:p>
            <a:endParaRPr lang="pt-BR" sz="2500" dirty="0"/>
          </a:p>
        </p:txBody>
      </p:sp>
    </p:spTree>
    <p:extLst>
      <p:ext uri="{BB962C8B-B14F-4D97-AF65-F5344CB8AC3E}">
        <p14:creationId xmlns:p14="http://schemas.microsoft.com/office/powerpoint/2010/main" val="17435519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081EA652-8C6A-4E69-BEB9-17080947455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 xmlns:a16="http://schemas.microsoft.com/office/drawing/2014/main" id="{5298780A-33B9-4EA2-8F67-DE68AD62841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7F488E8B-4E1E-4402-8935-D4E6C02615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63930" y="1050595"/>
            <a:ext cx="7594144" cy="1618489"/>
          </a:xfrm>
        </p:spPr>
        <p:txBody>
          <a:bodyPr anchor="ctr">
            <a:normAutofit/>
          </a:bodyPr>
          <a:lstStyle/>
          <a:p>
            <a:r>
              <a:rPr lang="pt-BR" sz="5400" dirty="0" smtClean="0"/>
              <a:t>Recursos</a:t>
            </a:r>
            <a:endParaRPr lang="pt-BR" sz="5400" dirty="0"/>
          </a:p>
        </p:txBody>
      </p:sp>
      <p:sp>
        <p:nvSpPr>
          <p:cNvPr id="3" name="Espaço Reservado para Conteúdo 2"/>
          <p:cNvSpPr>
            <a:spLocks noGrp="1"/>
          </p:cNvSpPr>
          <p:nvPr>
            <p:ph idx="1"/>
          </p:nvPr>
        </p:nvSpPr>
        <p:spPr>
          <a:xfrm>
            <a:off x="963930" y="2969469"/>
            <a:ext cx="7239037" cy="2800395"/>
          </a:xfrm>
        </p:spPr>
        <p:txBody>
          <a:bodyPr anchor="t">
            <a:normAutofit/>
          </a:bodyPr>
          <a:lstStyle/>
          <a:p>
            <a:r>
              <a:rPr lang="pt-BR" sz="2500" dirty="0"/>
              <a:t>Quadro branco.</a:t>
            </a:r>
          </a:p>
          <a:p>
            <a:r>
              <a:rPr lang="pt-BR" sz="2500" dirty="0"/>
              <a:t>Recursos audiovisuais.</a:t>
            </a:r>
          </a:p>
          <a:p>
            <a:r>
              <a:rPr lang="pt-BR" sz="2500" dirty="0"/>
              <a:t>Laboratório de informática.</a:t>
            </a:r>
          </a:p>
          <a:p>
            <a:r>
              <a:rPr lang="pt-BR" sz="2500" dirty="0"/>
              <a:t>Material impresso</a:t>
            </a:r>
            <a:r>
              <a:rPr lang="pt-BR" sz="2500" dirty="0" smtClean="0"/>
              <a:t>.</a:t>
            </a:r>
          </a:p>
          <a:p>
            <a:r>
              <a:rPr lang="pt-BR" sz="2500" dirty="0" smtClean="0"/>
              <a:t>Softwares específicos. </a:t>
            </a:r>
            <a:endParaRPr lang="pt-BR" sz="2500" dirty="0"/>
          </a:p>
          <a:p>
            <a:endParaRPr lang="pt-BR" sz="2500" dirty="0"/>
          </a:p>
        </p:txBody>
      </p:sp>
    </p:spTree>
    <p:extLst>
      <p:ext uri="{BB962C8B-B14F-4D97-AF65-F5344CB8AC3E}">
        <p14:creationId xmlns:p14="http://schemas.microsoft.com/office/powerpoint/2010/main" val="2641186077"/>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o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1464</TotalTime>
  <Words>694</Words>
  <Application>Microsoft Office PowerPoint</Application>
  <PresentationFormat>Apresentação na tela (4:3)</PresentationFormat>
  <Paragraphs>54</Paragraphs>
  <Slides>12</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12</vt:i4>
      </vt:variant>
    </vt:vector>
  </HeadingPairs>
  <TitlesOfParts>
    <vt:vector size="16" baseType="lpstr">
      <vt:lpstr>Arial</vt:lpstr>
      <vt:lpstr>Calibri</vt:lpstr>
      <vt:lpstr>Calibri Light</vt:lpstr>
      <vt:lpstr>Tema do Office</vt:lpstr>
      <vt:lpstr>BANCO DE DADOS II</vt:lpstr>
      <vt:lpstr>Ementa</vt:lpstr>
      <vt:lpstr>Sistema de Avaliação</vt:lpstr>
      <vt:lpstr>Conteúdo programático</vt:lpstr>
      <vt:lpstr>Conteúdo programático</vt:lpstr>
      <vt:lpstr>Conteúdo programático</vt:lpstr>
      <vt:lpstr>Bibliografia básica</vt:lpstr>
      <vt:lpstr>Bibliografia complementar</vt:lpstr>
      <vt:lpstr>Metodologia</vt:lpstr>
      <vt:lpstr>Objetivo Geral</vt:lpstr>
      <vt:lpstr>Competências</vt:lpstr>
      <vt:lpstr>Recursos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Circuitos lógicos combinacionais e sequenciais</dc:title>
  <dc:creator>Matheus</dc:creator>
  <cp:lastModifiedBy>Matheus</cp:lastModifiedBy>
  <cp:revision>44</cp:revision>
  <dcterms:created xsi:type="dcterms:W3CDTF">2023-01-24T23:29:32Z</dcterms:created>
  <dcterms:modified xsi:type="dcterms:W3CDTF">2024-07-22T19:08:02Z</dcterms:modified>
</cp:coreProperties>
</file>