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2" r:id="rId2"/>
    <p:sldId id="292" r:id="rId3"/>
    <p:sldId id="293" r:id="rId4"/>
    <p:sldId id="294" r:id="rId5"/>
    <p:sldId id="295" r:id="rId6"/>
    <p:sldId id="296" r:id="rId7"/>
    <p:sldId id="298" r:id="rId8"/>
    <p:sldId id="297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10" r:id="rId20"/>
    <p:sldId id="309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20" r:id="rId29"/>
    <p:sldId id="321" r:id="rId30"/>
    <p:sldId id="318" r:id="rId31"/>
    <p:sldId id="319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954D440A-4C7F-48B0-818C-4C8019D871DA}"/>
    <pc:docChg chg="modSld">
      <pc:chgData name="matheus raffael simon" userId="b81fe4e685964744" providerId="LiveId" clId="{954D440A-4C7F-48B0-818C-4C8019D871DA}" dt="2025-05-05T17:47:23.456" v="173" actId="20577"/>
      <pc:docMkLst>
        <pc:docMk/>
      </pc:docMkLst>
      <pc:sldChg chg="modSp mod">
        <pc:chgData name="matheus raffael simon" userId="b81fe4e685964744" providerId="LiveId" clId="{954D440A-4C7F-48B0-818C-4C8019D871DA}" dt="2025-05-05T17:47:23.456" v="173" actId="20577"/>
        <pc:sldMkLst>
          <pc:docMk/>
          <pc:sldMk cId="2140400506" sldId="319"/>
        </pc:sldMkLst>
        <pc:spChg chg="mod">
          <ac:chgData name="matheus raffael simon" userId="b81fe4e685964744" providerId="LiveId" clId="{954D440A-4C7F-48B0-818C-4C8019D871DA}" dt="2025-05-05T17:47:23.456" v="173" actId="20577"/>
          <ac:spMkLst>
            <pc:docMk/>
            <pc:sldMk cId="2140400506" sldId="319"/>
            <ac:spMk id="3" creationId="{37EB5CA2-5A9C-A865-40B7-BC2F0D691CAF}"/>
          </ac:spMkLst>
        </pc:spChg>
      </pc:sldChg>
    </pc:docChg>
  </pc:docChgLst>
  <pc:docChgLst>
    <pc:chgData name="matheus raffael simon" userId="b81fe4e685964744" providerId="LiveId" clId="{CC4CBE84-4BB1-4D41-B62E-29386381F478}"/>
    <pc:docChg chg="custSel addSld delSld modSld">
      <pc:chgData name="matheus raffael simon" userId="b81fe4e685964744" providerId="LiveId" clId="{CC4CBE84-4BB1-4D41-B62E-29386381F478}" dt="2024-10-14T22:07:46.062" v="823" actId="47"/>
      <pc:docMkLst>
        <pc:docMk/>
      </pc:docMkLst>
      <pc:sldChg chg="del">
        <pc:chgData name="matheus raffael simon" userId="b81fe4e685964744" providerId="LiveId" clId="{CC4CBE84-4BB1-4D41-B62E-29386381F478}" dt="2024-10-14T22:07:46.062" v="823" actId="47"/>
        <pc:sldMkLst>
          <pc:docMk/>
          <pc:sldMk cId="4247130675" sldId="258"/>
        </pc:sldMkLst>
      </pc:sldChg>
      <pc:sldChg chg="modSp mod">
        <pc:chgData name="matheus raffael simon" userId="b81fe4e685964744" providerId="LiveId" clId="{CC4CBE84-4BB1-4D41-B62E-29386381F478}" dt="2024-10-14T20:43:47.058" v="0" actId="20577"/>
        <pc:sldMkLst>
          <pc:docMk/>
          <pc:sldMk cId="206768621" sldId="314"/>
        </pc:sldMkLst>
      </pc:sldChg>
      <pc:sldChg chg="modSp mod">
        <pc:chgData name="matheus raffael simon" userId="b81fe4e685964744" providerId="LiveId" clId="{CC4CBE84-4BB1-4D41-B62E-29386381F478}" dt="2024-10-14T20:45:46.907" v="1" actId="6549"/>
        <pc:sldMkLst>
          <pc:docMk/>
          <pc:sldMk cId="3173087350" sldId="317"/>
        </pc:sldMkLst>
      </pc:sldChg>
      <pc:sldChg chg="modSp add mod">
        <pc:chgData name="matheus raffael simon" userId="b81fe4e685964744" providerId="LiveId" clId="{CC4CBE84-4BB1-4D41-B62E-29386381F478}" dt="2024-10-14T20:59:43.861" v="424" actId="20577"/>
        <pc:sldMkLst>
          <pc:docMk/>
          <pc:sldMk cId="1937380010" sldId="318"/>
        </pc:sldMkLst>
      </pc:sldChg>
      <pc:sldChg chg="modSp add mod">
        <pc:chgData name="matheus raffael simon" userId="b81fe4e685964744" providerId="LiveId" clId="{CC4CBE84-4BB1-4D41-B62E-29386381F478}" dt="2024-10-14T21:04:24.331" v="741" actId="115"/>
        <pc:sldMkLst>
          <pc:docMk/>
          <pc:sldMk cId="2140400506" sldId="319"/>
        </pc:sldMkLst>
      </pc:sldChg>
      <pc:sldChg chg="addSp modSp add mod">
        <pc:chgData name="matheus raffael simon" userId="b81fe4e685964744" providerId="LiveId" clId="{CC4CBE84-4BB1-4D41-B62E-29386381F478}" dt="2024-10-14T21:29:24.992" v="821" actId="1076"/>
        <pc:sldMkLst>
          <pc:docMk/>
          <pc:sldMk cId="3040306732" sldId="320"/>
        </pc:sldMkLst>
      </pc:sldChg>
      <pc:sldChg chg="delSp modSp add mod">
        <pc:chgData name="matheus raffael simon" userId="b81fe4e685964744" providerId="LiveId" clId="{CC4CBE84-4BB1-4D41-B62E-29386381F478}" dt="2024-10-14T21:19:05.571" v="792"/>
        <pc:sldMkLst>
          <pc:docMk/>
          <pc:sldMk cId="1782563357" sldId="321"/>
        </pc:sldMkLst>
      </pc:sldChg>
      <pc:sldChg chg="add">
        <pc:chgData name="matheus raffael simon" userId="b81fe4e685964744" providerId="LiveId" clId="{CC4CBE84-4BB1-4D41-B62E-29386381F478}" dt="2024-10-14T22:07:44.117" v="822"/>
        <pc:sldMkLst>
          <pc:docMk/>
          <pc:sldMk cId="2136392277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05/05/2025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cadd.com.br/blog/cerveja-fraldas-e-big-data" TargetMode="External"/><Relationship Id="rId2" Type="http://schemas.openxmlformats.org/officeDocument/2006/relationships/hyperlink" Target="https://medium.com/@wonderwanny/a-inteligencia-em-comprar-cerveja-e-fraldas-a61789955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bemd.org.br/noticia/como-cerveja-e-fralda-viraram-ouro-em-uma-grande-rede-de-supermercados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us.simon@docente.pr.senac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/>
          </a:bodyPr>
          <a:lstStyle/>
          <a:p>
            <a:r>
              <a:rPr lang="pt-BR" dirty="0"/>
              <a:t>Os bancos de dados tradicionais equilibram o requisito de acesso aos dados com a exigência por integridade/consistência.</a:t>
            </a:r>
          </a:p>
          <a:p>
            <a:r>
              <a:rPr lang="pt-BR" dirty="0"/>
              <a:t>Em alguns contextos organizacionais complexos e em espaços de tomadas de decisão, muitas pessoas precisam de acesso de leitura aos dados, mas:</a:t>
            </a:r>
          </a:p>
          <a:p>
            <a:pPr lvl="1"/>
            <a:r>
              <a:rPr lang="pt-BR" dirty="0"/>
              <a:t>Acesso a um volume maior do que o de aplicações convencionais;</a:t>
            </a:r>
          </a:p>
          <a:p>
            <a:pPr lvl="1"/>
            <a:r>
              <a:rPr lang="pt-BR" dirty="0"/>
              <a:t>Frequentemente dados oriundos de diversos bancos de dados;</a:t>
            </a:r>
          </a:p>
          <a:p>
            <a:pPr lvl="1"/>
            <a:r>
              <a:rPr lang="pt-BR" dirty="0"/>
              <a:t>Acesso rápido;</a:t>
            </a:r>
          </a:p>
          <a:p>
            <a:r>
              <a:rPr lang="pt-BR" dirty="0"/>
              <a:t>Para atender a demanda de análise rápida e precisa, em um nível de detalhe correto, tem se:</a:t>
            </a:r>
          </a:p>
          <a:p>
            <a:pPr lvl="1"/>
            <a:r>
              <a:rPr lang="pt-BR" dirty="0"/>
              <a:t>Data </a:t>
            </a:r>
            <a:r>
              <a:rPr lang="pt-BR" dirty="0" err="1"/>
              <a:t>warehouse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OLAP - Processamento Analítico On-line;</a:t>
            </a:r>
          </a:p>
          <a:p>
            <a:pPr lvl="1"/>
            <a:r>
              <a:rPr lang="pt-BR" dirty="0"/>
              <a:t>Data Mining;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72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Data </a:t>
            </a:r>
            <a:r>
              <a:rPr lang="pt-BR" dirty="0" err="1"/>
              <a:t>Warehouse</a:t>
            </a:r>
            <a:r>
              <a:rPr lang="pt-BR" dirty="0"/>
              <a:t> é uma coleção de informações, bem como um sistema de suporte. Contudo há uma distinção importante para os bancos de dados tradicionais:</a:t>
            </a:r>
          </a:p>
          <a:p>
            <a:r>
              <a:rPr lang="pt-BR" dirty="0"/>
              <a:t>Bancos de dados tradicionais são transacionais;</a:t>
            </a:r>
          </a:p>
          <a:p>
            <a:r>
              <a:rPr lang="pt-BR" dirty="0"/>
              <a:t>Data </a:t>
            </a:r>
            <a:r>
              <a:rPr lang="pt-BR" dirty="0" err="1"/>
              <a:t>Warehouses</a:t>
            </a:r>
            <a:r>
              <a:rPr lang="pt-BR" dirty="0"/>
              <a:t> são otimizados para a recuperação de dados, não para processamento de transação de rotina.</a:t>
            </a:r>
          </a:p>
          <a:p>
            <a:r>
              <a:rPr lang="pt-BR" dirty="0"/>
              <a:t>Servem principalmente a aplicações de apoio a decisão.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50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"Uma coleção de dados orientada a assunto, integrada, não volátil, variável no tempo para o suporte às decisões da gerência."</a:t>
            </a:r>
          </a:p>
          <a:p>
            <a:r>
              <a:rPr lang="en-US" dirty="0"/>
              <a:t>INMON, W. H. EIS and the data warehouse: a simple approach to building an effective foundation for EIS. Database Programming &amp; Design, v. 5, n. 11, p. 70- </a:t>
            </a:r>
            <a:r>
              <a:rPr lang="pt-BR" dirty="0"/>
              <a:t>73, 1992.</a:t>
            </a:r>
          </a:p>
          <a:p>
            <a:r>
              <a:rPr lang="pt-BR" dirty="0"/>
              <a:t>"Em sentido amplo, o termo data </a:t>
            </a:r>
            <a:r>
              <a:rPr lang="pt-BR" dirty="0" err="1"/>
              <a:t>warehouse</a:t>
            </a:r>
            <a:r>
              <a:rPr lang="pt-BR" dirty="0"/>
              <a:t> é usado para se referir a um banco de dados que contém um armazenamento muito grande de dados históricos. O dado é armazenado como uma série de snapshots, nos quais cada registro representa o dado em um tempo específico."</a:t>
            </a:r>
          </a:p>
          <a:p>
            <a:r>
              <a:rPr lang="en-US" dirty="0"/>
              <a:t>IBM Informix 12.10. Overview of data warehousing.</a:t>
            </a:r>
            <a:r>
              <a:rPr lang="pt-BR" dirty="0"/>
              <a:t> 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5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Data </a:t>
            </a:r>
            <a:r>
              <a:rPr lang="pt-BR" dirty="0" err="1"/>
              <a:t>Warehouses</a:t>
            </a:r>
            <a:r>
              <a:rPr lang="pt-BR" dirty="0"/>
              <a:t> oferecem acesso a dados para análises complexas, descoberta de conhecimento (KDD - </a:t>
            </a:r>
            <a:r>
              <a:rPr lang="pt-BR" dirty="0" err="1"/>
              <a:t>Knowledge</a:t>
            </a:r>
            <a:r>
              <a:rPr lang="pt-BR" dirty="0"/>
              <a:t> Discovery in </a:t>
            </a:r>
            <a:r>
              <a:rPr lang="pt-BR" dirty="0" err="1"/>
              <a:t>Databases</a:t>
            </a:r>
            <a:r>
              <a:rPr lang="pt-BR" dirty="0"/>
              <a:t>) e tomada de decisão em vários tipos de aplicações:</a:t>
            </a:r>
          </a:p>
          <a:p>
            <a:r>
              <a:rPr lang="pt-BR" b="1" dirty="0"/>
              <a:t>DSS - Sistemas de Apoio à Decisão</a:t>
            </a:r>
          </a:p>
          <a:p>
            <a:r>
              <a:rPr lang="pt-BR" dirty="0"/>
              <a:t>Também conhecidos como </a:t>
            </a:r>
            <a:r>
              <a:rPr lang="pt-BR" b="1" dirty="0"/>
              <a:t>EIS </a:t>
            </a:r>
            <a:r>
              <a:rPr lang="pt-BR" dirty="0"/>
              <a:t>- Sistemas de Informações executivas.</a:t>
            </a:r>
          </a:p>
          <a:p>
            <a:r>
              <a:rPr lang="pt-BR" dirty="0"/>
              <a:t>Auxilia os </a:t>
            </a:r>
            <a:r>
              <a:rPr lang="pt-BR" dirty="0" err="1"/>
              <a:t>stakeholders</a:t>
            </a:r>
            <a:r>
              <a:rPr lang="pt-BR" dirty="0"/>
              <a:t> na tomada de decisões estratégicas com dados de nível mais alto.</a:t>
            </a:r>
          </a:p>
          <a:p>
            <a:r>
              <a:rPr lang="pt-BR" b="1" dirty="0"/>
              <a:t>OLAP - Processamento Analítico On-Line</a:t>
            </a:r>
          </a:p>
          <a:p>
            <a:r>
              <a:rPr lang="pt-BR" dirty="0"/>
              <a:t>Análise de dados complexos em data </a:t>
            </a:r>
            <a:r>
              <a:rPr lang="pt-BR" dirty="0" err="1"/>
              <a:t>warehouse</a:t>
            </a:r>
            <a:r>
              <a:rPr lang="pt-BR" dirty="0"/>
              <a:t>.</a:t>
            </a:r>
          </a:p>
          <a:p>
            <a:r>
              <a:rPr lang="pt-BR" dirty="0"/>
              <a:t>Demanda mais recursos para armazenamento e processamento.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90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Visão conceitual específica:</a:t>
            </a:r>
          </a:p>
          <a:p>
            <a:r>
              <a:rPr lang="pt-BR" b="1" dirty="0"/>
              <a:t>Modelo de dados Multidimensional.</a:t>
            </a:r>
          </a:p>
          <a:p>
            <a:r>
              <a:rPr lang="pt-BR" dirty="0"/>
              <a:t>Dados não voláteis (mudam em baixa frequência);</a:t>
            </a:r>
          </a:p>
          <a:p>
            <a:r>
              <a:rPr lang="pt-BR" dirty="0"/>
              <a:t>Tempo </a:t>
            </a:r>
            <a:r>
              <a:rPr lang="pt-BR" b="1" dirty="0"/>
              <a:t>não </a:t>
            </a:r>
            <a:r>
              <a:rPr lang="pt-BR" dirty="0"/>
              <a:t>real:</a:t>
            </a:r>
          </a:p>
          <a:p>
            <a:r>
              <a:rPr lang="pt-BR" dirty="0"/>
              <a:t>Atualização periódica;</a:t>
            </a:r>
          </a:p>
          <a:p>
            <a:r>
              <a:rPr lang="pt-BR" dirty="0"/>
              <a:t>Atualizações incrementais;</a:t>
            </a:r>
          </a:p>
          <a:p>
            <a:r>
              <a:rPr lang="pt-BR" dirty="0"/>
              <a:t>Atualização tratadas por componente específico de aquisição que oferece o pré-processamento exigido;</a:t>
            </a:r>
          </a:p>
          <a:p>
            <a:r>
              <a:rPr lang="pt-BR" dirty="0"/>
              <a:t>Dados previamente limpos e reformatados;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01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 </a:t>
            </a:r>
            <a:r>
              <a:rPr lang="pt-BR" b="1" dirty="0"/>
              <a:t>CARACTERÍSTICAS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Dimensionalidade genérica;</a:t>
            </a:r>
          </a:p>
          <a:p>
            <a:r>
              <a:rPr lang="pt-BR" dirty="0"/>
              <a:t>Dimensões e níveis de agregação ilimitados;</a:t>
            </a:r>
          </a:p>
          <a:p>
            <a:r>
              <a:rPr lang="pt-BR" dirty="0"/>
              <a:t>Operações irrestritas entre dimensões;</a:t>
            </a:r>
          </a:p>
          <a:p>
            <a:r>
              <a:rPr lang="pt-BR" dirty="0"/>
              <a:t>Tratamento dinâmico de matriz esparsa;</a:t>
            </a:r>
          </a:p>
          <a:p>
            <a:r>
              <a:rPr lang="pt-BR" dirty="0"/>
              <a:t>Arquitetura cliente-servidor;</a:t>
            </a:r>
          </a:p>
          <a:p>
            <a:r>
              <a:rPr lang="pt-BR" dirty="0"/>
              <a:t>Suporte para múltiplos usuários;</a:t>
            </a:r>
          </a:p>
          <a:p>
            <a:r>
              <a:rPr lang="pt-BR" dirty="0"/>
              <a:t>Acessibilidade;</a:t>
            </a:r>
          </a:p>
          <a:p>
            <a:r>
              <a:rPr lang="pt-BR" dirty="0"/>
              <a:t>Transparência;</a:t>
            </a:r>
          </a:p>
          <a:p>
            <a:r>
              <a:rPr lang="pt-BR" dirty="0"/>
              <a:t>Manipulação de dados </a:t>
            </a:r>
            <a:r>
              <a:rPr lang="pt-BR" dirty="0" err="1"/>
              <a:t>intuituva</a:t>
            </a:r>
            <a:r>
              <a:rPr lang="pt-BR" dirty="0"/>
              <a:t>;</a:t>
            </a:r>
          </a:p>
          <a:p>
            <a:r>
              <a:rPr lang="pt-BR" dirty="0"/>
              <a:t>Desempenho de relatório consistente;</a:t>
            </a:r>
          </a:p>
          <a:p>
            <a:r>
              <a:rPr lang="pt-BR" dirty="0"/>
              <a:t>Recurso de relatório flexível;</a:t>
            </a:r>
          </a:p>
          <a:p>
            <a:r>
              <a:rPr lang="pt-BR" i="1" dirty="0"/>
              <a:t>ELMASRI, Ramez; NAVATHE, </a:t>
            </a:r>
            <a:r>
              <a:rPr lang="pt-BR" i="1" dirty="0" err="1"/>
              <a:t>Shamkant</a:t>
            </a:r>
            <a:r>
              <a:rPr lang="pt-BR" i="1" dirty="0"/>
              <a:t>. </a:t>
            </a:r>
            <a:r>
              <a:rPr lang="pt-BR" i="1" dirty="0" err="1"/>
              <a:t>Database</a:t>
            </a:r>
            <a:r>
              <a:rPr lang="pt-BR" i="1" dirty="0"/>
              <a:t> systems. Boston, MA: Pearson </a:t>
            </a:r>
            <a:r>
              <a:rPr lang="pt-BR" i="1" dirty="0" err="1"/>
              <a:t>Education</a:t>
            </a:r>
            <a:r>
              <a:rPr lang="pt-BR" i="1" dirty="0"/>
              <a:t>, 2011.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10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 </a:t>
            </a:r>
            <a:r>
              <a:rPr lang="pt-BR" b="1" dirty="0"/>
              <a:t>ETL PROCESS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processo de data </a:t>
            </a:r>
            <a:r>
              <a:rPr lang="pt-BR" dirty="0" err="1"/>
              <a:t>warehousing</a:t>
            </a:r>
            <a:r>
              <a:rPr lang="pt-BR" dirty="0"/>
              <a:t> inclui a possível limpeza e reformatação dos dados antes de serem carregados no </a:t>
            </a:r>
            <a:r>
              <a:rPr lang="pt-BR" b="1" dirty="0"/>
              <a:t>armazém</a:t>
            </a:r>
            <a:r>
              <a:rPr lang="pt-BR" dirty="0"/>
              <a:t>.</a:t>
            </a:r>
          </a:p>
          <a:p>
            <a:r>
              <a:rPr lang="pt-BR" dirty="0"/>
              <a:t>Ferramentas de </a:t>
            </a:r>
            <a:r>
              <a:rPr lang="pt-BR" b="1" dirty="0"/>
              <a:t>ETL </a:t>
            </a:r>
            <a:r>
              <a:rPr lang="pt-BR" dirty="0"/>
              <a:t>(</a:t>
            </a:r>
            <a:r>
              <a:rPr lang="pt-BR" dirty="0" err="1"/>
              <a:t>Extract</a:t>
            </a:r>
            <a:r>
              <a:rPr lang="pt-BR" dirty="0"/>
              <a:t>, </a:t>
            </a:r>
            <a:r>
              <a:rPr lang="pt-BR" dirty="0" err="1"/>
              <a:t>Transform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Load</a:t>
            </a:r>
            <a:r>
              <a:rPr lang="pt-BR" dirty="0"/>
              <a:t>) realizam esse processo.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69" y="3658144"/>
            <a:ext cx="7579949" cy="297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9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 </a:t>
            </a:r>
            <a:r>
              <a:rPr lang="pt-BR" b="1" dirty="0"/>
              <a:t>ETL PROCESS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Data </a:t>
            </a:r>
            <a:r>
              <a:rPr lang="pt-BR" dirty="0" err="1"/>
              <a:t>warehouses</a:t>
            </a:r>
            <a:r>
              <a:rPr lang="pt-BR" dirty="0"/>
              <a:t>, são uma ordem de magnitude (em alguns casos duas ordens de magnitude) maiores que os bancos de dados de origem.</a:t>
            </a:r>
          </a:p>
          <a:p>
            <a:r>
              <a:rPr lang="pt-BR" dirty="0"/>
              <a:t>Esse imenso volume de dados tem sido tratado em </a:t>
            </a:r>
            <a:r>
              <a:rPr lang="pt-BR" b="1" dirty="0"/>
              <a:t>Enterprise Data </a:t>
            </a:r>
            <a:r>
              <a:rPr lang="pt-BR" b="1" dirty="0" err="1"/>
              <a:t>Warehouses</a:t>
            </a:r>
            <a:r>
              <a:rPr lang="pt-BR" b="1" dirty="0"/>
              <a:t>, Data </a:t>
            </a:r>
            <a:r>
              <a:rPr lang="pt-BR" b="1" dirty="0" err="1"/>
              <a:t>Warehouses</a:t>
            </a:r>
            <a:r>
              <a:rPr lang="pt-BR" b="1" dirty="0"/>
              <a:t> virtuais </a:t>
            </a:r>
            <a:r>
              <a:rPr lang="pt-BR" dirty="0"/>
              <a:t>e </a:t>
            </a:r>
            <a:r>
              <a:rPr lang="pt-BR" b="1" dirty="0"/>
              <a:t>Data </a:t>
            </a:r>
            <a:r>
              <a:rPr lang="pt-BR" b="1" dirty="0" err="1"/>
              <a:t>Marts</a:t>
            </a:r>
            <a:r>
              <a:rPr lang="pt-BR" b="1" dirty="0"/>
              <a:t>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752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 </a:t>
            </a:r>
            <a:r>
              <a:rPr lang="pt-BR" b="1" dirty="0"/>
              <a:t>ETL PROCESS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13" y="1970523"/>
            <a:ext cx="8489964" cy="452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36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MODELO MULTIDIMENSIONAL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Modelos multidimensionais extraem o máximo dos relacionamentos inerentes aos dados para dispô-los em matrizes multidimensionais - cubos de dados.</a:t>
            </a:r>
          </a:p>
          <a:p>
            <a:r>
              <a:rPr lang="pt-BR" dirty="0"/>
              <a:t>Uma planilha padrão, ou relação, seria bidimensional.</a:t>
            </a:r>
          </a:p>
          <a:p>
            <a:r>
              <a:rPr lang="pt-BR" b="1" dirty="0"/>
              <a:t>Exemplo:</a:t>
            </a:r>
          </a:p>
          <a:p>
            <a:r>
              <a:rPr lang="pt-BR" dirty="0"/>
              <a:t>• Dimensão 1: Vendas regionais por período</a:t>
            </a:r>
          </a:p>
          <a:p>
            <a:r>
              <a:rPr lang="pt-BR" dirty="0"/>
              <a:t>• Dimensão 2: Produto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261" y="3807030"/>
            <a:ext cx="4359072" cy="304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6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MODELO MULTIDIMENSIONAL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 cubo de dados multidimensionais decompõe a dimensão 1 em duas.</a:t>
            </a:r>
          </a:p>
          <a:p>
            <a:r>
              <a:rPr lang="pt-BR" b="1" dirty="0"/>
              <a:t>Exemplo:</a:t>
            </a:r>
          </a:p>
          <a:p>
            <a:r>
              <a:rPr lang="pt-BR" dirty="0"/>
              <a:t>• Dimensão 1: Períodos Fiscais</a:t>
            </a:r>
          </a:p>
          <a:p>
            <a:r>
              <a:rPr lang="pt-BR" dirty="0"/>
              <a:t>• Dimensão 2: Produtos</a:t>
            </a:r>
          </a:p>
          <a:p>
            <a:r>
              <a:rPr lang="pt-BR" dirty="0"/>
              <a:t>• Dimensão 3: Regiões da empresa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743" y="2895805"/>
            <a:ext cx="4912160" cy="38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0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MODELO MULTIDIMENSIONAL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284" y="2599688"/>
            <a:ext cx="5319438" cy="3716271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38" y="2668199"/>
            <a:ext cx="5040073" cy="3968271"/>
          </a:xfrm>
          <a:prstGeom prst="rect">
            <a:avLst/>
          </a:prstGeom>
        </p:spPr>
      </p:pic>
      <p:sp>
        <p:nvSpPr>
          <p:cNvPr id="9" name="Seta para a direita 8"/>
          <p:cNvSpPr/>
          <p:nvPr/>
        </p:nvSpPr>
        <p:spPr>
          <a:xfrm>
            <a:off x="5806911" y="4176074"/>
            <a:ext cx="1077923" cy="1206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7149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err="1"/>
              <a:t>Pivot</a:t>
            </a:r>
            <a:r>
              <a:rPr lang="pt-BR" b="1" dirty="0"/>
              <a:t> / Giro / Reorientação:</a:t>
            </a:r>
          </a:p>
          <a:p>
            <a:r>
              <a:rPr lang="pt-BR" dirty="0"/>
              <a:t>O cubo tem a disposição dos eixos reorientada (girando sobre um </a:t>
            </a:r>
            <a:r>
              <a:rPr lang="pt-BR" dirty="0" err="1"/>
              <a:t>pivot</a:t>
            </a:r>
            <a:r>
              <a:rPr lang="pt-BR" dirty="0"/>
              <a:t>).</a:t>
            </a:r>
          </a:p>
          <a:p>
            <a:r>
              <a:rPr lang="pt-BR" b="1" dirty="0"/>
              <a:t>Exemplo:</a:t>
            </a:r>
          </a:p>
          <a:p>
            <a:r>
              <a:rPr lang="pt-BR" dirty="0"/>
              <a:t>Mostrar as receitas de vendas regionais como linhas, os totais de receita por trimestre fiscal como colunas e os produtos da empresa na terceira dimensão.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93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71" y="2399012"/>
            <a:ext cx="5274210" cy="415261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193" y="2591917"/>
            <a:ext cx="5353579" cy="3959711"/>
          </a:xfrm>
          <a:prstGeom prst="rect">
            <a:avLst/>
          </a:prstGeom>
        </p:spPr>
      </p:pic>
      <p:sp>
        <p:nvSpPr>
          <p:cNvPr id="7" name="Seta para a direita 6"/>
          <p:cNvSpPr/>
          <p:nvPr/>
        </p:nvSpPr>
        <p:spPr>
          <a:xfrm>
            <a:off x="5222449" y="4308049"/>
            <a:ext cx="1225485" cy="9615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67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err="1"/>
              <a:t>Rollup</a:t>
            </a:r>
            <a:r>
              <a:rPr lang="pt-BR" b="1" dirty="0"/>
              <a:t>:</a:t>
            </a:r>
          </a:p>
          <a:p>
            <a:r>
              <a:rPr lang="pt-BR" dirty="0"/>
              <a:t>Realiza a exibição dos dados subindo na hierarquia, agrupando os dados em unidades maiores ao longo de uma dimensão.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somar dados semanais em meses, trimestres ou ano.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1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82" y="2192408"/>
            <a:ext cx="5402741" cy="425381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892" y="2531772"/>
            <a:ext cx="5582108" cy="3746479"/>
          </a:xfrm>
          <a:prstGeom prst="rect">
            <a:avLst/>
          </a:prstGeom>
        </p:spPr>
      </p:pic>
      <p:sp>
        <p:nvSpPr>
          <p:cNvPr id="7" name="Seta para a direita 6"/>
          <p:cNvSpPr/>
          <p:nvPr/>
        </p:nvSpPr>
        <p:spPr>
          <a:xfrm>
            <a:off x="5410986" y="4534293"/>
            <a:ext cx="1074655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363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err="1"/>
              <a:t>Drill</a:t>
            </a:r>
            <a:r>
              <a:rPr lang="pt-BR" b="1" dirty="0"/>
              <a:t>-Down:</a:t>
            </a:r>
          </a:p>
          <a:p>
            <a:r>
              <a:rPr lang="pt-BR" dirty="0"/>
              <a:t>Realiza a exibição dos dados descendo na hierarquia, desagregando os dados em unidades menores ao longo de uma dimensão.</a:t>
            </a:r>
          </a:p>
          <a:p>
            <a:r>
              <a:rPr lang="pt-BR" dirty="0"/>
              <a:t>Apresenta uma visão mais detalhada.</a:t>
            </a:r>
          </a:p>
          <a:p>
            <a:r>
              <a:rPr lang="pt-BR" dirty="0"/>
              <a:t>Exemplos:</a:t>
            </a:r>
          </a:p>
          <a:p>
            <a:r>
              <a:rPr lang="pt-BR" dirty="0"/>
              <a:t>Desagregar as vendas do país por região e sub-região;</a:t>
            </a:r>
          </a:p>
          <a:p>
            <a:r>
              <a:rPr lang="pt-BR" dirty="0"/>
              <a:t>Desagregar produtos por estilos;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49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71" y="2059647"/>
            <a:ext cx="4831212" cy="380382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992" y="2558446"/>
            <a:ext cx="5972628" cy="3210266"/>
          </a:xfrm>
          <a:prstGeom prst="rect">
            <a:avLst/>
          </a:prstGeom>
        </p:spPr>
      </p:pic>
      <p:sp>
        <p:nvSpPr>
          <p:cNvPr id="7" name="Seta para a direita 6"/>
          <p:cNvSpPr/>
          <p:nvPr/>
        </p:nvSpPr>
        <p:spPr>
          <a:xfrm>
            <a:off x="4656841" y="4053526"/>
            <a:ext cx="1055802" cy="6315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5709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OPERAÇÕES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err="1"/>
              <a:t>Slice</a:t>
            </a:r>
            <a:r>
              <a:rPr lang="pt-BR" b="1" dirty="0"/>
              <a:t> e </a:t>
            </a:r>
            <a:r>
              <a:rPr lang="pt-BR" b="1" dirty="0" err="1"/>
              <a:t>Dice</a:t>
            </a:r>
            <a:r>
              <a:rPr lang="pt-BR" b="1" dirty="0"/>
              <a:t>:</a:t>
            </a:r>
          </a:p>
          <a:p>
            <a:r>
              <a:rPr lang="pt-BR" dirty="0"/>
              <a:t>Realiza operações de projeção e seleção nas N dimensões.</a:t>
            </a:r>
          </a:p>
          <a:p>
            <a:r>
              <a:rPr lang="pt-BR" b="1" dirty="0"/>
              <a:t>Ordenação:</a:t>
            </a:r>
          </a:p>
          <a:p>
            <a:r>
              <a:rPr lang="pt-BR" dirty="0"/>
              <a:t>Ordena os dados por valor ordinal.</a:t>
            </a:r>
          </a:p>
          <a:p>
            <a:r>
              <a:rPr lang="pt-BR" b="1" dirty="0"/>
              <a:t>Atributos derivados:</a:t>
            </a:r>
          </a:p>
          <a:p>
            <a:r>
              <a:rPr lang="pt-BR" dirty="0"/>
              <a:t>Atributos são calculados por operações sobre valores armazenados e derivados.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576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TABELAS DE FATOS E DE DIMENSÕES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modelo dimensional envolve dois tipos de relações (tabelas):</a:t>
            </a:r>
          </a:p>
          <a:p>
            <a:r>
              <a:rPr lang="pt-BR" b="1" dirty="0"/>
              <a:t>Tabela de dimensão:</a:t>
            </a:r>
          </a:p>
          <a:p>
            <a:r>
              <a:rPr lang="pt-BR" dirty="0"/>
              <a:t>Armazena atributos nos quais uma dimensão se decompõe.</a:t>
            </a:r>
          </a:p>
          <a:p>
            <a:r>
              <a:rPr lang="pt-BR" b="1" dirty="0"/>
              <a:t>Ex. </a:t>
            </a:r>
            <a:r>
              <a:rPr lang="pt-BR" dirty="0"/>
              <a:t>Dimensão Produto: Número, Nome, Descrição, Estilo, Linha...</a:t>
            </a:r>
          </a:p>
          <a:p>
            <a:r>
              <a:rPr lang="pt-BR" b="1" dirty="0"/>
              <a:t>Tabela de Fatos:</a:t>
            </a:r>
          </a:p>
          <a:p>
            <a:r>
              <a:rPr lang="pt-BR" dirty="0"/>
              <a:t>Armazena os fatos registrados em </a:t>
            </a:r>
            <a:r>
              <a:rPr lang="pt-BR" dirty="0" err="1"/>
              <a:t>tuplas</a:t>
            </a:r>
            <a:r>
              <a:rPr lang="pt-BR" dirty="0"/>
              <a:t>.</a:t>
            </a:r>
          </a:p>
          <a:p>
            <a:r>
              <a:rPr lang="pt-BR" dirty="0"/>
              <a:t> Cada fato possui atributos e seus valores são ponteiros / referências para tabelas de dimensão.</a:t>
            </a:r>
          </a:p>
          <a:p>
            <a:r>
              <a:rPr lang="pt-BR" b="1" dirty="0"/>
              <a:t>Ex. </a:t>
            </a:r>
            <a:r>
              <a:rPr lang="pt-BR" dirty="0"/>
              <a:t>Produto1 vendido em 10/10/2018 em </a:t>
            </a:r>
            <a:r>
              <a:rPr lang="pt-BR" dirty="0" err="1"/>
              <a:t>Mosoró</a:t>
            </a:r>
            <a:r>
              <a:rPr lang="pt-BR" dirty="0"/>
              <a:t> por R$10.000.000.000,00.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031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 </a:t>
            </a:r>
            <a:r>
              <a:rPr lang="pt-BR" b="1" dirty="0"/>
              <a:t>TABELAS DE FATOS E DE DIMENSÕES</a:t>
            </a: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055" y="1867277"/>
            <a:ext cx="7874163" cy="431288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355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</a:t>
            </a:r>
            <a:br>
              <a:rPr lang="pt-BR" dirty="0"/>
            </a:br>
            <a:r>
              <a:rPr lang="pt-BR" b="1" dirty="0"/>
              <a:t>ESQUEMAS MULTIDIMENSIONAIS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Os esquemas multidimensionais comumente variam entre Esquema Estrela e Esquema Floco de Neve.</a:t>
            </a:r>
          </a:p>
          <a:p>
            <a:r>
              <a:rPr lang="pt-BR" b="1" dirty="0"/>
              <a:t>Esquema estrela:</a:t>
            </a:r>
          </a:p>
          <a:p>
            <a:r>
              <a:rPr lang="pt-BR" dirty="0"/>
              <a:t>Uma tabela de fatos possui apenas uma tabela para cada dimensão.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89" y="3675292"/>
            <a:ext cx="5406307" cy="296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6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</a:t>
            </a:r>
            <a:br>
              <a:rPr lang="pt-BR" dirty="0"/>
            </a:br>
            <a:r>
              <a:rPr lang="pt-BR" b="1" dirty="0"/>
              <a:t>ESQUEMAS MULTIDIMENSIONAIS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Os esquemas multidimensionais comumente variam entre Esquema Estrela e Esquema Floco de Neve.</a:t>
            </a:r>
          </a:p>
          <a:p>
            <a:r>
              <a:rPr lang="pt-BR" b="1" dirty="0"/>
              <a:t>Esquema Floco de Neve:</a:t>
            </a:r>
          </a:p>
          <a:p>
            <a:r>
              <a:rPr lang="pt-BR" dirty="0"/>
              <a:t>As tabelas de dimensões são normalizadas até a 3FN, gerando uma hierarquia de relações.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68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</a:t>
            </a:r>
            <a:br>
              <a:rPr lang="pt-BR" dirty="0"/>
            </a:br>
            <a:r>
              <a:rPr lang="pt-BR" b="1" dirty="0"/>
              <a:t>ESQUEMAS MULTIDIMENSIONAIS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87" y="2179208"/>
            <a:ext cx="10043633" cy="41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95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/>
              <a:t>DATA WAREHOUSE</a:t>
            </a:r>
            <a:br>
              <a:rPr lang="pt-BR" dirty="0"/>
            </a:br>
            <a:r>
              <a:rPr lang="pt-BR" b="1" dirty="0"/>
              <a:t>CONSTELAÇÃO DE FATOS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Ocorre quando mais de uma tabela de fato acessa uma mesma dimensão.</a:t>
            </a:r>
          </a:p>
          <a:p>
            <a:r>
              <a:rPr lang="pt-BR" b="1" dirty="0"/>
              <a:t>Uma constelação de fatos </a:t>
            </a:r>
            <a:r>
              <a:rPr lang="pt-BR" dirty="0"/>
              <a:t>é um conjunto de tabelas de fatos que compartilham algumas tabelas de dimensão.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93" y="3847138"/>
            <a:ext cx="7962788" cy="27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75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DATA WAREHOUSE BIG DATA </a:t>
            </a:r>
            <a:r>
              <a:rPr lang="pt-BR" dirty="0" err="1"/>
              <a:t>DATA</a:t>
            </a:r>
            <a:r>
              <a:rPr lang="pt-BR" dirty="0"/>
              <a:t> SCIENCE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CHAUDHURI, </a:t>
            </a:r>
            <a:r>
              <a:rPr lang="en-US" dirty="0" err="1"/>
              <a:t>Surajit</a:t>
            </a:r>
            <a:r>
              <a:rPr lang="en-US" dirty="0"/>
              <a:t>; DAYAL, </a:t>
            </a:r>
            <a:r>
              <a:rPr lang="en-US" dirty="0" err="1"/>
              <a:t>Umeshwar</a:t>
            </a:r>
            <a:r>
              <a:rPr lang="en-US" dirty="0"/>
              <a:t>. </a:t>
            </a:r>
            <a:r>
              <a:rPr lang="en-US" b="1" dirty="0"/>
              <a:t>An overview of data warehousing and OLAP technology. </a:t>
            </a:r>
            <a:r>
              <a:rPr lang="en-US" dirty="0"/>
              <a:t>ACM </a:t>
            </a:r>
            <a:r>
              <a:rPr lang="en-US" dirty="0" err="1"/>
              <a:t>Sigmod</a:t>
            </a:r>
            <a:r>
              <a:rPr lang="en-US" dirty="0"/>
              <a:t> record, v. 26, n. 1, p. 65-74, 1997.</a:t>
            </a:r>
          </a:p>
          <a:p>
            <a:r>
              <a:rPr lang="en-US" dirty="0"/>
              <a:t>SAGIROGLU, </a:t>
            </a:r>
            <a:r>
              <a:rPr lang="en-US" dirty="0" err="1"/>
              <a:t>Seref</a:t>
            </a:r>
            <a:r>
              <a:rPr lang="en-US" dirty="0"/>
              <a:t>; SINANC, </a:t>
            </a:r>
            <a:r>
              <a:rPr lang="en-US" dirty="0" err="1"/>
              <a:t>Duygu</a:t>
            </a:r>
            <a:r>
              <a:rPr lang="en-US" dirty="0"/>
              <a:t>. </a:t>
            </a:r>
            <a:r>
              <a:rPr lang="en-US" b="1" dirty="0"/>
              <a:t>Big data: A review. </a:t>
            </a:r>
            <a:r>
              <a:rPr lang="en-US" dirty="0"/>
              <a:t>In: Collaboration Technologies and Systems (CTS), 2013 International Conference on. IEEE, 2013. p. 42-47.</a:t>
            </a:r>
          </a:p>
          <a:p>
            <a:r>
              <a:rPr lang="en-US" dirty="0"/>
              <a:t>DHAR, Vasant. </a:t>
            </a:r>
            <a:r>
              <a:rPr lang="en-US" b="1" dirty="0"/>
              <a:t>Data science and prediction. </a:t>
            </a:r>
            <a:r>
              <a:rPr lang="en-US" dirty="0"/>
              <a:t>Communications of the ACM, v. 56, n. 12, </a:t>
            </a:r>
            <a:r>
              <a:rPr lang="pt-BR" dirty="0"/>
              <a:t>p. 64-73, 2013.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087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B21F-75CB-E9D9-66F8-3FF83CA1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DA780F6A-42BE-C3F0-0468-087E640E12F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049D94-C7B4-6777-B0B6-FB4D4079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 história da fralda e da cerveja.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4A8962-2D0C-2E22-B99F-9D6A7BC3D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8307" y="5869173"/>
            <a:ext cx="3276600" cy="1007829"/>
          </a:xfrm>
        </p:spPr>
        <p:txBody>
          <a:bodyPr>
            <a:normAutofit/>
          </a:bodyPr>
          <a:lstStyle/>
          <a:p>
            <a:r>
              <a:rPr lang="pt-BR" sz="1200" dirty="0"/>
              <a:t>Fonte: https://medium.com/@wonderwanny/a-inteligencia-em-comprar-cerveja-e-fraldas-a617899556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E1AA601-62E9-5554-7D07-B68C64866A0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FC8A95-09E0-992D-2B9C-FC09C722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57" y="1343310"/>
            <a:ext cx="5288533" cy="54200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FDFDD80-8DBF-DABD-B395-E56F1A050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7" y="2615233"/>
            <a:ext cx="2861007" cy="2861007"/>
          </a:xfrm>
          <a:prstGeom prst="rect">
            <a:avLst/>
          </a:prstGeom>
        </p:spPr>
      </p:pic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DDE81D49-AA2B-4B78-DB77-F7B99B525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70162">
            <a:off x="6792741" y="2427098"/>
            <a:ext cx="5506720" cy="132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06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09F2-01A2-034E-943D-8833E91F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A713FB81-4492-F176-36C6-C33547C42E6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EE115A-6A54-7369-366C-C30CFAE6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 história da frauda e da cerveja.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B6A6D-2667-864C-1B4C-5DB13545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>
                <a:hlinkClick r:id="rId2"/>
              </a:rPr>
              <a:t>https://medium.com/@wonderwanny/a-inteligencia-em-comprar-cerveja-e-fraldas-a617899556</a:t>
            </a:r>
            <a:endParaRPr lang="pt-BR" dirty="0"/>
          </a:p>
          <a:p>
            <a:r>
              <a:rPr lang="pt-BR" dirty="0">
                <a:hlinkClick r:id="rId3"/>
              </a:rPr>
              <a:t>https://www.opencadd.com.br/blog/cerveja-fraldas-e-big-data</a:t>
            </a:r>
            <a:endParaRPr lang="pt-BR" dirty="0"/>
          </a:p>
          <a:p>
            <a:r>
              <a:rPr lang="pt-BR" dirty="0">
                <a:hlinkClick r:id="rId4"/>
              </a:rPr>
              <a:t>https://abemd.org.br/noticia/como-cerveja-e-fralda-viraram-ouro-em-uma-grande-rede-de-supermercados/</a:t>
            </a:r>
            <a:endParaRPr lang="pt-BR" dirty="0"/>
          </a:p>
          <a:p>
            <a:r>
              <a:rPr lang="pt-BR" dirty="0"/>
              <a:t>https://exame.com/revista-exame/o-que-cerveja-tem-a-ver-com-fraldas-m0053931/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365E3F4-2149-5151-518C-2EC50374BB3C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563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9D89-AE1A-7E53-A543-48A54634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9B37D28C-6BE9-C48C-AAFC-B150A28332ED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398C39-0E20-CC72-09F6-F48BE42E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D5A72C-9DA4-8840-9127-895FB33C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Explique o que é Big Data.</a:t>
            </a:r>
          </a:p>
          <a:p>
            <a:r>
              <a:rPr lang="pt-BR" dirty="0"/>
              <a:t>Qual as semelhanças e diferenças entre Data Waterhouse e Big Data? Descreva-as. </a:t>
            </a:r>
          </a:p>
          <a:p>
            <a:r>
              <a:rPr lang="pt-BR" dirty="0"/>
              <a:t>Faça uma pesquisa e explique quais são os 5Vs do Big Data.</a:t>
            </a:r>
          </a:p>
          <a:p>
            <a:r>
              <a:rPr lang="pt-BR" dirty="0"/>
              <a:t>Faça uma pesquisa e cite produtos que possuem Big Data. </a:t>
            </a:r>
          </a:p>
          <a:p>
            <a:r>
              <a:rPr lang="pt-BR" dirty="0"/>
              <a:t>Faça um resumo do artigo a seguir, utilize o Google Acadêmico para encontrar o artigo, no site do artigo procure a opção .</a:t>
            </a:r>
            <a:r>
              <a:rPr lang="pt-BR" dirty="0" err="1"/>
              <a:t>pdf</a:t>
            </a:r>
            <a:r>
              <a:rPr lang="pt-BR" dirty="0"/>
              <a:t>: </a:t>
            </a:r>
            <a:r>
              <a:rPr lang="pt-BR" dirty="0" err="1"/>
              <a:t>Coneglian</a:t>
            </a:r>
            <a:r>
              <a:rPr lang="pt-BR" dirty="0"/>
              <a:t>, C. S., </a:t>
            </a:r>
            <a:r>
              <a:rPr lang="pt-BR" dirty="0" err="1"/>
              <a:t>Gonçalez</a:t>
            </a:r>
            <a:r>
              <a:rPr lang="pt-BR" dirty="0"/>
              <a:t>, P. R. V. A., &amp; Segundo, J. E. S. (2017). O profissional da informação na era do big data. </a:t>
            </a:r>
            <a:r>
              <a:rPr lang="pt-BR" i="1" dirty="0"/>
              <a:t>Encontros </a:t>
            </a:r>
            <a:r>
              <a:rPr lang="pt-BR" i="1" dirty="0" err="1"/>
              <a:t>Bibli</a:t>
            </a:r>
            <a:r>
              <a:rPr lang="pt-BR" i="1" dirty="0"/>
              <a:t>: revista eletrônica de biblioteconomia e ciência da informação</a:t>
            </a:r>
            <a:r>
              <a:rPr lang="pt-BR" dirty="0"/>
              <a:t>, </a:t>
            </a:r>
            <a:r>
              <a:rPr lang="pt-BR" i="1" dirty="0"/>
              <a:t>22</a:t>
            </a:r>
            <a:r>
              <a:rPr lang="pt-BR" dirty="0"/>
              <a:t>(50), 128-143.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8D8C82B-88A7-C166-CD4C-8756BA11D209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380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A63F-AEEA-52D2-3EC3-C7F0D09E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DE5A05B9-0F20-0783-EE1F-C6D9C56B3D2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7F2AB8-053B-AB9D-6629-CA669D76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EB5CA2-5A9C-A865-40B7-BC2F0D691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Entrega dia </a:t>
            </a:r>
            <a:r>
              <a:rPr lang="pt-BR" u="sng" dirty="0"/>
              <a:t>08/05/25</a:t>
            </a:r>
            <a:r>
              <a:rPr lang="pt-BR" dirty="0"/>
              <a:t>.</a:t>
            </a:r>
          </a:p>
          <a:p>
            <a:r>
              <a:rPr lang="pt-BR" dirty="0"/>
              <a:t>Neste dia será sorteado um tema para cada aluno decorrer sobre o mesmo, que podem ser 1 dos 5Vs, produtos com Big Data ou sobre </a:t>
            </a:r>
            <a:r>
              <a:rPr lang="pt-BR"/>
              <a:t>o resumo.</a:t>
            </a:r>
            <a:endParaRPr lang="pt-BR" dirty="0"/>
          </a:p>
          <a:p>
            <a:r>
              <a:rPr lang="pt-BR" dirty="0"/>
              <a:t>Colocar as referências bibliográficas da fonte da informação.</a:t>
            </a:r>
          </a:p>
          <a:p>
            <a:r>
              <a:rPr lang="pt-BR" dirty="0"/>
              <a:t>Utilize as normas ABNT (Capa, sumário, desenvolvimento, conclusão e referências).</a:t>
            </a:r>
          </a:p>
          <a:p>
            <a:r>
              <a:rPr lang="pt-BR" dirty="0"/>
              <a:t>Entregar via e-mail: </a:t>
            </a:r>
            <a:r>
              <a:rPr lang="pt-BR" dirty="0">
                <a:hlinkClick r:id="rId2"/>
              </a:rPr>
              <a:t>matheus.simon@docente.pr.senac.br</a:t>
            </a:r>
            <a:endParaRPr lang="pt-BR" dirty="0"/>
          </a:p>
          <a:p>
            <a:r>
              <a:rPr lang="pt-BR" dirty="0"/>
              <a:t>Assunto do e-mail: Trab_t1_bdII_1s_2.</a:t>
            </a:r>
          </a:p>
          <a:p>
            <a:r>
              <a:rPr lang="pt-BR" dirty="0"/>
              <a:t>Peso 1 ponto.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BBAC9F-499A-D2C7-13EE-9424BBDA71A7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400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2201</TotalTime>
  <Words>1495</Words>
  <Application>Microsoft Office PowerPoint</Application>
  <PresentationFormat>Widescreen</PresentationFormat>
  <Paragraphs>147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do Office</vt:lpstr>
      <vt:lpstr>Apresentação do PowerPoint</vt:lpstr>
      <vt:lpstr>CONTEXTO</vt:lpstr>
      <vt:lpstr>DATA WAREHOUSE</vt:lpstr>
      <vt:lpstr>DATA WAREHOUSE</vt:lpstr>
      <vt:lpstr>DATA WAREHOUSE</vt:lpstr>
      <vt:lpstr>DATA WAREHOUSE</vt:lpstr>
      <vt:lpstr>DATA WAREHOUSE CARACTERÍSTICAS</vt:lpstr>
      <vt:lpstr>DATA WAREHOUSE ETL PROCESS</vt:lpstr>
      <vt:lpstr>DATA WAREHOUSE ETL PROCESS</vt:lpstr>
      <vt:lpstr>DATA WAREHOUSE ETL PROCESS</vt:lpstr>
      <vt:lpstr>DATA WAREHOUSE MODELO MULTIDIMENSIONAL</vt:lpstr>
      <vt:lpstr>DATA WAREHOUSE MODELO MULTIDIMENSIONAL</vt:lpstr>
      <vt:lpstr>DATA WAREHOUSE MODELO MULTIDIMENSIONAL</vt:lpstr>
      <vt:lpstr>DATA WAREHOUSE OPERAÇÕES</vt:lpstr>
      <vt:lpstr>DATA WAREHOUSE OPERAÇÕES</vt:lpstr>
      <vt:lpstr>DATA WAREHOUSE OPERAÇÕES</vt:lpstr>
      <vt:lpstr>DATA WAREHOUSE OPERAÇÕES</vt:lpstr>
      <vt:lpstr>DATA WAREHOUSE OPERAÇÕES</vt:lpstr>
      <vt:lpstr>DATA WAREHOUSE OPERAÇÕES</vt:lpstr>
      <vt:lpstr>DATA WAREHOUSE OPERAÇÕES</vt:lpstr>
      <vt:lpstr>DATA WAREHOUSE TABELAS DE FATOS E DE DIMENSÕES</vt:lpstr>
      <vt:lpstr>DATA WAREHOUSE TABELAS DE FATOS E DE DIMENSÕES</vt:lpstr>
      <vt:lpstr>DATA WAREHOUSE ESQUEMAS MULTIDIMENSIONAIS</vt:lpstr>
      <vt:lpstr>DATA WAREHOUSE ESQUEMAS MULTIDIMENSIONAIS</vt:lpstr>
      <vt:lpstr>DATA WAREHOUSE ESQUEMAS MULTIDIMENSIONAIS</vt:lpstr>
      <vt:lpstr>DATA WAREHOUSE CONSTELAÇÃO DE FATOS</vt:lpstr>
      <vt:lpstr>DATA WAREHOUSE BIG DATA DATA SCIENCE</vt:lpstr>
      <vt:lpstr>A história da fralda e da cerveja. </vt:lpstr>
      <vt:lpstr>A história da frauda e da cerveja. </vt:lpstr>
      <vt:lpstr>Exercício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98</cp:revision>
  <dcterms:created xsi:type="dcterms:W3CDTF">2023-01-24T23:29:32Z</dcterms:created>
  <dcterms:modified xsi:type="dcterms:W3CDTF">2025-05-05T17:47:30Z</dcterms:modified>
</cp:coreProperties>
</file>