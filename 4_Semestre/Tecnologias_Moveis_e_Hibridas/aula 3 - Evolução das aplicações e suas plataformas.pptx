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99" r:id="rId5"/>
    <p:sldId id="258" r:id="rId6"/>
    <p:sldId id="260" r:id="rId7"/>
    <p:sldId id="303" r:id="rId8"/>
    <p:sldId id="262" r:id="rId9"/>
    <p:sldId id="263" r:id="rId10"/>
    <p:sldId id="300" r:id="rId11"/>
    <p:sldId id="302" r:id="rId12"/>
    <p:sldId id="261" r:id="rId13"/>
    <p:sldId id="265" r:id="rId14"/>
    <p:sldId id="266" r:id="rId15"/>
    <p:sldId id="267" r:id="rId16"/>
    <p:sldId id="268" r:id="rId17"/>
    <p:sldId id="264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301" r:id="rId4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E83"/>
    <a:srgbClr val="425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8956-67A0-47CA-8AD0-8F1E18D46015}" v="4" dt="2025-02-18T19:14:58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01388956-67A0-47CA-8AD0-8F1E18D46015}"/>
    <pc:docChg chg="custSel addSld modSld sldOrd">
      <pc:chgData name="matheus raffael simon" userId="b81fe4e685964744" providerId="LiveId" clId="{01388956-67A0-47CA-8AD0-8F1E18D46015}" dt="2025-02-18T19:21:23.664" v="65" actId="20577"/>
      <pc:docMkLst>
        <pc:docMk/>
      </pc:docMkLst>
      <pc:sldChg chg="addSp modSp mod">
        <pc:chgData name="matheus raffael simon" userId="b81fe4e685964744" providerId="LiveId" clId="{01388956-67A0-47CA-8AD0-8F1E18D46015}" dt="2025-02-18T18:27:39.076" v="4" actId="1076"/>
        <pc:sldMkLst>
          <pc:docMk/>
          <pc:sldMk cId="958342052" sldId="299"/>
        </pc:sldMkLst>
        <pc:spChg chg="add mod">
          <ac:chgData name="matheus raffael simon" userId="b81fe4e685964744" providerId="LiveId" clId="{01388956-67A0-47CA-8AD0-8F1E18D46015}" dt="2025-02-18T18:27:39.076" v="4" actId="1076"/>
          <ac:spMkLst>
            <pc:docMk/>
            <pc:sldMk cId="958342052" sldId="299"/>
            <ac:spMk id="4" creationId="{D8151D81-2030-0A6A-3204-A708165EA399}"/>
          </ac:spMkLst>
        </pc:spChg>
      </pc:sldChg>
      <pc:sldChg chg="modSp mod">
        <pc:chgData name="matheus raffael simon" userId="b81fe4e685964744" providerId="LiveId" clId="{01388956-67A0-47CA-8AD0-8F1E18D46015}" dt="2025-02-18T19:21:23.664" v="65" actId="20577"/>
        <pc:sldMkLst>
          <pc:docMk/>
          <pc:sldMk cId="1659578240" sldId="301"/>
        </pc:sldMkLst>
        <pc:spChg chg="mod">
          <ac:chgData name="matheus raffael simon" userId="b81fe4e685964744" providerId="LiveId" clId="{01388956-67A0-47CA-8AD0-8F1E18D46015}" dt="2025-02-18T19:21:23.664" v="65" actId="20577"/>
          <ac:spMkLst>
            <pc:docMk/>
            <pc:sldMk cId="1659578240" sldId="301"/>
            <ac:spMk id="3" creationId="{00000000-0000-0000-0000-000000000000}"/>
          </ac:spMkLst>
        </pc:spChg>
      </pc:sldChg>
      <pc:sldChg chg="addSp modSp add mod ord">
        <pc:chgData name="matheus raffael simon" userId="b81fe4e685964744" providerId="LiveId" clId="{01388956-67A0-47CA-8AD0-8F1E18D46015}" dt="2025-02-18T18:35:08.277" v="36" actId="1076"/>
        <pc:sldMkLst>
          <pc:docMk/>
          <pc:sldMk cId="3435325760" sldId="302"/>
        </pc:sldMkLst>
        <pc:spChg chg="mod">
          <ac:chgData name="matheus raffael simon" userId="b81fe4e685964744" providerId="LiveId" clId="{01388956-67A0-47CA-8AD0-8F1E18D46015}" dt="2025-02-18T18:30:37.420" v="25" actId="1076"/>
          <ac:spMkLst>
            <pc:docMk/>
            <pc:sldMk cId="3435325760" sldId="302"/>
            <ac:spMk id="2" creationId="{465C2E8C-7C8C-267E-FE3C-8F042D1709AC}"/>
          </ac:spMkLst>
        </pc:spChg>
        <pc:picChg chg="add mod">
          <ac:chgData name="matheus raffael simon" userId="b81fe4e685964744" providerId="LiveId" clId="{01388956-67A0-47CA-8AD0-8F1E18D46015}" dt="2025-02-18T18:33:13.013" v="31" actId="1076"/>
          <ac:picMkLst>
            <pc:docMk/>
            <pc:sldMk cId="3435325760" sldId="302"/>
            <ac:picMk id="5" creationId="{96A46D28-7BC1-DC4A-2F89-75EA11C893D2}"/>
          </ac:picMkLst>
        </pc:picChg>
        <pc:picChg chg="add mod">
          <ac:chgData name="matheus raffael simon" userId="b81fe4e685964744" providerId="LiveId" clId="{01388956-67A0-47CA-8AD0-8F1E18D46015}" dt="2025-02-18T18:35:06.813" v="35" actId="1076"/>
          <ac:picMkLst>
            <pc:docMk/>
            <pc:sldMk cId="3435325760" sldId="302"/>
            <ac:picMk id="7" creationId="{C6B4A6CB-5D26-4475-001A-3F2BA8A366FF}"/>
          </ac:picMkLst>
        </pc:picChg>
        <pc:picChg chg="add mod">
          <ac:chgData name="matheus raffael simon" userId="b81fe4e685964744" providerId="LiveId" clId="{01388956-67A0-47CA-8AD0-8F1E18D46015}" dt="2025-02-18T18:35:08.277" v="36" actId="1076"/>
          <ac:picMkLst>
            <pc:docMk/>
            <pc:sldMk cId="3435325760" sldId="302"/>
            <ac:picMk id="11" creationId="{B641217E-0DB7-E2B5-9645-FD998C600717}"/>
          </ac:picMkLst>
        </pc:picChg>
      </pc:sldChg>
      <pc:sldChg chg="addSp delSp modSp add mod">
        <pc:chgData name="matheus raffael simon" userId="b81fe4e685964744" providerId="LiveId" clId="{01388956-67A0-47CA-8AD0-8F1E18D46015}" dt="2025-02-18T19:13:25.679" v="55" actId="14100"/>
        <pc:sldMkLst>
          <pc:docMk/>
          <pc:sldMk cId="2619531499" sldId="303"/>
        </pc:sldMkLst>
        <pc:spChg chg="mod">
          <ac:chgData name="matheus raffael simon" userId="b81fe4e685964744" providerId="LiveId" clId="{01388956-67A0-47CA-8AD0-8F1E18D46015}" dt="2025-02-18T19:13:25.679" v="55" actId="14100"/>
          <ac:spMkLst>
            <pc:docMk/>
            <pc:sldMk cId="2619531499" sldId="303"/>
            <ac:spMk id="2" creationId="{FE4BCAA3-AC5A-FFD3-B77F-532229C0C92F}"/>
          </ac:spMkLst>
        </pc:spChg>
        <pc:spChg chg="mod">
          <ac:chgData name="matheus raffael simon" userId="b81fe4e685964744" providerId="LiveId" clId="{01388956-67A0-47CA-8AD0-8F1E18D46015}" dt="2025-02-18T19:08:09.559" v="45" actId="1076"/>
          <ac:spMkLst>
            <pc:docMk/>
            <pc:sldMk cId="2619531499" sldId="303"/>
            <ac:spMk id="9" creationId="{E4F85E36-6746-2240-BA3F-75F902E2392F}"/>
          </ac:spMkLst>
        </pc:spChg>
        <pc:spChg chg="mod">
          <ac:chgData name="matheus raffael simon" userId="b81fe4e685964744" providerId="LiveId" clId="{01388956-67A0-47CA-8AD0-8F1E18D46015}" dt="2025-02-18T19:08:12.758" v="46" actId="1076"/>
          <ac:spMkLst>
            <pc:docMk/>
            <pc:sldMk cId="2619531499" sldId="303"/>
            <ac:spMk id="11" creationId="{DC69315B-F428-5EAA-C123-39E609E1DF27}"/>
          </ac:spMkLst>
        </pc:spChg>
        <pc:picChg chg="add mod">
          <ac:chgData name="matheus raffael simon" userId="b81fe4e685964744" providerId="LiveId" clId="{01388956-67A0-47CA-8AD0-8F1E18D46015}" dt="2025-02-18T18:37:40.116" v="42" actId="1076"/>
          <ac:picMkLst>
            <pc:docMk/>
            <pc:sldMk cId="2619531499" sldId="303"/>
            <ac:picMk id="4" creationId="{27E94EA5-B2F6-223D-5F9F-7DB7AC7A5AC1}"/>
          </ac:picMkLst>
        </pc:picChg>
        <pc:picChg chg="add mod">
          <ac:chgData name="matheus raffael simon" userId="b81fe4e685964744" providerId="LiveId" clId="{01388956-67A0-47CA-8AD0-8F1E18D46015}" dt="2025-02-18T19:08:05.719" v="44" actId="1076"/>
          <ac:picMkLst>
            <pc:docMk/>
            <pc:sldMk cId="2619531499" sldId="303"/>
            <ac:picMk id="6" creationId="{2AF541BE-E252-7A5F-D39D-F386368D0481}"/>
          </ac:picMkLst>
        </pc:picChg>
        <pc:picChg chg="add mod">
          <ac:chgData name="matheus raffael simon" userId="b81fe4e685964744" providerId="LiveId" clId="{01388956-67A0-47CA-8AD0-8F1E18D46015}" dt="2025-02-18T19:13:08.007" v="48" actId="1076"/>
          <ac:picMkLst>
            <pc:docMk/>
            <pc:sldMk cId="2619531499" sldId="303"/>
            <ac:picMk id="13" creationId="{C5F98E3B-0A50-A8AA-E024-B4A1336B48D4}"/>
          </ac:picMkLst>
        </pc:picChg>
        <pc:picChg chg="del">
          <ac:chgData name="matheus raffael simon" userId="b81fe4e685964744" providerId="LiveId" clId="{01388956-67A0-47CA-8AD0-8F1E18D46015}" dt="2025-02-18T18:37:31.254" v="38" actId="478"/>
          <ac:picMkLst>
            <pc:docMk/>
            <pc:sldMk cId="2619531499" sldId="303"/>
            <ac:picMk id="3074" creationId="{401E7019-657C-BC69-9755-899913A020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18/02/2025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archive.org/web/20190215173659/http:/www.liquidapsive.com:80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service-manual/technology/working-with-mobile-technology" TargetMode="External"/><Relationship Id="rId2" Type="http://schemas.openxmlformats.org/officeDocument/2006/relationships/hyperlink" Target="https://gds.blog.gov.uk/2013/03/12/were-not-appy-not-appy-at-all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pragmaticengineer.com/10-engineering-challenges-due-to-the-nature-of-mobile-applications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pragmaticengineer.com/10-engineering-challenges-due-to-the-nature-of-mobile-applica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4886742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Evolução das aplicações e suas plataformas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86816" y="1050595"/>
            <a:ext cx="2871258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Desktop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1026" name="Picture 2" descr="https://lh7-us.googleusercontent.com/slidesz/AGV_vUd0AIEW0euUEQa2SLzFkvKYkdac5uxy9WMin2Eboa-KOBKQIvM_DCdVUkqr5k3lYCrOSboikVyqYGvReVFvsU0LGbv1A4gjVOIq5i2xCTzrNolNFdnpaWzg1at0aB1cHYzQN0pNsviR2nej3s6AFkL_IAyhnLWQ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0" y="1643368"/>
            <a:ext cx="5535340" cy="458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5733520" y="2438066"/>
            <a:ext cx="3358500" cy="92333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Open Sans"/>
              </a:rPr>
              <a:t>Software local (precisa instalar) e nativo (só Windows)</a:t>
            </a:r>
            <a:endParaRPr lang="pt-BR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86816" y="3723335"/>
            <a:ext cx="3358500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Open Sans"/>
              </a:rPr>
              <a:t>Distribuição via disquete, depois CD, depois internet</a:t>
            </a:r>
            <a:endParaRPr lang="pt-BR" b="1" dirty="0">
              <a:solidFill>
                <a:schemeClr val="bg1"/>
              </a:solidFill>
              <a:effectLst/>
              <a:latin typeface="Open Sans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5686816" y="5103352"/>
            <a:ext cx="33585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Open Sans"/>
                <a:ea typeface="NSimSun" panose="02010609030101010101" pitchFamily="49" charset="-122"/>
              </a:rPr>
              <a:t>Assistentes de instalação</a:t>
            </a:r>
            <a:endParaRPr lang="pt-BR" b="1" dirty="0">
              <a:solidFill>
                <a:schemeClr val="bg1"/>
              </a:solidFill>
              <a:effectLst/>
              <a:latin typeface="Open Sans"/>
              <a:ea typeface="NSimSun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015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b="1" dirty="0"/>
              <a:t>História do software com GUI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517732"/>
            <a:ext cx="7239037" cy="4336699"/>
          </a:xfrm>
        </p:spPr>
        <p:txBody>
          <a:bodyPr anchor="t">
            <a:normAutofit fontScale="70000" lnSpcReduction="20000"/>
          </a:bodyPr>
          <a:lstStyle/>
          <a:p>
            <a:pPr fontAlgn="base"/>
            <a:r>
              <a:rPr lang="pt-BR" dirty="0"/>
              <a:t>Desktop: resolução fixa, em geral um SO específico. Local e nativo.</a:t>
            </a:r>
            <a:endParaRPr lang="pt-BR" sz="3200" b="1" dirty="0"/>
          </a:p>
          <a:p>
            <a:pPr fontAlgn="base"/>
            <a:r>
              <a:rPr lang="pt-BR" dirty="0"/>
              <a:t>Web: plataforma é o browser. "melhor visualizado na resolução 800x600 usando o navegador Internet Explorer 5.0 ou superior". "Requer </a:t>
            </a:r>
            <a:r>
              <a:rPr lang="pt-BR" dirty="0" err="1"/>
              <a:t>plugin</a:t>
            </a:r>
            <a:r>
              <a:rPr lang="pt-BR" dirty="0"/>
              <a:t> do Flash". Não precisa instalar nada. Remoto.</a:t>
            </a:r>
          </a:p>
          <a:p>
            <a:pPr fontAlgn="base"/>
            <a:r>
              <a:rPr lang="pt-BR" dirty="0" err="1"/>
              <a:t>Feature</a:t>
            </a:r>
            <a:r>
              <a:rPr lang="pt-BR" dirty="0"/>
              <a:t> </a:t>
            </a:r>
            <a:r>
              <a:rPr lang="pt-BR" dirty="0" err="1"/>
              <a:t>phones</a:t>
            </a:r>
            <a:r>
              <a:rPr lang="pt-BR" dirty="0"/>
              <a:t>. Sistema operacional específico e limitado.</a:t>
            </a:r>
          </a:p>
          <a:p>
            <a:pPr fontAlgn="base"/>
            <a:r>
              <a:rPr lang="pt-BR" dirty="0"/>
              <a:t>Evolução: </a:t>
            </a:r>
            <a:r>
              <a:rPr lang="pt-BR" dirty="0" err="1"/>
              <a:t>blackberry</a:t>
            </a:r>
            <a:r>
              <a:rPr lang="pt-BR" dirty="0"/>
              <a:t>. Teclado físico. Tenta imitar o desktop.</a:t>
            </a:r>
          </a:p>
          <a:p>
            <a:pPr fontAlgn="base"/>
            <a:r>
              <a:rPr lang="pt-BR" dirty="0"/>
              <a:t>iPhone (Smartphones). Tela pequena. </a:t>
            </a:r>
            <a:r>
              <a:rPr lang="pt-BR" dirty="0" err="1"/>
              <a:t>Viewport</a:t>
            </a:r>
            <a:r>
              <a:rPr lang="pt-BR" dirty="0"/>
              <a:t> (tela virtual). Gesto de pinça. Originalmente, não havia </a:t>
            </a:r>
            <a:r>
              <a:rPr lang="pt-BR" dirty="0" err="1"/>
              <a:t>apps</a:t>
            </a:r>
            <a:r>
              <a:rPr lang="pt-BR" dirty="0"/>
              <a:t>; só web (limitado; evolução: PWA)</a:t>
            </a:r>
          </a:p>
          <a:p>
            <a:pPr lvl="1" fontAlgn="base"/>
            <a:r>
              <a:rPr lang="pt-BR" dirty="0"/>
              <a:t>Acelerou a morte do Flash e a popularização de design responsivo</a:t>
            </a:r>
          </a:p>
          <a:p>
            <a:pPr fontAlgn="base"/>
            <a:r>
              <a:rPr lang="pt-BR" dirty="0" err="1"/>
              <a:t>Apps</a:t>
            </a:r>
            <a:r>
              <a:rPr lang="pt-BR" dirty="0"/>
              <a:t>: inicialmente nativos. Depois, surgiram tecnologias multiplataforma.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Tablets, </a:t>
            </a:r>
            <a:r>
              <a:rPr lang="pt-BR" dirty="0" err="1"/>
              <a:t>smartwatches</a:t>
            </a:r>
            <a:r>
              <a:rPr lang="pt-BR" dirty="0"/>
              <a:t>...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151D81-2030-0A6A-3204-A708165EA399}"/>
              </a:ext>
            </a:extLst>
          </p:cNvPr>
          <p:cNvSpPr txBox="1"/>
          <p:nvPr/>
        </p:nvSpPr>
        <p:spPr>
          <a:xfrm>
            <a:off x="240030" y="0"/>
            <a:ext cx="615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PWA (</a:t>
            </a:r>
            <a:r>
              <a:rPr lang="pt-BR" dirty="0" err="1"/>
              <a:t>Progressive</a:t>
            </a:r>
            <a:r>
              <a:rPr lang="pt-BR" dirty="0"/>
              <a:t> Web App) é uma aplicação web que combina </a:t>
            </a:r>
          </a:p>
          <a:p>
            <a:r>
              <a:rPr lang="pt-BR" dirty="0"/>
              <a:t>as funcionalidades de sites e aplicativos móveis.</a:t>
            </a:r>
          </a:p>
        </p:txBody>
      </p:sp>
    </p:spTree>
    <p:extLst>
      <p:ext uri="{BB962C8B-B14F-4D97-AF65-F5344CB8AC3E}">
        <p14:creationId xmlns:p14="http://schemas.microsoft.com/office/powerpoint/2010/main" val="958342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Visão geral sobre dispositivos móveis. Visão geral de plataformas de desenvolvimento para </a:t>
            </a:r>
            <a:r>
              <a:rPr lang="pt-BR" sz="2500" dirty="0" err="1"/>
              <a:t>Android</a:t>
            </a:r>
            <a:r>
              <a:rPr lang="pt-BR" sz="2500" dirty="0"/>
              <a:t> e IOS. Requisitos e desafios para computação móvel. Obsolescência programada de hardware. </a:t>
            </a:r>
            <a:r>
              <a:rPr lang="pt-BR" sz="2500" dirty="0" err="1"/>
              <a:t>Flutter</a:t>
            </a:r>
            <a:r>
              <a:rPr lang="pt-BR" sz="2500" dirty="0"/>
              <a:t>. Arquitetura de software para dispositivos móveis. Comunicação para dispositivos móveis. Banco de dados móvel. Middleware e frameworks para Computação Móvel. Programação voltada para dispositivo móvel. Interface. Transferência cliente-servidor. Utilização de recursos do dispositivo móvel. Projeto Calculadora. Projeto Campo Minado. Publicação de aplicativo em loja oficial. </a:t>
            </a:r>
            <a:r>
              <a:rPr lang="pt-BR" sz="2500" dirty="0" err="1"/>
              <a:t>Dart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" y="896953"/>
            <a:ext cx="9092486" cy="519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3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0725" y="71334"/>
            <a:ext cx="4662479" cy="1103882"/>
          </a:xfrm>
        </p:spPr>
        <p:txBody>
          <a:bodyPr anchor="ctr">
            <a:normAutofit fontScale="90000"/>
          </a:bodyPr>
          <a:lstStyle/>
          <a:p>
            <a:r>
              <a:rPr lang="pt-BR" sz="5400" dirty="0"/>
              <a:t>Celular antigo</a:t>
            </a:r>
            <a:br>
              <a:rPr lang="pt-BR" sz="5400" dirty="0"/>
            </a:br>
            <a:r>
              <a:rPr lang="pt-BR" sz="5400" dirty="0"/>
              <a:t>(</a:t>
            </a:r>
            <a:r>
              <a:rPr lang="pt-BR" sz="5400" dirty="0" err="1"/>
              <a:t>feature</a:t>
            </a:r>
            <a:r>
              <a:rPr lang="pt-BR" sz="5400" dirty="0"/>
              <a:t> </a:t>
            </a:r>
            <a:r>
              <a:rPr lang="pt-BR" sz="5400" dirty="0" err="1"/>
              <a:t>phone</a:t>
            </a:r>
            <a:r>
              <a:rPr lang="pt-BR" sz="5400" dirty="0"/>
              <a:t>)</a:t>
            </a:r>
          </a:p>
        </p:txBody>
      </p:sp>
      <p:pic>
        <p:nvPicPr>
          <p:cNvPr id="3074" name="Picture 2" descr="https://lh7-us.googleusercontent.com/slidesz/AGV_vUcV8rFQcjCf9GLS7ogGprVikPhTWTC8R8FVtOg7zFp_ALxj2Z4Zz_z5dzvf_MkrKO-96rH8FG_09IytcXGsT5mKg7mi3uu4ZAbGIpGWcemEZ3l2-azGiJFMwRF9Z3AKXzyGXzwsohUhk53AopE3LnYmwlRqkazc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1" y="623275"/>
            <a:ext cx="3895984" cy="588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4718045" y="1950885"/>
            <a:ext cx="3942075" cy="86793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Sistema operacional do fabricante, limitado</a:t>
            </a:r>
            <a:endParaRPr lang="pt-BR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Espaço Reservado para Conteúdo 8"/>
          <p:cNvSpPr txBox="1">
            <a:spLocks/>
          </p:cNvSpPr>
          <p:nvPr/>
        </p:nvSpPr>
        <p:spPr>
          <a:xfrm>
            <a:off x="4718045" y="3657056"/>
            <a:ext cx="3942075" cy="86793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Não permite instalação de </a:t>
            </a:r>
            <a:r>
              <a:rPr lang="pt-BR" b="1" dirty="0" err="1">
                <a:solidFill>
                  <a:schemeClr val="bg1"/>
                </a:solidFill>
              </a:rPr>
              <a:t>apps</a:t>
            </a:r>
            <a:r>
              <a:rPr lang="pt-BR" b="1" dirty="0">
                <a:solidFill>
                  <a:schemeClr val="bg1"/>
                </a:solidFill>
              </a:rPr>
              <a:t> (Pero no </a:t>
            </a:r>
            <a:r>
              <a:rPr lang="pt-BR" b="1" dirty="0" err="1">
                <a:solidFill>
                  <a:schemeClr val="bg1"/>
                </a:solidFill>
              </a:rPr>
              <a:t>mucho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057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0841-325A-EB6D-2D6D-DB9760AE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058722-3E58-BC3B-5283-9D59F14F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32538B0-C7FB-1787-0499-A56F16E82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C82396-F760-816F-6B38-1DF970171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4BCAA3-AC5A-FFD3-B77F-532229C0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749" y="71334"/>
            <a:ext cx="5552455" cy="1103882"/>
          </a:xfrm>
        </p:spPr>
        <p:txBody>
          <a:bodyPr anchor="ctr">
            <a:normAutofit fontScale="90000"/>
          </a:bodyPr>
          <a:lstStyle/>
          <a:p>
            <a:r>
              <a:rPr lang="pt-BR" sz="5400" dirty="0"/>
              <a:t>Celular antigo (meu)</a:t>
            </a:r>
            <a:br>
              <a:rPr lang="pt-BR" sz="5400" dirty="0"/>
            </a:br>
            <a:r>
              <a:rPr lang="pt-BR" sz="5400" dirty="0"/>
              <a:t>(feature </a:t>
            </a:r>
            <a:r>
              <a:rPr lang="pt-BR" sz="5400" dirty="0" err="1"/>
              <a:t>phone</a:t>
            </a:r>
            <a:r>
              <a:rPr lang="pt-BR" sz="5400" dirty="0"/>
              <a:t>)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E4F85E36-6746-2240-BA3F-75F902E23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045" y="1560617"/>
            <a:ext cx="3942075" cy="86793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Sistema operacional do fabricante, limitado</a:t>
            </a:r>
            <a:endParaRPr lang="pt-BR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Espaço Reservado para Conteúdo 8">
            <a:extLst>
              <a:ext uri="{FF2B5EF4-FFF2-40B4-BE49-F238E27FC236}">
                <a16:creationId xmlns:a16="http://schemas.microsoft.com/office/drawing/2014/main" id="{DC69315B-F428-5EAA-C123-39E609E1DF27}"/>
              </a:ext>
            </a:extLst>
          </p:cNvPr>
          <p:cNvSpPr txBox="1">
            <a:spLocks/>
          </p:cNvSpPr>
          <p:nvPr/>
        </p:nvSpPr>
        <p:spPr>
          <a:xfrm>
            <a:off x="4762647" y="2580169"/>
            <a:ext cx="3942075" cy="86793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Não permite instalação de </a:t>
            </a:r>
            <a:r>
              <a:rPr lang="pt-BR" b="1" dirty="0" err="1">
                <a:solidFill>
                  <a:schemeClr val="bg1"/>
                </a:solidFill>
              </a:rPr>
              <a:t>apps</a:t>
            </a:r>
            <a:r>
              <a:rPr lang="pt-BR" b="1" dirty="0">
                <a:solidFill>
                  <a:schemeClr val="bg1"/>
                </a:solidFill>
              </a:rPr>
              <a:t> (Pero no </a:t>
            </a:r>
            <a:r>
              <a:rPr lang="pt-BR" b="1" dirty="0" err="1">
                <a:solidFill>
                  <a:schemeClr val="bg1"/>
                </a:solidFill>
              </a:rPr>
              <a:t>mucho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E94EA5-B2F6-223D-5F9F-7DB7AC7A5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74" y="1015911"/>
            <a:ext cx="4061791" cy="482261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AF541BE-E252-7A5F-D39D-F386368D0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804" y="4985007"/>
            <a:ext cx="1447925" cy="170702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5F98E3B-0A50-A8AA-E024-B4A1336B4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01" y="3648870"/>
            <a:ext cx="2286198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31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 </a:t>
            </a:r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0725" y="71334"/>
            <a:ext cx="4662479" cy="1103882"/>
          </a:xfrm>
        </p:spPr>
        <p:txBody>
          <a:bodyPr anchor="ctr">
            <a:normAutofit fontScale="90000"/>
          </a:bodyPr>
          <a:lstStyle/>
          <a:p>
            <a:r>
              <a:rPr lang="pt-BR" sz="5400" dirty="0"/>
              <a:t>Celular antigo</a:t>
            </a:r>
            <a:br>
              <a:rPr lang="pt-BR" sz="5400" dirty="0"/>
            </a:br>
            <a:r>
              <a:rPr lang="pt-BR" sz="5400" dirty="0"/>
              <a:t>(</a:t>
            </a:r>
            <a:r>
              <a:rPr lang="pt-BR" sz="5400" dirty="0" err="1"/>
              <a:t>feature</a:t>
            </a:r>
            <a:r>
              <a:rPr lang="pt-BR" sz="5400" dirty="0"/>
              <a:t> </a:t>
            </a:r>
            <a:r>
              <a:rPr lang="pt-BR" sz="5400" dirty="0" err="1"/>
              <a:t>phone</a:t>
            </a:r>
            <a:r>
              <a:rPr lang="pt-BR" sz="5400" dirty="0"/>
              <a:t>)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4718045" y="1950885"/>
            <a:ext cx="3942075" cy="86793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Teclado físico alfanumérico</a:t>
            </a:r>
            <a:endParaRPr lang="pt-BR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Espaço Reservado para Conteúdo 8"/>
          <p:cNvSpPr txBox="1">
            <a:spLocks/>
          </p:cNvSpPr>
          <p:nvPr/>
        </p:nvSpPr>
        <p:spPr>
          <a:xfrm>
            <a:off x="4718045" y="3657056"/>
            <a:ext cx="3942075" cy="480131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Navega na web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53217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  </a:t>
            </a:r>
          </a:p>
        </p:txBody>
      </p:sp>
      <p:sp>
        <p:nvSpPr>
          <p:cNvPr id="4" name="Retângulo 3"/>
          <p:cNvSpPr/>
          <p:nvPr/>
        </p:nvSpPr>
        <p:spPr>
          <a:xfrm>
            <a:off x="1478071" y="3244334"/>
            <a:ext cx="3265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  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26" y="186482"/>
            <a:ext cx="3751031" cy="6349785"/>
          </a:xfrm>
          <a:prstGeom prst="rect">
            <a:avLst/>
          </a:prstGeom>
        </p:spPr>
      </p:pic>
      <p:sp>
        <p:nvSpPr>
          <p:cNvPr id="13" name="Espaço Reservado para Conteúdo 8"/>
          <p:cNvSpPr txBox="1">
            <a:spLocks/>
          </p:cNvSpPr>
          <p:nvPr/>
        </p:nvSpPr>
        <p:spPr>
          <a:xfrm>
            <a:off x="4718045" y="5087111"/>
            <a:ext cx="3942075" cy="1255728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Tela sensível ao toque: ou não tinha ou era com caneta</a:t>
            </a:r>
          </a:p>
        </p:txBody>
      </p:sp>
    </p:spTree>
    <p:extLst>
      <p:ext uri="{BB962C8B-B14F-4D97-AF65-F5344CB8AC3E}">
        <p14:creationId xmlns:p14="http://schemas.microsoft.com/office/powerpoint/2010/main" val="900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 </a:t>
            </a:r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0725" y="71334"/>
            <a:ext cx="4662479" cy="1103882"/>
          </a:xfrm>
        </p:spPr>
        <p:txBody>
          <a:bodyPr anchor="ctr">
            <a:normAutofit fontScale="90000"/>
          </a:bodyPr>
          <a:lstStyle/>
          <a:p>
            <a:r>
              <a:rPr lang="pt-BR" sz="5400" dirty="0"/>
              <a:t>Celular antigo</a:t>
            </a:r>
            <a:br>
              <a:rPr lang="pt-BR" sz="5400" dirty="0"/>
            </a:br>
            <a:r>
              <a:rPr lang="pt-BR" sz="5400" dirty="0"/>
              <a:t>(</a:t>
            </a:r>
            <a:r>
              <a:rPr lang="pt-BR" sz="5400" dirty="0" err="1"/>
              <a:t>feature</a:t>
            </a:r>
            <a:r>
              <a:rPr lang="pt-BR" sz="5400" dirty="0"/>
              <a:t> </a:t>
            </a:r>
            <a:r>
              <a:rPr lang="pt-BR" sz="5400" dirty="0" err="1"/>
              <a:t>phone</a:t>
            </a:r>
            <a:r>
              <a:rPr lang="pt-BR" sz="5400" dirty="0"/>
              <a:t>)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3110876" y="1262597"/>
            <a:ext cx="5790544" cy="4801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Tela sensível ao toque</a:t>
            </a:r>
            <a:endParaRPr lang="pt-BR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453217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  </a:t>
            </a:r>
          </a:p>
        </p:txBody>
      </p:sp>
      <p:sp>
        <p:nvSpPr>
          <p:cNvPr id="4" name="Retângulo 3"/>
          <p:cNvSpPr/>
          <p:nvPr/>
        </p:nvSpPr>
        <p:spPr>
          <a:xfrm>
            <a:off x="1478071" y="3244334"/>
            <a:ext cx="3265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  </a:t>
            </a:r>
          </a:p>
        </p:txBody>
      </p:sp>
      <p:pic>
        <p:nvPicPr>
          <p:cNvPr id="4098" name="Picture 2" descr="https://lh7-us.googleusercontent.com/slidesz/AGV_vUcMxnIb8CTGGdN20bMfX9P9bJkqci3U7pF2LOdLGuqTn8kTHPfl9SSF0xWI6QkYY3EG7zijxLJYKDk2s8oDb6QTYQGRaAowK0tNZem6rtZkJoOg8kdeqvf7X2oI22RquDNNiqrP9RIb6BTZI1qPUJZ1Bz7U1s8D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2" y="704166"/>
            <a:ext cx="2870172" cy="54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ço Reservado para Conteúdo 8"/>
          <p:cNvSpPr txBox="1">
            <a:spLocks/>
          </p:cNvSpPr>
          <p:nvPr/>
        </p:nvSpPr>
        <p:spPr>
          <a:xfrm>
            <a:off x="3110876" y="1963384"/>
            <a:ext cx="5790544" cy="480131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Sistema operacional mais completo</a:t>
            </a:r>
          </a:p>
        </p:txBody>
      </p:sp>
      <p:sp>
        <p:nvSpPr>
          <p:cNvPr id="15" name="Espaço Reservado para Conteúdo 8"/>
          <p:cNvSpPr txBox="1">
            <a:spLocks/>
          </p:cNvSpPr>
          <p:nvPr/>
        </p:nvSpPr>
        <p:spPr>
          <a:xfrm>
            <a:off x="3110876" y="2666441"/>
            <a:ext cx="5790544" cy="1255728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Originalmente não permitia instalar </a:t>
            </a:r>
            <a:r>
              <a:rPr lang="pt-BR" b="1" dirty="0" err="1">
                <a:solidFill>
                  <a:schemeClr val="bg1"/>
                </a:solidFill>
              </a:rPr>
              <a:t>apps</a:t>
            </a:r>
            <a:r>
              <a:rPr lang="pt-BR" b="1" dirty="0">
                <a:solidFill>
                  <a:schemeClr val="bg1"/>
                </a:solidFill>
              </a:rPr>
              <a:t>; depois: instalação fácil via </a:t>
            </a:r>
            <a:r>
              <a:rPr lang="pt-BR" b="1" dirty="0" err="1">
                <a:solidFill>
                  <a:schemeClr val="bg1"/>
                </a:solidFill>
              </a:rPr>
              <a:t>app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store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6" name="Espaço Reservado para Conteúdo 8"/>
          <p:cNvSpPr txBox="1">
            <a:spLocks/>
          </p:cNvSpPr>
          <p:nvPr/>
        </p:nvSpPr>
        <p:spPr>
          <a:xfrm>
            <a:off x="3110876" y="4145095"/>
            <a:ext cx="5790544" cy="86793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Boa experiência de web (gesto de pinça para zoom)</a:t>
            </a:r>
          </a:p>
        </p:txBody>
      </p:sp>
      <p:sp>
        <p:nvSpPr>
          <p:cNvPr id="17" name="Espaço Reservado para Conteúdo 8"/>
          <p:cNvSpPr txBox="1">
            <a:spLocks/>
          </p:cNvSpPr>
          <p:nvPr/>
        </p:nvSpPr>
        <p:spPr>
          <a:xfrm>
            <a:off x="3110876" y="5235767"/>
            <a:ext cx="5790544" cy="86793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Favoreceu a adoção de design responsivo</a:t>
            </a:r>
          </a:p>
        </p:txBody>
      </p:sp>
      <p:sp>
        <p:nvSpPr>
          <p:cNvPr id="18" name="Espaço Reservado para Conteúdo 8"/>
          <p:cNvSpPr txBox="1">
            <a:spLocks/>
          </p:cNvSpPr>
          <p:nvPr/>
        </p:nvSpPr>
        <p:spPr>
          <a:xfrm>
            <a:off x="3110876" y="6325612"/>
            <a:ext cx="5790544" cy="480131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</a:rPr>
              <a:t>Antecipou o fim do </a:t>
            </a:r>
            <a:r>
              <a:rPr lang="pt-BR" b="1" dirty="0" err="1">
                <a:solidFill>
                  <a:schemeClr val="bg1"/>
                </a:solidFill>
              </a:rPr>
              <a:t>plugin</a:t>
            </a:r>
            <a:r>
              <a:rPr lang="pt-BR" b="1" dirty="0">
                <a:solidFill>
                  <a:schemeClr val="bg1"/>
                </a:solidFill>
              </a:rPr>
              <a:t> do Flash</a:t>
            </a:r>
          </a:p>
        </p:txBody>
      </p:sp>
    </p:spTree>
    <p:extLst>
      <p:ext uri="{BB962C8B-B14F-4D97-AF65-F5344CB8AC3E}">
        <p14:creationId xmlns:p14="http://schemas.microsoft.com/office/powerpoint/2010/main" val="2721018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b="1" dirty="0"/>
              <a:t>Características de mobile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517732"/>
            <a:ext cx="7239037" cy="4336699"/>
          </a:xfrm>
        </p:spPr>
        <p:txBody>
          <a:bodyPr anchor="t">
            <a:normAutofit fontScale="77500" lnSpcReduction="20000"/>
          </a:bodyPr>
          <a:lstStyle/>
          <a:p>
            <a:pPr fontAlgn="base"/>
            <a:r>
              <a:rPr lang="pt-BR" dirty="0"/>
              <a:t>Processador ARM (RISC), sistemas baseados em Unix</a:t>
            </a:r>
          </a:p>
          <a:p>
            <a:pPr fontAlgn="base"/>
            <a:r>
              <a:rPr lang="pt-BR" dirty="0"/>
              <a:t>Tela pequena, ausência de teclado físico (é chato digitar) e de mouse (não tem "botão direito do mouse", precisão é sacrificada).</a:t>
            </a:r>
          </a:p>
          <a:p>
            <a:pPr lvl="1" fontAlgn="base"/>
            <a:r>
              <a:rPr lang="pt-BR" dirty="0"/>
              <a:t>Mais rolagem, mais navegação entre telas.</a:t>
            </a:r>
          </a:p>
          <a:p>
            <a:pPr fontAlgn="base"/>
            <a:r>
              <a:rPr lang="pt-BR" dirty="0"/>
              <a:t>Fragmentação: diferentes tamanhos de tela e recursos.</a:t>
            </a:r>
          </a:p>
          <a:p>
            <a:pPr fontAlgn="base"/>
            <a:r>
              <a:rPr lang="pt-BR" dirty="0"/>
              <a:t>Energia limitada (bateria), internet intermitente, pouco espaço, processador lento, atenção do usuário limitada, interrupções. </a:t>
            </a:r>
            <a:r>
              <a:rPr lang="pt-BR" dirty="0" err="1"/>
              <a:t>Sandbox</a:t>
            </a:r>
            <a:r>
              <a:rPr lang="pt-BR" dirty="0"/>
              <a:t>.</a:t>
            </a:r>
          </a:p>
          <a:p>
            <a:pPr lvl="1" fontAlgn="base"/>
            <a:r>
              <a:rPr lang="pt-BR" dirty="0" err="1"/>
              <a:t>Auto-save</a:t>
            </a:r>
            <a:endParaRPr lang="pt-BR" dirty="0"/>
          </a:p>
          <a:p>
            <a:pPr fontAlgn="base"/>
            <a:r>
              <a:rPr lang="pt-BR" dirty="0"/>
              <a:t>Alta conectividade (celular, </a:t>
            </a:r>
            <a:r>
              <a:rPr lang="pt-BR" dirty="0" err="1"/>
              <a:t>wifi</a:t>
            </a:r>
            <a:r>
              <a:rPr lang="pt-BR" dirty="0"/>
              <a:t>, </a:t>
            </a:r>
            <a:r>
              <a:rPr lang="pt-BR" dirty="0" err="1"/>
              <a:t>bluetooth</a:t>
            </a:r>
            <a:r>
              <a:rPr lang="pt-BR" dirty="0"/>
              <a:t>…), diversos sensores (tela sensível ao toque, microfone, câmera, GPS, </a:t>
            </a:r>
            <a:r>
              <a:rPr lang="pt-BR" dirty="0" err="1"/>
              <a:t>bussóla</a:t>
            </a:r>
            <a:r>
              <a:rPr lang="pt-BR" dirty="0"/>
              <a:t>, leitor biométrico, acelerômetro…). </a:t>
            </a:r>
            <a:r>
              <a:rPr lang="pt-BR"/>
              <a:t>Uso dos sensores e da internet para evitar que o usuário tenha que digitar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5739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AEB99-7818-38E5-6AC1-87C34315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F2DD59-BE34-AD64-156D-3AB228B08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5003E34-ED2F-8742-ECAB-1ECFA7382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37434-B1A8-C4CF-3AEC-F8FE3000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5C2E8C-7C8C-267E-FE3C-8F042D17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206" y="135787"/>
            <a:ext cx="7594144" cy="974975"/>
          </a:xfrm>
        </p:spPr>
        <p:txBody>
          <a:bodyPr anchor="ctr">
            <a:normAutofit fontScale="90000"/>
          </a:bodyPr>
          <a:lstStyle/>
          <a:p>
            <a:r>
              <a:rPr lang="pt-BR" sz="5400" dirty="0"/>
              <a:t>Hoje em dia...</a:t>
            </a:r>
            <a:br>
              <a:rPr lang="pt-BR" sz="5400" dirty="0"/>
            </a:br>
            <a:endParaRPr lang="pt-BR" sz="5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832750-2A27-8D68-CBC0-8E2780E84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A46D28-7BC1-DC4A-2F89-75EA11C89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630663"/>
            <a:ext cx="3350402" cy="35120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6B4A6CB-5D26-4475-001A-3F2BA8A3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234" y="132219"/>
            <a:ext cx="2872989" cy="347502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641217E-0DB7-E2B5-9645-FD998C600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895" y="3607240"/>
            <a:ext cx="2880610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4986950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Design web para mobile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50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b="1" dirty="0"/>
              <a:t>Problema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/>
              <a:t>“Minha página não fica legal no celular!”</a:t>
            </a:r>
          </a:p>
          <a:p>
            <a:pPr fontAlgn="base"/>
            <a:r>
              <a:rPr lang="pt-BR" sz="2400" dirty="0"/>
              <a:t>O texto fica </a:t>
            </a:r>
            <a:r>
              <a:rPr lang="pt-BR" sz="2400" b="1" dirty="0"/>
              <a:t>pequeno</a:t>
            </a:r>
            <a:endParaRPr lang="pt-BR" sz="2400" dirty="0"/>
          </a:p>
          <a:p>
            <a:pPr fontAlgn="base"/>
            <a:r>
              <a:rPr lang="pt-BR" sz="2400" dirty="0"/>
              <a:t>Os links e botões são pequenos e </a:t>
            </a:r>
            <a:r>
              <a:rPr lang="pt-BR" sz="2400" b="1" dirty="0"/>
              <a:t>difíceis de acionar</a:t>
            </a:r>
            <a:endParaRPr lang="pt-BR" sz="2400" dirty="0"/>
          </a:p>
          <a:p>
            <a:r>
              <a:rPr lang="pt-BR" sz="2400" dirty="0"/>
              <a:t>O conteúdo </a:t>
            </a:r>
            <a:r>
              <a:rPr lang="pt-BR" sz="2400" b="1" dirty="0"/>
              <a:t>não cabe</a:t>
            </a:r>
            <a:r>
              <a:rPr lang="pt-BR" sz="2400" dirty="0"/>
              <a:t> todo na tela</a:t>
            </a:r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03738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b="1" dirty="0"/>
              <a:t>Como os navegadores amenizam o problema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70000" lnSpcReduction="20000"/>
          </a:bodyPr>
          <a:lstStyle/>
          <a:p>
            <a:pPr fontAlgn="base"/>
            <a:r>
              <a:rPr lang="pt-BR" dirty="0"/>
              <a:t>Os primeiros </a:t>
            </a:r>
            <a:r>
              <a:rPr lang="pt-BR" dirty="0" err="1"/>
              <a:t>iPhones</a:t>
            </a:r>
            <a:r>
              <a:rPr lang="pt-BR" dirty="0"/>
              <a:t> tinham resolução </a:t>
            </a:r>
            <a:r>
              <a:rPr lang="pt-BR" b="1" dirty="0"/>
              <a:t>320x480</a:t>
            </a:r>
            <a:endParaRPr lang="pt-BR" dirty="0"/>
          </a:p>
          <a:p>
            <a:pPr fontAlgn="base"/>
            <a:r>
              <a:rPr lang="pt-BR" dirty="0"/>
              <a:t>Muitos sites eram projetados para resoluções </a:t>
            </a:r>
            <a:r>
              <a:rPr lang="pt-BR" b="1" dirty="0"/>
              <a:t>≥ 800x600</a:t>
            </a:r>
            <a:endParaRPr lang="pt-BR" dirty="0"/>
          </a:p>
          <a:p>
            <a:pPr fontAlgn="base"/>
            <a:r>
              <a:rPr lang="pt-BR" dirty="0"/>
              <a:t>Como lidar com essa disparidade?</a:t>
            </a:r>
          </a:p>
          <a:p>
            <a:pPr fontAlgn="base"/>
            <a:r>
              <a:rPr lang="pt-BR" b="1" dirty="0"/>
              <a:t>Solução 1</a:t>
            </a:r>
            <a:r>
              <a:rPr lang="pt-BR" dirty="0"/>
              <a:t>: exibir somente </a:t>
            </a:r>
            <a:r>
              <a:rPr lang="pt-BR" b="1" dirty="0"/>
              <a:t>uma região</a:t>
            </a:r>
            <a:r>
              <a:rPr lang="pt-BR" dirty="0"/>
              <a:t> da página e usar rolagem para ver o resto</a:t>
            </a:r>
          </a:p>
          <a:p>
            <a:pPr fontAlgn="base"/>
            <a:r>
              <a:rPr lang="pt-BR" b="1" dirty="0"/>
              <a:t>Solução 2</a:t>
            </a:r>
            <a:r>
              <a:rPr lang="pt-BR" dirty="0"/>
              <a:t>: navegador </a:t>
            </a:r>
            <a:r>
              <a:rPr lang="pt-BR" dirty="0" err="1"/>
              <a:t>renderiza</a:t>
            </a:r>
            <a:r>
              <a:rPr lang="pt-BR" dirty="0"/>
              <a:t> a página em uma tela virtual (</a:t>
            </a:r>
            <a:r>
              <a:rPr lang="pt-BR" b="1" dirty="0" err="1"/>
              <a:t>viewport</a:t>
            </a:r>
            <a:r>
              <a:rPr lang="pt-BR" dirty="0"/>
              <a:t>) de 980 pixels de largura, e depois </a:t>
            </a:r>
            <a:r>
              <a:rPr lang="pt-BR" b="1" dirty="0"/>
              <a:t>encolhe</a:t>
            </a:r>
            <a:r>
              <a:rPr lang="pt-BR" dirty="0"/>
              <a:t> para caber na tela real de 320 pixels</a:t>
            </a:r>
          </a:p>
          <a:p>
            <a:pPr lvl="1" fontAlgn="base"/>
            <a:r>
              <a:rPr lang="pt-BR" dirty="0"/>
              <a:t>Essa foi a solução adotada no navegador do iPhone, e depois replicada em todos os outros smartphones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91151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 fontScale="90000"/>
          </a:bodyPr>
          <a:lstStyle/>
          <a:p>
            <a:r>
              <a:rPr lang="pt-BR" sz="5400" b="1" dirty="0"/>
              <a:t>Como os desenvolvedores podem resolver o problema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lnSpcReduction="10000"/>
          </a:bodyPr>
          <a:lstStyle/>
          <a:p>
            <a:pPr fontAlgn="base"/>
            <a:r>
              <a:rPr lang="pt-BR" dirty="0"/>
              <a:t>Páginas web podem especificar o tamanho da </a:t>
            </a:r>
            <a:r>
              <a:rPr lang="pt-BR" dirty="0" err="1"/>
              <a:t>viewport</a:t>
            </a:r>
            <a:r>
              <a:rPr lang="pt-BR" dirty="0"/>
              <a:t>, de forma que a página fique com zoom de 100%</a:t>
            </a:r>
          </a:p>
          <a:p>
            <a:pPr fontAlgn="base"/>
            <a:r>
              <a:rPr lang="pt-BR" dirty="0"/>
              <a:t>A partir daí, existem duas abordagens:</a:t>
            </a:r>
          </a:p>
          <a:p>
            <a:pPr lvl="1" fontAlgn="base"/>
            <a:r>
              <a:rPr lang="pt-BR" dirty="0"/>
              <a:t>Criar </a:t>
            </a:r>
            <a:r>
              <a:rPr lang="pt-BR" b="1" dirty="0"/>
              <a:t>versão mobile</a:t>
            </a:r>
            <a:r>
              <a:rPr lang="pt-BR" dirty="0"/>
              <a:t> do site</a:t>
            </a:r>
          </a:p>
          <a:p>
            <a:pPr lvl="1" fontAlgn="base"/>
            <a:r>
              <a:rPr lang="pt-BR" dirty="0"/>
              <a:t>Projetar </a:t>
            </a:r>
            <a:r>
              <a:rPr lang="pt-BR" b="1" dirty="0"/>
              <a:t>um único</a:t>
            </a:r>
            <a:r>
              <a:rPr lang="pt-BR" dirty="0"/>
              <a:t> site que </a:t>
            </a:r>
            <a:r>
              <a:rPr lang="pt-BR" b="1" dirty="0"/>
              <a:t>se adapta</a:t>
            </a:r>
            <a:r>
              <a:rPr lang="pt-BR" dirty="0"/>
              <a:t> a diversas resoluções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5323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Solução obsoleta: versão mobile do site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41849" y="2694704"/>
            <a:ext cx="6138922" cy="3689008"/>
          </a:xfrm>
        </p:spPr>
        <p:txBody>
          <a:bodyPr anchor="t">
            <a:normAutofit fontScale="85000" lnSpcReduction="20000"/>
          </a:bodyPr>
          <a:lstStyle/>
          <a:p>
            <a:pPr fontAlgn="base"/>
            <a:r>
              <a:rPr lang="pt-BR" dirty="0"/>
              <a:t>O servidor web detecta o tipo de dispositivo e retorna uma página diferente se acesso for via celular</a:t>
            </a:r>
          </a:p>
          <a:p>
            <a:pPr fontAlgn="base"/>
            <a:r>
              <a:rPr lang="pt-BR" dirty="0"/>
              <a:t>Problemas:</a:t>
            </a:r>
          </a:p>
          <a:p>
            <a:pPr lvl="1" fontAlgn="base"/>
            <a:r>
              <a:rPr lang="pt-BR" dirty="0"/>
              <a:t>Em uma aplicação MVC, é preciso </a:t>
            </a:r>
            <a:r>
              <a:rPr lang="pt-BR" b="1" dirty="0"/>
              <a:t>desenvolver novas</a:t>
            </a:r>
            <a:r>
              <a:rPr lang="pt-BR" dirty="0"/>
              <a:t> </a:t>
            </a:r>
            <a:r>
              <a:rPr lang="pt-BR" i="1" dirty="0" err="1"/>
              <a:t>views</a:t>
            </a:r>
            <a:r>
              <a:rPr lang="pt-BR" dirty="0"/>
              <a:t> e </a:t>
            </a:r>
            <a:r>
              <a:rPr lang="pt-BR" i="1" dirty="0" err="1"/>
              <a:t>controllers</a:t>
            </a:r>
            <a:r>
              <a:rPr lang="pt-BR" dirty="0"/>
              <a:t> para a versão mobile</a:t>
            </a:r>
          </a:p>
          <a:p>
            <a:pPr lvl="1" fontAlgn="base"/>
            <a:r>
              <a:rPr lang="pt-BR" dirty="0"/>
              <a:t>Por isso, muitas vezes a versão mobile acaba tendo </a:t>
            </a:r>
            <a:r>
              <a:rPr lang="pt-BR" b="1" dirty="0"/>
              <a:t>menos funcionalidades</a:t>
            </a:r>
            <a:r>
              <a:rPr lang="pt-BR" dirty="0"/>
              <a:t> e recebe </a:t>
            </a:r>
            <a:r>
              <a:rPr lang="pt-BR" b="1" dirty="0"/>
              <a:t>menos atualizações</a:t>
            </a:r>
            <a:r>
              <a:rPr lang="pt-BR" dirty="0"/>
              <a:t> (hoje, navegadores mobile têm opção de carregar versão desktop)</a:t>
            </a:r>
          </a:p>
          <a:p>
            <a:pPr lvl="1" fontAlgn="base"/>
            <a:r>
              <a:rPr lang="pt-BR" dirty="0"/>
              <a:t>Geralmente usavam-se </a:t>
            </a:r>
            <a:r>
              <a:rPr lang="pt-BR" b="1" dirty="0"/>
              <a:t>imitações</a:t>
            </a:r>
            <a:r>
              <a:rPr lang="pt-BR" dirty="0"/>
              <a:t> dos </a:t>
            </a:r>
            <a:r>
              <a:rPr lang="pt-BR" dirty="0" err="1"/>
              <a:t>widgets</a:t>
            </a:r>
            <a:r>
              <a:rPr lang="pt-BR" dirty="0"/>
              <a:t> nativos (problema: os </a:t>
            </a:r>
            <a:r>
              <a:rPr lang="pt-BR" dirty="0" err="1"/>
              <a:t>widgets</a:t>
            </a:r>
            <a:r>
              <a:rPr lang="pt-BR" dirty="0"/>
              <a:t> nativos foram mudando com o tempo)</a:t>
            </a:r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6148" name="Picture 4" descr="https://lh7-us.googleusercontent.com/slidesz/AGV_vUeBYYjEF97Q_q5nfL3a0VpVK_77EyhELav1MQnCK1whjEU53s5jPjBwIM2T3LMqQMzgOlMymVbwP38W8fY9T4qqrSM70OyWGbqdG3FRZy8B3EJR16gc07iVDsfE6PZ2jsiS-NMX6ygDJ3d5lcRcAhcBt-9Wn6k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6" y="2434937"/>
            <a:ext cx="2504062" cy="442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814192" y="2434937"/>
            <a:ext cx="1014608" cy="370893"/>
          </a:xfrm>
          <a:prstGeom prst="rect">
            <a:avLst/>
          </a:prstGeom>
          <a:solidFill>
            <a:srgbClr val="3F4E83"/>
          </a:solidFill>
          <a:ln>
            <a:solidFill>
              <a:srgbClr val="425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 fontScale="90000"/>
          </a:bodyPr>
          <a:lstStyle/>
          <a:p>
            <a:r>
              <a:rPr lang="pt-BR" sz="5400" b="1" dirty="0"/>
              <a:t>Solução: designs que mudam de acordo com a resolução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000" dirty="0"/>
              <a:t>Vamos considerar quatro diferentes tipos de design de páginas web:</a:t>
            </a:r>
          </a:p>
          <a:p>
            <a:pPr fontAlgn="base"/>
            <a:r>
              <a:rPr lang="pt-BR" sz="2000" dirty="0"/>
              <a:t>Fixo/estático</a:t>
            </a:r>
          </a:p>
          <a:p>
            <a:pPr fontAlgn="base"/>
            <a:r>
              <a:rPr lang="pt-BR" sz="2000" dirty="0"/>
              <a:t>Fluido/líquido</a:t>
            </a:r>
          </a:p>
          <a:p>
            <a:pPr fontAlgn="base"/>
            <a:r>
              <a:rPr lang="pt-BR" sz="2000" dirty="0"/>
              <a:t>Adaptativo</a:t>
            </a:r>
          </a:p>
          <a:p>
            <a:pPr fontAlgn="base"/>
            <a:r>
              <a:rPr lang="pt-BR" sz="2000" dirty="0"/>
              <a:t>Responsivo (o mais recomendado)</a:t>
            </a:r>
          </a:p>
          <a:p>
            <a:pPr fontAlgn="base"/>
            <a:r>
              <a:rPr lang="pt-BR" sz="2000" dirty="0"/>
              <a:t>Experimente: </a:t>
            </a:r>
            <a:r>
              <a:rPr lang="pt-BR" sz="2000" u="sng" dirty="0">
                <a:hlinkClick r:id="rId2"/>
              </a:rPr>
              <a:t>https://web.archive.org/web/20190215173659/http://www.liquidapsive.com:80/</a:t>
            </a:r>
            <a:endParaRPr lang="pt-BR" sz="20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9893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Design fixo (estático)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pPr fontAlgn="base"/>
            <a:r>
              <a:rPr lang="pt-BR" sz="2000" dirty="0"/>
              <a:t>Todas as </a:t>
            </a:r>
            <a:r>
              <a:rPr lang="pt-BR" sz="2000" b="1" dirty="0"/>
              <a:t>larguras</a:t>
            </a:r>
            <a:r>
              <a:rPr lang="pt-BR" sz="2000" dirty="0"/>
              <a:t> em </a:t>
            </a:r>
            <a:r>
              <a:rPr lang="pt-BR" sz="2000" b="1" dirty="0"/>
              <a:t>pixels</a:t>
            </a:r>
            <a:endParaRPr lang="pt-BR" sz="2000" dirty="0"/>
          </a:p>
          <a:p>
            <a:pPr fontAlgn="base"/>
            <a:r>
              <a:rPr lang="pt-BR" sz="2000" dirty="0"/>
              <a:t>Não aproveita bem o espaço de uma tela muito grande</a:t>
            </a:r>
          </a:p>
          <a:p>
            <a:pPr fontAlgn="base"/>
            <a:r>
              <a:rPr lang="pt-BR" sz="2000" dirty="0"/>
              <a:t>Não exibe tudo em uma tela muito pequena (exige rolagem ou zoom out)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7172" name="Picture 4" descr="https://lh7-us.googleusercontent.com/slidesz/AGV_vUcbfdb0Re0DI5zzsaJACztMMUQ9HSYQGC3A4W5u0aiD38mW5ymBMoVNyftyTmSF3rXz6HgQgVYD_6-c6FiT8r9GpFYAKlVeAsExrINB8LggAvQ0Q80zdQOpBXhW29KYL4PKuQ2R2bd-kS9xp1UPHDizyI1XwVo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" y="4369666"/>
            <a:ext cx="5293924" cy="246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lh7-us.googleusercontent.com/slidesz/AGV_vUdxigDCb6dC0vxcdG0neA0kEWhHKLMS1VpBBUJ2sDYYj3rFYSvbEtIQWzYyQev-ovOkwHv3-ss8Or3WAVwMUDfVnSo8iDX9x2Zfly4Yhh6vSWfglOVxpAAgjWye0j_X8iJ-1fII7EiQSonTM0hj2IapyTj3Hok=s2048?key=t4wmbaw_I3l6zf-6g1zSl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721" y="4369666"/>
            <a:ext cx="1855721" cy="243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089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Design fluido (líquido)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51206" y="2191431"/>
            <a:ext cx="7239037" cy="2800395"/>
          </a:xfrm>
        </p:spPr>
        <p:txBody>
          <a:bodyPr anchor="t">
            <a:normAutofit/>
          </a:bodyPr>
          <a:lstStyle/>
          <a:p>
            <a:pPr fontAlgn="base"/>
            <a:r>
              <a:rPr lang="pt-BR" sz="2000" dirty="0"/>
              <a:t>Todas as </a:t>
            </a:r>
            <a:r>
              <a:rPr lang="pt-BR" sz="2000" b="1" dirty="0"/>
              <a:t>larguras</a:t>
            </a:r>
            <a:r>
              <a:rPr lang="pt-BR" sz="2000" dirty="0"/>
              <a:t> em </a:t>
            </a:r>
            <a:r>
              <a:rPr lang="pt-BR" sz="2000" b="1" dirty="0"/>
              <a:t>porcentagem (%)</a:t>
            </a:r>
            <a:endParaRPr lang="pt-BR" sz="2000" dirty="0"/>
          </a:p>
          <a:p>
            <a:pPr fontAlgn="base"/>
            <a:r>
              <a:rPr lang="pt-BR" sz="2000" dirty="0"/>
              <a:t>Aproveita o espaço da tela, mas a leitura de linhas longas é difícil</a:t>
            </a:r>
          </a:p>
          <a:p>
            <a:pPr fontAlgn="base"/>
            <a:r>
              <a:rPr lang="pt-BR" sz="2000" dirty="0"/>
              <a:t>Em telas pequenas, o texto fica espremido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8194" name="Picture 2" descr="https://lh7-us.googleusercontent.com/slidesz/AGV_vUfk7H3h2mgiNZnkVE_r2QcUXn5eO0awxgGbvkJBSkB5cdOz0fLAR-a92z49oCGtY5ApbJV_LkYtbknw0d8QUefpBGgdbvebDZzTYsP25kn7m-l2Hd6g-Ad5Qd8sMMSQk61R746mi2fqTOA8fOoGll0w6rViHQ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6776"/>
            <a:ext cx="6250692" cy="289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lh7-us.googleusercontent.com/slidesz/AGV_vUd8XsVNiPw6PfiS-Z29rWHXhvaWwtZfMrruGOgbnuPweKE4hP-ugFRmy6FYcIv4pJJa1FWBrM3T8-PKjIMe7dCHksk-L4qkUgEHZyPC638vBC3FKl3XhDNaI9ES9LsoHm3QPcnE68Ed8NHTrj2uoV0iHMj0GAY=s2048?key=t4wmbaw_I3l6zf-6g1zSl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40" y="3231226"/>
            <a:ext cx="2601246" cy="3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526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51206" y="486370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Design adaptativo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1330" y="1613936"/>
            <a:ext cx="8178790" cy="2800395"/>
          </a:xfrm>
        </p:spPr>
        <p:txBody>
          <a:bodyPr anchor="t">
            <a:normAutofit/>
          </a:bodyPr>
          <a:lstStyle/>
          <a:p>
            <a:pPr fontAlgn="base"/>
            <a:r>
              <a:rPr lang="pt-BR" sz="2400" dirty="0"/>
              <a:t>Considera um conjunto de </a:t>
            </a:r>
            <a:r>
              <a:rPr lang="pt-BR" sz="2400" b="1" dirty="0"/>
              <a:t>tamanhos de tela</a:t>
            </a:r>
            <a:r>
              <a:rPr lang="pt-BR" sz="2400" dirty="0"/>
              <a:t> comuns e cria </a:t>
            </a:r>
            <a:r>
              <a:rPr lang="pt-BR" sz="2400" b="1" dirty="0"/>
              <a:t>um layout para cada</a:t>
            </a:r>
            <a:r>
              <a:rPr lang="pt-BR" sz="2400" dirty="0"/>
              <a:t> um desses tamanhos, usando largura em </a:t>
            </a:r>
            <a:r>
              <a:rPr lang="pt-BR" sz="2400" b="1" dirty="0"/>
              <a:t>pixels</a:t>
            </a:r>
            <a:r>
              <a:rPr lang="pt-BR" sz="2400" dirty="0"/>
              <a:t> (i.e., vários layouts fixos)</a:t>
            </a:r>
          </a:p>
          <a:p>
            <a:pPr fontAlgn="base"/>
            <a:r>
              <a:rPr lang="pt-BR" sz="2400" dirty="0"/>
              <a:t>Não aproveita bem o espaço em telas com tamanho intermediário entre os tamanhos escolhidos para o layout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9218" name="Picture 2" descr="https://lh7-us.googleusercontent.com/slidesz/AGV_vUdH8Qn8Y7auPGwb4Qf_goqN0cRNxQycQz7tkXZDqXZ-BoGjNyGnaI_prL6z-p_RQAXR8jjSh59NA0-h_8nNtf8U1v4OlUcY3QXKiK_aM58Mm_jz7rniT5GHcQTf6kox2tg9TonA3YpNgV86loSFywp0liZGaQ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4" y="3956526"/>
            <a:ext cx="5921724" cy="27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lh7-us.googleusercontent.com/slidesz/AGV_vUdamPmFhGZNbSLIUVfNqHDDPbu7TNJHewpciCTOZ-Vp6737cPDQKk_xRYFCFFatc8cr5xX2x7YeU2FwuMc5d6qaxKbpJivOUAziXy9fThZmESmqT207FK8lghFLnpO42eDaLH8LRnZIj8YUDIabLBjO-kEHvv8=s2048?key=t4wmbaw_I3l6zf-6g1zSl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558" y="3498837"/>
            <a:ext cx="2719562" cy="335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04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51206" y="486370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Design responsivo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1330" y="1613936"/>
            <a:ext cx="8178790" cy="2800395"/>
          </a:xfrm>
        </p:spPr>
        <p:txBody>
          <a:bodyPr anchor="t">
            <a:normAutofit/>
          </a:bodyPr>
          <a:lstStyle/>
          <a:p>
            <a:pPr fontAlgn="base"/>
            <a:r>
              <a:rPr lang="pt-BR" sz="2400" dirty="0"/>
              <a:t>Considera um conjunto de </a:t>
            </a:r>
            <a:r>
              <a:rPr lang="pt-BR" sz="2400" b="1" dirty="0"/>
              <a:t>tamanhos de tela</a:t>
            </a:r>
            <a:r>
              <a:rPr lang="pt-BR" sz="2400" dirty="0"/>
              <a:t> comuns e cria </a:t>
            </a:r>
            <a:r>
              <a:rPr lang="pt-BR" sz="2400" b="1" dirty="0"/>
              <a:t>um layout para cada um</a:t>
            </a:r>
            <a:r>
              <a:rPr lang="pt-BR" sz="2400" dirty="0"/>
              <a:t> desses tamanhos, usando largura em </a:t>
            </a:r>
            <a:r>
              <a:rPr lang="pt-BR" sz="2400" b="1" dirty="0"/>
              <a:t>porcentagem</a:t>
            </a:r>
            <a:r>
              <a:rPr lang="pt-BR" sz="2400" dirty="0"/>
              <a:t> (i.e., vários layouts fluidos)</a:t>
            </a:r>
          </a:p>
          <a:p>
            <a:pPr fontAlgn="base"/>
            <a:r>
              <a:rPr lang="pt-BR" sz="2400" dirty="0"/>
              <a:t>Aproveita o espaço mesmo em telas com tamanho intermediário entre os tamanhos escolhidos para o layout</a:t>
            </a:r>
          </a:p>
          <a:p>
            <a:pPr marL="0" indent="0">
              <a:buNone/>
            </a:pPr>
            <a:endParaRPr lang="pt-BR" sz="1600" dirty="0"/>
          </a:p>
          <a:p>
            <a:endParaRPr lang="pt-BR" sz="1600" dirty="0"/>
          </a:p>
        </p:txBody>
      </p:sp>
      <p:pic>
        <p:nvPicPr>
          <p:cNvPr id="10242" name="Picture 2" descr="https://lh7-us.googleusercontent.com/slidesz/AGV_vUdNzR-0_iHiF_84iARwL_cmrgJduP9kOwKZNE9fGIqqJAmuSX66oJj9G5XkD6mkpTxkXYMfG59BOlApfR6XxaqvtPbsrrbRARhfbva5lzro-7pcZsQA--QaSwygpTILwD_9FWZflyMx11PJUT7A1YZJNL7hgSU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7" y="3860514"/>
            <a:ext cx="5961269" cy="276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lh7-us.googleusercontent.com/slidesz/AGV_vUdN_i99KPfkdKOR7egqmtjq1DDls0I6Hj2SOOFFYSK0G8e7uzKJ73r6vEvEnSqWNiav_6cbkyAr7HWanPa7MWTWURTrIA4_PSp0d0ZzcMGwRT0ceIAGhKX6EGlgHfL7ig1NiINncblbgJhRXmqFsqN-Bpg7Mg=s2048?key=t4wmbaw_I3l6zf-6g1zSl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603" y="3525194"/>
            <a:ext cx="2939680" cy="333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22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Design mobile-</a:t>
            </a:r>
            <a:r>
              <a:rPr lang="pt-BR" sz="4800" b="1" dirty="0" err="1"/>
              <a:t>first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70000" lnSpcReduction="20000"/>
          </a:bodyPr>
          <a:lstStyle/>
          <a:p>
            <a:r>
              <a:rPr lang="pt-BR" dirty="0"/>
              <a:t>Ao criar vários layouts, podemos usar duas abordagens:</a:t>
            </a:r>
          </a:p>
          <a:p>
            <a:pPr fontAlgn="base"/>
            <a:r>
              <a:rPr lang="pt-BR" b="1" dirty="0" err="1"/>
              <a:t>Graceful</a:t>
            </a:r>
            <a:r>
              <a:rPr lang="pt-BR" b="1" dirty="0"/>
              <a:t> </a:t>
            </a:r>
            <a:r>
              <a:rPr lang="pt-BR" b="1" dirty="0" err="1"/>
              <a:t>degradation</a:t>
            </a:r>
            <a:r>
              <a:rPr lang="pt-BR" dirty="0"/>
              <a:t>: começar com layout para tela grande, mais complexo, e a partir daí simplificar para telas menores</a:t>
            </a:r>
          </a:p>
          <a:p>
            <a:pPr fontAlgn="base"/>
            <a:r>
              <a:rPr lang="pt-BR" b="1" dirty="0" err="1"/>
              <a:t>Progressive</a:t>
            </a:r>
            <a:r>
              <a:rPr lang="pt-BR" b="1" dirty="0"/>
              <a:t> </a:t>
            </a:r>
            <a:r>
              <a:rPr lang="pt-BR" b="1" dirty="0" err="1"/>
              <a:t>enhancement</a:t>
            </a:r>
            <a:r>
              <a:rPr lang="pt-BR" dirty="0"/>
              <a:t>: começar com layout para tela pequena, mais simples, e a partir daí adicionar complexidade para telas maiores</a:t>
            </a:r>
          </a:p>
          <a:p>
            <a:r>
              <a:rPr lang="pt-BR" dirty="0"/>
              <a:t>No contexto de design para mobile, a segunda estratégia é chamada de </a:t>
            </a:r>
            <a:r>
              <a:rPr lang="pt-BR" b="1" dirty="0"/>
              <a:t>mobile-</a:t>
            </a:r>
            <a:r>
              <a:rPr lang="pt-BR" b="1" dirty="0" err="1"/>
              <a:t>first</a:t>
            </a:r>
            <a:r>
              <a:rPr lang="pt-BR" dirty="0"/>
              <a:t>, e é considerada a melhor prática</a:t>
            </a:r>
          </a:p>
          <a:p>
            <a:r>
              <a:rPr lang="pt-BR" dirty="0"/>
              <a:t>Algumas coisas a </a:t>
            </a:r>
            <a:r>
              <a:rPr lang="pt-BR" b="1" dirty="0"/>
              <a:t>evitar</a:t>
            </a:r>
            <a:r>
              <a:rPr lang="pt-BR" dirty="0"/>
              <a:t>: animações que exigem muito processamento, pop-ups, </a:t>
            </a:r>
            <a:r>
              <a:rPr lang="pt-BR" dirty="0" err="1"/>
              <a:t>mouseover</a:t>
            </a:r>
            <a:r>
              <a:rPr lang="pt-BR" dirty="0"/>
              <a:t>, botão direito do mouse...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31838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31816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Grid system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1884" y="1613936"/>
            <a:ext cx="7239037" cy="2800395"/>
          </a:xfrm>
        </p:spPr>
        <p:txBody>
          <a:bodyPr anchor="t">
            <a:normAutofit fontScale="77500" lnSpcReduction="20000"/>
          </a:bodyPr>
          <a:lstStyle/>
          <a:p>
            <a:pPr fontAlgn="base"/>
            <a:r>
              <a:rPr lang="pt-BR" dirty="0"/>
              <a:t>Projetar uma página responsiva é mais fácil quando se usa um sistema de grids:</a:t>
            </a:r>
          </a:p>
          <a:p>
            <a:pPr lvl="1" fontAlgn="base"/>
            <a:r>
              <a:rPr lang="pt-BR" dirty="0"/>
              <a:t>A página é dividida conceitualmente em colunas de igual largura</a:t>
            </a:r>
          </a:p>
          <a:p>
            <a:pPr lvl="1" fontAlgn="base"/>
            <a:r>
              <a:rPr lang="pt-BR" dirty="0"/>
              <a:t>Cada elemento da página ocupa uma ou mais colunas</a:t>
            </a:r>
          </a:p>
          <a:p>
            <a:pPr fontAlgn="base"/>
            <a:r>
              <a:rPr lang="pt-BR" dirty="0"/>
              <a:t>Comumente usa-se um grid de 12 colunas</a:t>
            </a:r>
          </a:p>
          <a:p>
            <a:pPr fontAlgn="base"/>
            <a:r>
              <a:rPr lang="pt-BR" dirty="0"/>
              <a:t>Para cada elemento, definimos a largura dizendo quantas colunas ele vai ocupar</a:t>
            </a:r>
          </a:p>
          <a:p>
            <a:pPr fontAlgn="base"/>
            <a:r>
              <a:rPr lang="pt-BR" dirty="0"/>
              <a:t>Cada elemento é posicionado à direita do anterior; quando ultrapassa o total de colunas, ele vai para a linha de baixo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9" y="4719441"/>
            <a:ext cx="7970191" cy="13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07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/>
            </a:br>
            <a:r>
              <a:rPr lang="pt-BR" b="1"/>
              <a:t>lg</a:t>
            </a:r>
            <a:endParaRPr lang="pt-BR">
              <a:effectLst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31816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Grid system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1884" y="1613936"/>
            <a:ext cx="7239037" cy="2800395"/>
          </a:xfrm>
        </p:spPr>
        <p:txBody>
          <a:bodyPr anchor="t">
            <a:normAutofit lnSpcReduction="10000"/>
          </a:bodyPr>
          <a:lstStyle/>
          <a:p>
            <a:pPr fontAlgn="base"/>
            <a:r>
              <a:rPr lang="pt-BR" dirty="0"/>
              <a:t>Para tornar a página responsiva, os elementos podem ter diferentes larguras para diferentes tamanhos de tela. Ex.: 6 colunas em tela pequena, 3 em tela grande</a:t>
            </a:r>
          </a:p>
          <a:p>
            <a:pPr fontAlgn="base"/>
            <a:r>
              <a:rPr lang="pt-BR" dirty="0"/>
              <a:t>A largura definida para uma tamanho de tela vale para tamanhos maiores a menos que seja redefinida</a:t>
            </a:r>
          </a:p>
          <a:p>
            <a:endParaRPr lang="pt-BR" sz="1600" dirty="0"/>
          </a:p>
          <a:p>
            <a:endParaRPr lang="pt-BR" sz="1600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04215"/>
              </p:ext>
            </p:extLst>
          </p:nvPr>
        </p:nvGraphicFramePr>
        <p:xfrm>
          <a:off x="240030" y="4313075"/>
          <a:ext cx="3121620" cy="1706880"/>
        </p:xfrm>
        <a:graphic>
          <a:graphicData uri="http://schemas.openxmlformats.org/drawingml/2006/table">
            <a:tbl>
              <a:tblPr/>
              <a:tblGrid>
                <a:gridCol w="606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9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default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xs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sm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md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lg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menu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pt-BR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texto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pt-BR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info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pt-BR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pt-BR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 </a:t>
                      </a: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530" y="3852098"/>
            <a:ext cx="5172470" cy="2977281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355330" y="614442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600"/>
              </a:spcAft>
            </a:pPr>
            <a:r>
              <a:rPr lang="pt-BR" b="1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xs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: &lt; 768 </a:t>
            </a:r>
            <a:r>
              <a:rPr lang="pt-BR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px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; </a:t>
            </a:r>
            <a:r>
              <a:rPr lang="pt-BR" b="1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sm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: ≥ 768 </a:t>
            </a:r>
            <a:r>
              <a:rPr lang="pt-BR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px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;</a:t>
            </a:r>
            <a:b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</a:br>
            <a:r>
              <a:rPr lang="pt-BR" b="1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md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: ≥ 992px; </a:t>
            </a:r>
            <a:r>
              <a:rPr lang="pt-BR" b="1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lg</a:t>
            </a:r>
            <a:r>
              <a:rPr lang="pt-BR" dirty="0">
                <a:solidFill>
                  <a:srgbClr val="595959"/>
                </a:solidFill>
                <a:latin typeface="Source Sans Pro" panose="020B0503030403020204" pitchFamily="34" charset="0"/>
              </a:rPr>
              <a:t>: ≥ 1200 </a:t>
            </a:r>
            <a:r>
              <a:rPr lang="pt-BR" dirty="0" err="1">
                <a:solidFill>
                  <a:srgbClr val="595959"/>
                </a:solidFill>
                <a:latin typeface="Source Sans Pro" panose="020B0503030403020204" pitchFamily="34" charset="0"/>
              </a:rPr>
              <a:t>px</a:t>
            </a:r>
            <a:endParaRPr 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0504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/>
            </a:br>
            <a:r>
              <a:rPr lang="pt-BR" b="1"/>
              <a:t>lg</a:t>
            </a:r>
            <a:endParaRPr lang="pt-BR">
              <a:effectLst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1330" y="318165"/>
            <a:ext cx="8420090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Telas com alta densidade de pixels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1884" y="1613936"/>
            <a:ext cx="7239037" cy="4617221"/>
          </a:xfrm>
        </p:spPr>
        <p:txBody>
          <a:bodyPr anchor="t">
            <a:normAutofit fontScale="92500" lnSpcReduction="20000"/>
          </a:bodyPr>
          <a:lstStyle/>
          <a:p>
            <a:pPr fontAlgn="base"/>
            <a:r>
              <a:rPr lang="pt-BR" dirty="0"/>
              <a:t>Em relação à geração anterior, o iPhone 4 dobrou o número de pixels em cada dimensão sem mudar o tamanho da tela. Chamamos isso de </a:t>
            </a:r>
            <a:r>
              <a:rPr lang="pt-BR" b="1" dirty="0"/>
              <a:t>densidade de pixels</a:t>
            </a:r>
            <a:r>
              <a:rPr lang="pt-BR" dirty="0"/>
              <a:t> @2x. Hoje, há vários celulares @2x e até @3x.</a:t>
            </a:r>
          </a:p>
          <a:p>
            <a:pPr fontAlgn="base"/>
            <a:r>
              <a:rPr lang="pt-BR" dirty="0"/>
              <a:t>Na web, usamos pixels </a:t>
            </a:r>
            <a:r>
              <a:rPr lang="pt-BR" b="1" dirty="0"/>
              <a:t>lógicos</a:t>
            </a:r>
            <a:r>
              <a:rPr lang="pt-BR" dirty="0"/>
              <a:t>: uma imagem com dimensões 100x100 </a:t>
            </a:r>
            <a:r>
              <a:rPr lang="pt-BR" dirty="0" err="1"/>
              <a:t>px</a:t>
            </a:r>
            <a:r>
              <a:rPr lang="pt-BR" dirty="0"/>
              <a:t> (lógicos), ao ser exibida em uma tela @2x, ocupará 200x200 </a:t>
            </a:r>
            <a:r>
              <a:rPr lang="pt-BR" dirty="0" err="1"/>
              <a:t>px</a:t>
            </a:r>
            <a:r>
              <a:rPr lang="pt-BR" dirty="0"/>
              <a:t> (</a:t>
            </a:r>
            <a:r>
              <a:rPr lang="pt-BR" b="1" dirty="0"/>
              <a:t>físicos</a:t>
            </a:r>
            <a:r>
              <a:rPr lang="pt-BR" dirty="0"/>
              <a:t>), e aparentará desfocada</a:t>
            </a:r>
          </a:p>
          <a:p>
            <a:pPr fontAlgn="base"/>
            <a:r>
              <a:rPr lang="pt-BR" b="1" dirty="0"/>
              <a:t>Solução 1</a:t>
            </a:r>
            <a:r>
              <a:rPr lang="pt-BR" dirty="0"/>
              <a:t>: usar uma imagem de 200x200 </a:t>
            </a:r>
            <a:r>
              <a:rPr lang="pt-BR" dirty="0" err="1"/>
              <a:t>px</a:t>
            </a:r>
            <a:r>
              <a:rPr lang="pt-BR" dirty="0"/>
              <a:t> e exibir com 100 </a:t>
            </a:r>
            <a:r>
              <a:rPr lang="pt-BR" dirty="0" err="1"/>
              <a:t>px</a:t>
            </a:r>
            <a:r>
              <a:rPr lang="pt-BR" dirty="0"/>
              <a:t> (lógicos)</a:t>
            </a:r>
          </a:p>
          <a:p>
            <a:r>
              <a:rPr lang="pt-BR" b="1" dirty="0"/>
              <a:t>Solução 2</a:t>
            </a:r>
            <a:r>
              <a:rPr lang="pt-BR" dirty="0"/>
              <a:t>: fornecer </a:t>
            </a:r>
            <a:r>
              <a:rPr lang="pt-BR" b="1" dirty="0"/>
              <a:t>diferentes versões</a:t>
            </a:r>
            <a:r>
              <a:rPr lang="pt-BR" dirty="0"/>
              <a:t> de cada imagem, uma para cada densidade (via atributo HTML </a:t>
            </a:r>
            <a:r>
              <a:rPr lang="pt-BR" dirty="0" err="1"/>
              <a:t>srcset</a:t>
            </a:r>
            <a:r>
              <a:rPr lang="pt-BR" dirty="0"/>
              <a:t>)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655218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pt-BR"/>
            </a:br>
            <a:r>
              <a:rPr lang="pt-BR" b="1"/>
              <a:t>lg</a:t>
            </a:r>
            <a:endParaRPr lang="pt-BR">
              <a:effectLst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1330" y="318165"/>
            <a:ext cx="8420090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Telas com alta densidade de pixels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1884" y="1613936"/>
            <a:ext cx="7239037" cy="4617221"/>
          </a:xfrm>
        </p:spPr>
        <p:txBody>
          <a:bodyPr anchor="t">
            <a:normAutofit/>
          </a:bodyPr>
          <a:lstStyle/>
          <a:p>
            <a:endParaRPr lang="pt-BR" sz="1600" dirty="0"/>
          </a:p>
        </p:txBody>
      </p:sp>
      <p:pic>
        <p:nvPicPr>
          <p:cNvPr id="12293" name="Picture 5" descr="https://lh7-us.googleusercontent.com/slidesz/AGV_vUfKK2Rt4fthe8wHdw7TS3lp-b_6cJAkoWbJFLnkYOPTJPhbzCteV5yFa3oxL_mTUUoXFDhs4ISofymU4rH6FqGcW7ex4a8n6oXKTAvPdBcZQ_hxS2QOwXQv4UdZHIl1mrav3Cj11e39CuIRg0_HNaJIavUBOA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269" y="2192866"/>
            <a:ext cx="6964395" cy="385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ta para a esquerda 4"/>
          <p:cNvSpPr/>
          <p:nvPr/>
        </p:nvSpPr>
        <p:spPr>
          <a:xfrm>
            <a:off x="3056351" y="2830883"/>
            <a:ext cx="1878904" cy="136533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1 </a:t>
            </a:r>
            <a:r>
              <a:rPr lang="pt-BR" b="1" dirty="0" err="1"/>
              <a:t>px</a:t>
            </a:r>
            <a:r>
              <a:rPr lang="pt-BR" b="1" dirty="0"/>
              <a:t> lógico = 1 </a:t>
            </a:r>
            <a:r>
              <a:rPr lang="pt-BR" b="1" dirty="0" err="1"/>
              <a:t>px</a:t>
            </a:r>
            <a:r>
              <a:rPr lang="pt-BR" b="1" dirty="0"/>
              <a:t> físico</a:t>
            </a:r>
          </a:p>
        </p:txBody>
      </p:sp>
      <p:sp>
        <p:nvSpPr>
          <p:cNvPr id="6" name="Retângulo 5"/>
          <p:cNvSpPr/>
          <p:nvPr/>
        </p:nvSpPr>
        <p:spPr>
          <a:xfrm>
            <a:off x="5674936" y="3044858"/>
            <a:ext cx="867266" cy="8776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62754" y="3079655"/>
            <a:ext cx="371812" cy="34756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 para baixo 8"/>
          <p:cNvSpPr/>
          <p:nvPr/>
        </p:nvSpPr>
        <p:spPr>
          <a:xfrm>
            <a:off x="5209738" y="1740760"/>
            <a:ext cx="1477844" cy="1414021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1 </a:t>
            </a:r>
            <a:r>
              <a:rPr lang="pt-BR" b="1" dirty="0" err="1"/>
              <a:t>px</a:t>
            </a:r>
            <a:r>
              <a:rPr lang="pt-BR" b="1" dirty="0"/>
              <a:t> físico</a:t>
            </a:r>
          </a:p>
        </p:txBody>
      </p:sp>
      <p:sp>
        <p:nvSpPr>
          <p:cNvPr id="16" name="Seta para a esquerda 15"/>
          <p:cNvSpPr/>
          <p:nvPr/>
        </p:nvSpPr>
        <p:spPr>
          <a:xfrm>
            <a:off x="6519991" y="2756131"/>
            <a:ext cx="1878904" cy="136533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1 </a:t>
            </a:r>
            <a:r>
              <a:rPr lang="pt-BR" b="1" dirty="0" err="1"/>
              <a:t>px</a:t>
            </a:r>
            <a:r>
              <a:rPr lang="pt-BR" b="1" dirty="0"/>
              <a:t> lógico</a:t>
            </a:r>
          </a:p>
        </p:txBody>
      </p:sp>
    </p:spTree>
    <p:extLst>
      <p:ext uri="{BB962C8B-B14F-4D97-AF65-F5344CB8AC3E}">
        <p14:creationId xmlns:p14="http://schemas.microsoft.com/office/powerpoint/2010/main" val="1648442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4949372"/>
          </a:xfrm>
        </p:spPr>
        <p:txBody>
          <a:bodyPr anchor="ctr">
            <a:normAutofit/>
          </a:bodyPr>
          <a:lstStyle/>
          <a:p>
            <a:r>
              <a:rPr lang="pt-BR" sz="4800" dirty="0"/>
              <a:t>Características dos smartphones</a:t>
            </a:r>
            <a:endParaRPr lang="pt-BR" sz="54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8763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Características dos smartphones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669085"/>
            <a:ext cx="7239037" cy="3562072"/>
          </a:xfrm>
        </p:spPr>
        <p:txBody>
          <a:bodyPr anchor="t">
            <a:normAutofit fontScale="92500" lnSpcReduction="10000"/>
          </a:bodyPr>
          <a:lstStyle/>
          <a:p>
            <a:r>
              <a:rPr lang="pt-BR" dirty="0"/>
              <a:t>Smartphones são dispositivos </a:t>
            </a:r>
            <a:r>
              <a:rPr lang="pt-BR" b="1" dirty="0"/>
              <a:t>móveis</a:t>
            </a:r>
            <a:r>
              <a:rPr lang="pt-BR" dirty="0"/>
              <a:t> e </a:t>
            </a:r>
            <a:r>
              <a:rPr lang="pt-BR" b="1" dirty="0"/>
              <a:t>pessoais</a:t>
            </a:r>
            <a:r>
              <a:rPr lang="pt-BR" dirty="0"/>
              <a:t>, e precisam ser relativamente </a:t>
            </a:r>
            <a:r>
              <a:rPr lang="pt-BR" b="1" dirty="0"/>
              <a:t>seguros</a:t>
            </a:r>
            <a:r>
              <a:rPr lang="pt-BR" dirty="0"/>
              <a:t> (afinal, uma falha de segurança pode impedir de fazer ligações telefônicas)</a:t>
            </a:r>
          </a:p>
          <a:p>
            <a:r>
              <a:rPr lang="pt-BR" dirty="0"/>
              <a:t>Essas características provocam repercussões em três áreas:</a:t>
            </a:r>
          </a:p>
          <a:p>
            <a:pPr fontAlgn="base"/>
            <a:r>
              <a:rPr lang="pt-BR" dirty="0"/>
              <a:t>Hardware</a:t>
            </a:r>
          </a:p>
          <a:p>
            <a:pPr fontAlgn="base"/>
            <a:r>
              <a:rPr lang="pt-BR" dirty="0"/>
              <a:t>Software</a:t>
            </a:r>
          </a:p>
          <a:p>
            <a:pPr fontAlgn="base"/>
            <a:r>
              <a:rPr lang="pt-BR" dirty="0"/>
              <a:t>Usuários</a:t>
            </a:r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17059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pt-BR" sz="4800" b="1" dirty="0"/>
              <a:t>Hardware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 anchor="t">
            <a:normAutofit fontScale="70000" lnSpcReduction="20000"/>
          </a:bodyPr>
          <a:lstStyle/>
          <a:p>
            <a:pPr fontAlgn="base"/>
            <a:r>
              <a:rPr lang="pt-BR" dirty="0"/>
              <a:t>Processamento</a:t>
            </a:r>
          </a:p>
          <a:p>
            <a:pPr lvl="1" fontAlgn="base"/>
            <a:r>
              <a:rPr lang="pt-BR" dirty="0"/>
              <a:t>Processador (geralmente </a:t>
            </a:r>
            <a:r>
              <a:rPr lang="pt-BR" b="1" dirty="0"/>
              <a:t>ARM</a:t>
            </a:r>
            <a:r>
              <a:rPr lang="pt-BR" dirty="0"/>
              <a:t>)</a:t>
            </a:r>
          </a:p>
          <a:p>
            <a:pPr lvl="1" fontAlgn="base"/>
            <a:r>
              <a:rPr lang="pt-BR" b="1" dirty="0"/>
              <a:t>GPU</a:t>
            </a:r>
          </a:p>
          <a:p>
            <a:pPr lvl="1" fontAlgn="base"/>
            <a:r>
              <a:rPr lang="pt-BR" dirty="0"/>
              <a:t>mais recente: </a:t>
            </a:r>
            <a:r>
              <a:rPr lang="pt-BR" b="1" dirty="0"/>
              <a:t>NPU</a:t>
            </a:r>
            <a:endParaRPr lang="pt-BR" dirty="0"/>
          </a:p>
          <a:p>
            <a:pPr fontAlgn="base"/>
            <a:r>
              <a:rPr lang="pt-BR" dirty="0"/>
              <a:t>Armazenamento</a:t>
            </a:r>
          </a:p>
          <a:p>
            <a:pPr lvl="1" fontAlgn="base"/>
            <a:r>
              <a:rPr lang="pt-BR" dirty="0"/>
              <a:t>Memória RAM</a:t>
            </a:r>
          </a:p>
          <a:p>
            <a:pPr lvl="1" fontAlgn="base"/>
            <a:r>
              <a:rPr lang="pt-BR" dirty="0"/>
              <a:t>Memória </a:t>
            </a:r>
            <a:r>
              <a:rPr lang="pt-BR" b="1" dirty="0"/>
              <a:t>flash</a:t>
            </a:r>
            <a:endParaRPr lang="pt-BR" dirty="0"/>
          </a:p>
          <a:p>
            <a:pPr lvl="1" fontAlgn="base"/>
            <a:r>
              <a:rPr lang="pt-BR" dirty="0"/>
              <a:t>Cartão SD</a:t>
            </a:r>
          </a:p>
          <a:p>
            <a:pPr fontAlgn="base"/>
            <a:r>
              <a:rPr lang="pt-BR" dirty="0"/>
              <a:t>Conectividade</a:t>
            </a:r>
          </a:p>
          <a:p>
            <a:pPr lvl="1" fontAlgn="base"/>
            <a:r>
              <a:rPr lang="pt-BR" dirty="0"/>
              <a:t>3G/4G/5G</a:t>
            </a:r>
          </a:p>
          <a:p>
            <a:pPr lvl="1" fontAlgn="base"/>
            <a:r>
              <a:rPr lang="pt-BR" dirty="0"/>
              <a:t>Wi-Fi</a:t>
            </a:r>
          </a:p>
          <a:p>
            <a:pPr lvl="1" fontAlgn="base"/>
            <a:r>
              <a:rPr lang="pt-BR" dirty="0"/>
              <a:t>Bluetooth</a:t>
            </a:r>
          </a:p>
          <a:p>
            <a:pPr lvl="1" fontAlgn="base"/>
            <a:r>
              <a:rPr lang="pt-BR" dirty="0"/>
              <a:t>NFC</a:t>
            </a:r>
          </a:p>
          <a:p>
            <a:pPr lvl="1" fontAlgn="base"/>
            <a:r>
              <a:rPr lang="pt-BR" dirty="0"/>
              <a:t>Infravermelho</a:t>
            </a:r>
          </a:p>
          <a:p>
            <a:pPr fontAlgn="base"/>
            <a:r>
              <a:rPr lang="pt-BR" dirty="0"/>
              <a:t>Bateria</a:t>
            </a:r>
          </a:p>
          <a:p>
            <a:endParaRPr lang="pt-BR" sz="1600" dirty="0"/>
          </a:p>
          <a:p>
            <a:endParaRPr lang="pt-BR" sz="16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pt-BR" dirty="0"/>
              <a:t>Localização</a:t>
            </a:r>
          </a:p>
          <a:p>
            <a:pPr lvl="1" fontAlgn="base"/>
            <a:r>
              <a:rPr lang="pt-BR" dirty="0"/>
              <a:t>GPS</a:t>
            </a:r>
          </a:p>
          <a:p>
            <a:pPr lvl="1" fontAlgn="base"/>
            <a:r>
              <a:rPr lang="pt-BR" dirty="0"/>
              <a:t>Bússola</a:t>
            </a:r>
          </a:p>
          <a:p>
            <a:pPr fontAlgn="base"/>
            <a:r>
              <a:rPr lang="pt-BR" dirty="0"/>
              <a:t>Saídas</a:t>
            </a:r>
          </a:p>
          <a:p>
            <a:pPr lvl="1" fontAlgn="base"/>
            <a:r>
              <a:rPr lang="pt-BR" dirty="0"/>
              <a:t>Vibração</a:t>
            </a:r>
          </a:p>
          <a:p>
            <a:pPr lvl="1" fontAlgn="base"/>
            <a:r>
              <a:rPr lang="pt-BR" dirty="0"/>
              <a:t>Tela </a:t>
            </a:r>
            <a:r>
              <a:rPr lang="pt-BR" dirty="0" err="1"/>
              <a:t>multitoque</a:t>
            </a:r>
            <a:r>
              <a:rPr lang="pt-BR" dirty="0"/>
              <a:t> (</a:t>
            </a:r>
            <a:r>
              <a:rPr lang="pt-BR" b="1" dirty="0"/>
              <a:t>pequena</a:t>
            </a:r>
            <a:r>
              <a:rPr lang="pt-BR" dirty="0"/>
              <a:t>)</a:t>
            </a:r>
          </a:p>
          <a:p>
            <a:pPr lvl="1" fontAlgn="base"/>
            <a:r>
              <a:rPr lang="pt-BR" dirty="0"/>
              <a:t>Alto-falante / conector</a:t>
            </a:r>
          </a:p>
          <a:p>
            <a:pPr fontAlgn="base"/>
            <a:r>
              <a:rPr lang="pt-BR" dirty="0"/>
              <a:t>Sensores</a:t>
            </a:r>
          </a:p>
          <a:p>
            <a:pPr lvl="1" fontAlgn="base"/>
            <a:r>
              <a:rPr lang="pt-BR" dirty="0"/>
              <a:t>Tela </a:t>
            </a:r>
            <a:r>
              <a:rPr lang="pt-BR" dirty="0" err="1"/>
              <a:t>multitoque</a:t>
            </a:r>
            <a:endParaRPr lang="pt-BR" dirty="0"/>
          </a:p>
          <a:p>
            <a:pPr lvl="1" fontAlgn="base"/>
            <a:r>
              <a:rPr lang="pt-BR" dirty="0"/>
              <a:t>Câmeras</a:t>
            </a:r>
          </a:p>
          <a:p>
            <a:pPr lvl="1" fontAlgn="base"/>
            <a:r>
              <a:rPr lang="pt-BR" dirty="0"/>
              <a:t>Microfone</a:t>
            </a:r>
          </a:p>
          <a:p>
            <a:pPr lvl="1" fontAlgn="base"/>
            <a:r>
              <a:rPr lang="pt-BR" b="1" dirty="0"/>
              <a:t>Acelerômetro</a:t>
            </a:r>
            <a:r>
              <a:rPr lang="pt-BR" dirty="0"/>
              <a:t> e giroscópio</a:t>
            </a:r>
          </a:p>
          <a:p>
            <a:pPr lvl="1" fontAlgn="base"/>
            <a:r>
              <a:rPr lang="pt-BR" dirty="0"/>
              <a:t>Sensor de luz ambiente</a:t>
            </a:r>
          </a:p>
          <a:p>
            <a:pPr lvl="1" fontAlgn="base"/>
            <a:r>
              <a:rPr lang="pt-BR" dirty="0"/>
              <a:t>Sensor de proximidade</a:t>
            </a:r>
          </a:p>
          <a:p>
            <a:pPr lvl="1" fontAlgn="base"/>
            <a:r>
              <a:rPr lang="pt-BR" dirty="0"/>
              <a:t>Leitor biométrico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1265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Hardware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669085"/>
            <a:ext cx="7239037" cy="3562072"/>
          </a:xfrm>
        </p:spPr>
        <p:txBody>
          <a:bodyPr anchor="t">
            <a:normAutofit fontScale="85000" lnSpcReduction="20000"/>
          </a:bodyPr>
          <a:lstStyle/>
          <a:p>
            <a:pPr fontAlgn="base"/>
            <a:r>
              <a:rPr lang="pt-BR" b="1" dirty="0"/>
              <a:t>Mobilidade</a:t>
            </a:r>
            <a:r>
              <a:rPr lang="pt-BR" dirty="0"/>
              <a:t>:</a:t>
            </a:r>
          </a:p>
          <a:p>
            <a:pPr lvl="1" fontAlgn="base"/>
            <a:r>
              <a:rPr lang="pt-BR" dirty="0"/>
              <a:t>evitar </a:t>
            </a:r>
            <a:r>
              <a:rPr lang="pt-BR" b="1" dirty="0"/>
              <a:t>cabos</a:t>
            </a:r>
            <a:endParaRPr lang="pt-BR" dirty="0"/>
          </a:p>
          <a:p>
            <a:pPr lvl="2" fontAlgn="base"/>
            <a:r>
              <a:rPr lang="pt-BR" dirty="0"/>
              <a:t>usar conexões sem fio (não-confiáveis)</a:t>
            </a:r>
          </a:p>
          <a:p>
            <a:pPr lvl="2" fontAlgn="base"/>
            <a:r>
              <a:rPr lang="pt-BR" dirty="0"/>
              <a:t>usar bateria (fonte de energia limitada)</a:t>
            </a:r>
          </a:p>
          <a:p>
            <a:pPr lvl="1" fontAlgn="base"/>
            <a:r>
              <a:rPr lang="pt-BR" dirty="0"/>
              <a:t>hardware sem </a:t>
            </a:r>
            <a:r>
              <a:rPr lang="pt-BR" b="1" dirty="0"/>
              <a:t>partes móveis</a:t>
            </a:r>
            <a:r>
              <a:rPr lang="pt-BR" dirty="0"/>
              <a:t> (i.e., sem HD magnético)</a:t>
            </a:r>
          </a:p>
          <a:p>
            <a:pPr lvl="1" fontAlgn="base"/>
            <a:r>
              <a:rPr lang="pt-BR" dirty="0"/>
              <a:t>diminuir o </a:t>
            </a:r>
            <a:r>
              <a:rPr lang="pt-BR" b="1" dirty="0"/>
              <a:t>tamanho</a:t>
            </a:r>
            <a:r>
              <a:rPr lang="pt-BR" dirty="0"/>
              <a:t> (tela pequena, sem teclado físico)</a:t>
            </a:r>
          </a:p>
          <a:p>
            <a:pPr fontAlgn="base"/>
            <a:r>
              <a:rPr lang="pt-BR" b="1" dirty="0"/>
              <a:t>Bateria</a:t>
            </a:r>
            <a:r>
              <a:rPr lang="pt-BR" dirty="0"/>
              <a:t>:</a:t>
            </a:r>
          </a:p>
          <a:p>
            <a:pPr lvl="1" fontAlgn="base"/>
            <a:r>
              <a:rPr lang="pt-BR" dirty="0"/>
              <a:t>usar </a:t>
            </a:r>
            <a:r>
              <a:rPr lang="pt-BR" b="1" dirty="0"/>
              <a:t>cache</a:t>
            </a:r>
            <a:r>
              <a:rPr lang="pt-BR" dirty="0"/>
              <a:t> para evitar uso contínuo de Wi-Fi, antena e GPS</a:t>
            </a:r>
          </a:p>
          <a:p>
            <a:pPr lvl="1" fontAlgn="base"/>
            <a:r>
              <a:rPr lang="pt-BR" dirty="0"/>
              <a:t>usar hardware que consome </a:t>
            </a:r>
            <a:r>
              <a:rPr lang="pt-BR" b="1" dirty="0"/>
              <a:t>menos energia</a:t>
            </a:r>
            <a:endParaRPr lang="pt-BR" dirty="0"/>
          </a:p>
          <a:p>
            <a:pPr lvl="1" fontAlgn="base"/>
            <a:r>
              <a:rPr lang="pt-BR" dirty="0"/>
              <a:t>evitar </a:t>
            </a:r>
            <a:r>
              <a:rPr lang="pt-BR" dirty="0" err="1"/>
              <a:t>apps</a:t>
            </a:r>
            <a:r>
              <a:rPr lang="pt-BR" dirty="0"/>
              <a:t> que rodam em </a:t>
            </a:r>
            <a:r>
              <a:rPr lang="pt-BR" b="1" dirty="0"/>
              <a:t>background</a:t>
            </a:r>
            <a:endParaRPr lang="pt-BR" dirty="0"/>
          </a:p>
          <a:p>
            <a:r>
              <a:rPr lang="pt-BR" dirty="0"/>
              <a:t>aumentar </a:t>
            </a:r>
            <a:r>
              <a:rPr lang="pt-BR" b="1" dirty="0"/>
              <a:t>tamanho</a:t>
            </a:r>
            <a:r>
              <a:rPr lang="pt-BR" dirty="0"/>
              <a:t> do celular para aumentar bateria.</a:t>
            </a:r>
            <a:endParaRPr lang="pt-BR" sz="24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13497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Software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669085"/>
            <a:ext cx="7239037" cy="3562072"/>
          </a:xfrm>
        </p:spPr>
        <p:txBody>
          <a:bodyPr anchor="t">
            <a:normAutofit fontScale="85000" lnSpcReduction="20000"/>
          </a:bodyPr>
          <a:lstStyle/>
          <a:p>
            <a:pPr fontAlgn="base"/>
            <a:r>
              <a:rPr lang="pt-BR" dirty="0"/>
              <a:t>Sistemas operacionais descendentes do </a:t>
            </a:r>
            <a:r>
              <a:rPr lang="pt-BR" b="1" dirty="0"/>
              <a:t>Unix </a:t>
            </a:r>
            <a:r>
              <a:rPr lang="pt-BR" sz="2400" dirty="0"/>
              <a:t>(compare com desktop: Windows + Intel)</a:t>
            </a:r>
            <a:endParaRPr lang="pt-BR" dirty="0"/>
          </a:p>
          <a:p>
            <a:pPr lvl="1" fontAlgn="base"/>
            <a:r>
              <a:rPr lang="pt-BR" dirty="0" err="1"/>
              <a:t>Android</a:t>
            </a:r>
            <a:r>
              <a:rPr lang="pt-BR" dirty="0"/>
              <a:t> baseado em Linux</a:t>
            </a:r>
          </a:p>
          <a:p>
            <a:pPr lvl="1" fontAlgn="base"/>
            <a:r>
              <a:rPr lang="pt-BR" dirty="0"/>
              <a:t>iOS baseado em BSD Unix</a:t>
            </a:r>
          </a:p>
          <a:p>
            <a:pPr fontAlgn="base"/>
            <a:r>
              <a:rPr lang="pt-BR" dirty="0"/>
              <a:t>Aplicativos rodam em </a:t>
            </a:r>
            <a:r>
              <a:rPr lang="pt-BR" b="1" dirty="0" err="1"/>
              <a:t>sandbox</a:t>
            </a:r>
            <a:endParaRPr lang="pt-BR" dirty="0"/>
          </a:p>
          <a:p>
            <a:pPr lvl="1" fontAlgn="base"/>
            <a:r>
              <a:rPr lang="pt-BR" dirty="0"/>
              <a:t>Não compartilham memória ou arquivos com outros </a:t>
            </a:r>
            <a:r>
              <a:rPr lang="pt-BR" dirty="0" err="1"/>
              <a:t>apps</a:t>
            </a:r>
            <a:endParaRPr lang="pt-BR" sz="1800" dirty="0"/>
          </a:p>
          <a:p>
            <a:pPr lvl="1" fontAlgn="base"/>
            <a:r>
              <a:rPr lang="pt-BR" dirty="0"/>
              <a:t>Precisam de permissão para acessar recursos do sistema</a:t>
            </a:r>
          </a:p>
          <a:p>
            <a:pPr fontAlgn="base"/>
            <a:r>
              <a:rPr lang="pt-BR" dirty="0"/>
              <a:t>Processamento em </a:t>
            </a:r>
            <a:r>
              <a:rPr lang="pt-BR" b="1" dirty="0"/>
              <a:t>segundo plano</a:t>
            </a:r>
            <a:r>
              <a:rPr lang="pt-BR" dirty="0"/>
              <a:t> é restrito</a:t>
            </a:r>
          </a:p>
          <a:p>
            <a:pPr lvl="1" fontAlgn="base"/>
            <a:r>
              <a:rPr lang="pt-BR" dirty="0" err="1"/>
              <a:t>Apps</a:t>
            </a:r>
            <a:r>
              <a:rPr lang="pt-BR" dirty="0"/>
              <a:t> não rodam em segundo plano...</a:t>
            </a:r>
          </a:p>
          <a:p>
            <a:pPr lvl="1" fontAlgn="base"/>
            <a:r>
              <a:rPr lang="pt-BR" dirty="0"/>
              <a:t>… mas podem criar processos que rodam em segundo plano</a:t>
            </a:r>
          </a:p>
          <a:p>
            <a:pPr lvl="1" fontAlgn="base"/>
            <a:r>
              <a:rPr lang="pt-BR" dirty="0"/>
              <a:t>Sistema pode fechar </a:t>
            </a:r>
            <a:r>
              <a:rPr lang="pt-BR" dirty="0" err="1"/>
              <a:t>app</a:t>
            </a:r>
            <a:r>
              <a:rPr lang="pt-BR" dirty="0"/>
              <a:t> a qualquer momento, mesmo "dizendo" ao usuário que </a:t>
            </a:r>
            <a:r>
              <a:rPr lang="pt-BR" dirty="0" err="1"/>
              <a:t>app</a:t>
            </a:r>
            <a:r>
              <a:rPr lang="pt-BR" dirty="0"/>
              <a:t> está rodando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66191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Usuários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1" y="2669085"/>
            <a:ext cx="4660256" cy="3562072"/>
          </a:xfrm>
        </p:spPr>
        <p:txBody>
          <a:bodyPr anchor="t">
            <a:normAutofit lnSpcReduction="10000"/>
          </a:bodyPr>
          <a:lstStyle/>
          <a:p>
            <a:r>
              <a:rPr lang="pt-BR" dirty="0"/>
              <a:t>O  padrão e a expectativa de uso de um smartphone cria alguns desafios:</a:t>
            </a:r>
          </a:p>
          <a:p>
            <a:pPr fontAlgn="base"/>
            <a:r>
              <a:rPr lang="pt-BR" b="1" dirty="0"/>
              <a:t>Atenção dividida</a:t>
            </a:r>
            <a:r>
              <a:rPr lang="pt-BR" dirty="0"/>
              <a:t> (TV, rua, filhos…)</a:t>
            </a:r>
          </a:p>
          <a:p>
            <a:pPr fontAlgn="base"/>
            <a:r>
              <a:rPr lang="pt-BR" b="1" dirty="0"/>
              <a:t>Múltiplos usos</a:t>
            </a:r>
            <a:r>
              <a:rPr lang="pt-BR" dirty="0"/>
              <a:t> de curta duração, </a:t>
            </a:r>
            <a:r>
              <a:rPr lang="pt-BR" b="1" dirty="0"/>
              <a:t>troca</a:t>
            </a:r>
            <a:r>
              <a:rPr lang="pt-BR" dirty="0"/>
              <a:t> de </a:t>
            </a:r>
            <a:r>
              <a:rPr lang="pt-BR" dirty="0" err="1"/>
              <a:t>apps</a:t>
            </a:r>
            <a:endParaRPr lang="pt-BR" dirty="0"/>
          </a:p>
          <a:p>
            <a:pPr fontAlgn="base"/>
            <a:r>
              <a:rPr lang="pt-BR" b="1" dirty="0"/>
              <a:t>Ergonomia ruim</a:t>
            </a:r>
            <a:r>
              <a:rPr lang="pt-BR" dirty="0"/>
              <a:t> (uma mão, na cama, em movimento…)</a:t>
            </a:r>
          </a:p>
          <a:p>
            <a:pPr fontAlgn="base"/>
            <a:endParaRPr lang="pt-BR" dirty="0"/>
          </a:p>
          <a:p>
            <a:endParaRPr lang="pt-BR" sz="1600" dirty="0"/>
          </a:p>
        </p:txBody>
      </p:sp>
      <p:pic>
        <p:nvPicPr>
          <p:cNvPr id="14340" name="Picture 4" descr="https://lh7-us.googleusercontent.com/slidesz/AGV_vUd5hd5mQYLyIGDtwyjRT7Nr0SMUuF-LquQ3BNtsgfSchMHsEjIbyiKnPcUk1sghmrYMCFh6VMREn2eMbjyUHfWsGQ-1buTA7I8X3otgclyI6wommD125U_oaRT_ymrsPzXI8pYoHKWcFW6VNpaRr4lWQ6xiYw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677" y="753940"/>
            <a:ext cx="2956574" cy="578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38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Impactos sobre o desenvolvimento de </a:t>
            </a:r>
            <a:r>
              <a:rPr lang="pt-BR" sz="4800" b="1" dirty="0" err="1"/>
              <a:t>apps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669085"/>
            <a:ext cx="7239037" cy="3562072"/>
          </a:xfrm>
        </p:spPr>
        <p:txBody>
          <a:bodyPr anchor="t">
            <a:normAutofit fontScale="70000" lnSpcReduction="20000"/>
          </a:bodyPr>
          <a:lstStyle/>
          <a:p>
            <a:pPr fontAlgn="base"/>
            <a:r>
              <a:rPr lang="pt-BR" b="1" dirty="0"/>
              <a:t>Sem teclado físico</a:t>
            </a:r>
            <a:r>
              <a:rPr lang="pt-BR" dirty="0"/>
              <a:t> ⇒ </a:t>
            </a:r>
            <a:r>
              <a:rPr lang="pt-BR" b="1" dirty="0">
                <a:solidFill>
                  <a:srgbClr val="FF0000"/>
                </a:solidFill>
              </a:rPr>
              <a:t>digitação é penosa </a:t>
            </a:r>
            <a:r>
              <a:rPr lang="pt-BR" dirty="0">
                <a:solidFill>
                  <a:srgbClr val="FF0000"/>
                </a:solidFill>
              </a:rPr>
              <a:t>⇒</a:t>
            </a:r>
            <a:r>
              <a:rPr lang="pt-BR" b="1" dirty="0">
                <a:solidFill>
                  <a:srgbClr val="FF0000"/>
                </a:solidFill>
              </a:rPr>
              <a:t> uso de microfone, GPS, câmera…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Tela pequena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⇒ </a:t>
            </a:r>
            <a:r>
              <a:rPr lang="pt-BR" b="1" dirty="0">
                <a:solidFill>
                  <a:srgbClr val="FF0000"/>
                </a:solidFill>
              </a:rPr>
              <a:t>mais navegação e menos rolagem, botões maiores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Pouco espaço de armazenamento</a:t>
            </a:r>
            <a:r>
              <a:rPr lang="pt-BR" dirty="0"/>
              <a:t> ⇒ </a:t>
            </a:r>
            <a:r>
              <a:rPr lang="pt-BR" b="1" dirty="0">
                <a:solidFill>
                  <a:srgbClr val="FF0000"/>
                </a:solidFill>
              </a:rPr>
              <a:t>armazenamento em nuvem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Conexão intermitente, economia de energia</a:t>
            </a:r>
            <a:r>
              <a:rPr lang="pt-BR" dirty="0"/>
              <a:t> ⇒ </a:t>
            </a:r>
            <a:r>
              <a:rPr lang="pt-BR" b="1" dirty="0">
                <a:solidFill>
                  <a:srgbClr val="FF0000"/>
                </a:solidFill>
              </a:rPr>
              <a:t>uso de cache local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Atenção dividida, ergonomia ruim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⇒ </a:t>
            </a:r>
            <a:r>
              <a:rPr lang="pt-BR" b="1" dirty="0">
                <a:solidFill>
                  <a:srgbClr val="FF0000"/>
                </a:solidFill>
              </a:rPr>
              <a:t>interface intuitiva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Uso de curta duração</a:t>
            </a:r>
            <a:r>
              <a:rPr lang="pt-BR" dirty="0"/>
              <a:t> ⇒ </a:t>
            </a:r>
            <a:r>
              <a:rPr lang="pt-BR" b="1" dirty="0">
                <a:solidFill>
                  <a:srgbClr val="FF0000"/>
                </a:solidFill>
              </a:rPr>
              <a:t>carregamento rápido de </a:t>
            </a:r>
            <a:r>
              <a:rPr lang="pt-BR" b="1" dirty="0" err="1">
                <a:solidFill>
                  <a:srgbClr val="FF0000"/>
                </a:solidFill>
              </a:rPr>
              <a:t>apps</a:t>
            </a:r>
            <a:endParaRPr lang="pt-BR" dirty="0">
              <a:solidFill>
                <a:srgbClr val="FF0000"/>
              </a:solidFill>
            </a:endParaRPr>
          </a:p>
          <a:p>
            <a:pPr fontAlgn="base"/>
            <a:r>
              <a:rPr lang="pt-BR" b="1" dirty="0"/>
              <a:t>Troca de </a:t>
            </a:r>
            <a:r>
              <a:rPr lang="pt-BR" b="1" dirty="0" err="1"/>
              <a:t>apps</a:t>
            </a:r>
            <a:r>
              <a:rPr lang="pt-BR" dirty="0"/>
              <a:t> ⇒ </a:t>
            </a:r>
            <a:r>
              <a:rPr lang="pt-BR" b="1" dirty="0" err="1">
                <a:solidFill>
                  <a:srgbClr val="FF0000"/>
                </a:solidFill>
              </a:rPr>
              <a:t>autosave</a:t>
            </a:r>
            <a:r>
              <a:rPr lang="pt-BR" b="1" dirty="0">
                <a:solidFill>
                  <a:srgbClr val="FF0000"/>
                </a:solidFill>
              </a:rPr>
              <a:t> (inclusive estado da UI), sincronização automática, opção de desfazer</a:t>
            </a:r>
            <a:endParaRPr lang="pt-BR" dirty="0">
              <a:solidFill>
                <a:srgbClr val="FF0000"/>
              </a:solidFill>
            </a:endParaRP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13438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5588200"/>
          </a:xfrm>
        </p:spPr>
        <p:txBody>
          <a:bodyPr anchor="ctr">
            <a:normAutofit/>
          </a:bodyPr>
          <a:lstStyle/>
          <a:p>
            <a:r>
              <a:rPr lang="pt-BR" sz="4800" dirty="0"/>
              <a:t>Distribuição e mercado de </a:t>
            </a:r>
            <a:r>
              <a:rPr lang="pt-BR" sz="4800" dirty="0" err="1"/>
              <a:t>apps</a:t>
            </a:r>
            <a:endParaRPr lang="pt-BR" sz="54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012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/>
              <a:t>Mercado de </a:t>
            </a:r>
            <a:r>
              <a:rPr lang="pt-BR" sz="4800" b="1" dirty="0" err="1"/>
              <a:t>apps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763530"/>
          </a:xfrm>
        </p:spPr>
        <p:txBody>
          <a:bodyPr anchor="t">
            <a:normAutofit fontScale="77500" lnSpcReduction="20000"/>
          </a:bodyPr>
          <a:lstStyle/>
          <a:p>
            <a:pPr fontAlgn="base"/>
            <a:r>
              <a:rPr lang="pt-BR" dirty="0"/>
              <a:t>Por padrão, </a:t>
            </a:r>
            <a:r>
              <a:rPr lang="pt-BR" dirty="0" err="1"/>
              <a:t>app</a:t>
            </a:r>
            <a:r>
              <a:rPr lang="pt-BR" dirty="0"/>
              <a:t> só pode ser instalado via </a:t>
            </a:r>
            <a:r>
              <a:rPr lang="pt-BR" b="1" dirty="0"/>
              <a:t>loja de aplicativos</a:t>
            </a:r>
            <a:endParaRPr lang="pt-BR" dirty="0"/>
          </a:p>
          <a:p>
            <a:pPr lvl="1" fontAlgn="base"/>
            <a:r>
              <a:rPr lang="pt-BR" dirty="0"/>
              <a:t>No iOS, única alternativa é fazer </a:t>
            </a:r>
            <a:r>
              <a:rPr lang="pt-BR" dirty="0" err="1"/>
              <a:t>jailbreak</a:t>
            </a:r>
            <a:r>
              <a:rPr lang="pt-BR" dirty="0"/>
              <a:t> do aparelho</a:t>
            </a:r>
          </a:p>
          <a:p>
            <a:pPr lvl="1" fontAlgn="base"/>
            <a:r>
              <a:rPr lang="pt-BR" dirty="0"/>
              <a:t>Loja analisa </a:t>
            </a:r>
            <a:r>
              <a:rPr lang="pt-BR" dirty="0" err="1"/>
              <a:t>app</a:t>
            </a:r>
            <a:r>
              <a:rPr lang="pt-BR" dirty="0"/>
              <a:t> (ou atualização de </a:t>
            </a:r>
            <a:r>
              <a:rPr lang="pt-BR" dirty="0" err="1"/>
              <a:t>app</a:t>
            </a:r>
            <a:r>
              <a:rPr lang="pt-BR" dirty="0"/>
              <a:t>) antes de publicar (</a:t>
            </a:r>
            <a:r>
              <a:rPr lang="pt-BR" b="1" dirty="0" err="1"/>
              <a:t>app</a:t>
            </a:r>
            <a:r>
              <a:rPr lang="pt-BR" b="1" dirty="0"/>
              <a:t> </a:t>
            </a:r>
            <a:r>
              <a:rPr lang="pt-BR" b="1" dirty="0" err="1"/>
              <a:t>review</a:t>
            </a:r>
            <a:r>
              <a:rPr lang="pt-BR" dirty="0"/>
              <a:t>), o que pode levar dias ou semanas</a:t>
            </a:r>
          </a:p>
          <a:p>
            <a:pPr fontAlgn="base"/>
            <a:r>
              <a:rPr lang="pt-BR" dirty="0"/>
              <a:t>Desenvolvedores pagam </a:t>
            </a:r>
            <a:r>
              <a:rPr lang="pt-BR" b="1" dirty="0"/>
              <a:t>assinatura</a:t>
            </a:r>
            <a:r>
              <a:rPr lang="pt-BR" dirty="0"/>
              <a:t> para publicar nas lojas</a:t>
            </a:r>
          </a:p>
          <a:p>
            <a:pPr lvl="1" fontAlgn="base"/>
            <a:r>
              <a:rPr lang="pt-BR" dirty="0"/>
              <a:t>US$ 100/ano (Apple </a:t>
            </a:r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</a:t>
            </a:r>
            <a:r>
              <a:rPr lang="pt-BR" dirty="0"/>
              <a:t>), US$ 25 total (Google Play)</a:t>
            </a:r>
          </a:p>
          <a:p>
            <a:pPr lvl="1" fontAlgn="base"/>
            <a:r>
              <a:rPr lang="pt-BR" dirty="0"/>
              <a:t>No iOS, Apple detém exclusividade na venda de </a:t>
            </a:r>
            <a:r>
              <a:rPr lang="pt-BR" dirty="0" err="1"/>
              <a:t>apps</a:t>
            </a:r>
            <a:r>
              <a:rPr lang="pt-BR" dirty="0"/>
              <a:t> (</a:t>
            </a:r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</a:t>
            </a:r>
            <a:r>
              <a:rPr lang="pt-BR" dirty="0"/>
              <a:t>)</a:t>
            </a:r>
          </a:p>
          <a:p>
            <a:pPr fontAlgn="base"/>
            <a:r>
              <a:rPr lang="pt-BR" b="1" dirty="0"/>
              <a:t>Monetização</a:t>
            </a:r>
            <a:r>
              <a:rPr lang="pt-BR" dirty="0"/>
              <a:t> e </a:t>
            </a:r>
            <a:r>
              <a:rPr lang="pt-BR" b="1" dirty="0"/>
              <a:t>divulgação</a:t>
            </a:r>
            <a:endParaRPr lang="pt-BR" dirty="0"/>
          </a:p>
          <a:p>
            <a:pPr lvl="1" fontAlgn="base"/>
            <a:r>
              <a:rPr lang="pt-BR" b="1" dirty="0"/>
              <a:t>Monetização</a:t>
            </a:r>
            <a:r>
              <a:rPr lang="pt-BR" dirty="0"/>
              <a:t>: publicidade, venda, </a:t>
            </a:r>
            <a:r>
              <a:rPr lang="pt-BR" dirty="0" err="1"/>
              <a:t>in-app</a:t>
            </a:r>
            <a:r>
              <a:rPr lang="pt-BR" dirty="0"/>
              <a:t> </a:t>
            </a:r>
            <a:r>
              <a:rPr lang="pt-BR" dirty="0" err="1"/>
              <a:t>purchase</a:t>
            </a:r>
            <a:r>
              <a:rPr lang="pt-BR" dirty="0"/>
              <a:t>, assinatura</a:t>
            </a:r>
            <a:endParaRPr lang="pt-BR" sz="1800" b="1" dirty="0"/>
          </a:p>
          <a:p>
            <a:pPr lvl="1" fontAlgn="base"/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</a:t>
            </a:r>
            <a:r>
              <a:rPr lang="pt-BR" dirty="0"/>
              <a:t>/Google Play: desenvolvedor escolhe preço, loja fica com </a:t>
            </a:r>
            <a:r>
              <a:rPr lang="pt-BR" b="1" dirty="0"/>
              <a:t>30%</a:t>
            </a:r>
            <a:endParaRPr lang="pt-BR" sz="1800" b="1" dirty="0"/>
          </a:p>
          <a:p>
            <a:pPr lvl="1" fontAlgn="base"/>
            <a:r>
              <a:rPr lang="pt-BR" dirty="0"/>
              <a:t>Códigos promocionais, </a:t>
            </a:r>
            <a:r>
              <a:rPr lang="pt-BR" b="1" dirty="0" err="1"/>
              <a:t>reviews</a:t>
            </a:r>
            <a:r>
              <a:rPr lang="pt-BR" dirty="0"/>
              <a:t> na loja</a:t>
            </a:r>
          </a:p>
          <a:p>
            <a:pPr lvl="1" fontAlgn="base"/>
            <a:r>
              <a:rPr lang="pt-BR" b="1" dirty="0"/>
              <a:t>Rankings</a:t>
            </a:r>
            <a:r>
              <a:rPr lang="pt-BR" dirty="0"/>
              <a:t>, sites de acompanhamento de preços, promoções</a:t>
            </a:r>
          </a:p>
        </p:txBody>
      </p:sp>
    </p:spTree>
    <p:extLst>
      <p:ext uri="{BB962C8B-B14F-4D97-AF65-F5344CB8AC3E}">
        <p14:creationId xmlns:p14="http://schemas.microsoft.com/office/powerpoint/2010/main" val="3480659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5588200"/>
          </a:xfrm>
        </p:spPr>
        <p:txBody>
          <a:bodyPr anchor="ctr">
            <a:normAutofit/>
          </a:bodyPr>
          <a:lstStyle/>
          <a:p>
            <a:r>
              <a:rPr lang="pt-BR" sz="5400" dirty="0"/>
              <a:t>Desenvolvimento de </a:t>
            </a:r>
            <a:r>
              <a:rPr lang="pt-BR" sz="5400" dirty="0" err="1"/>
              <a:t>apps</a:t>
            </a:r>
            <a:endParaRPr lang="pt-BR" sz="54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8936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4800" b="1" dirty="0" err="1"/>
              <a:t>Apps</a:t>
            </a:r>
            <a:r>
              <a:rPr lang="pt-BR" sz="4800" b="1" dirty="0"/>
              <a:t> do ponto de vista do usuário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763530"/>
          </a:xfrm>
        </p:spPr>
        <p:txBody>
          <a:bodyPr anchor="t">
            <a:normAutofit/>
          </a:bodyPr>
          <a:lstStyle/>
          <a:p>
            <a:r>
              <a:rPr lang="pt-BR" dirty="0"/>
              <a:t>Do ponto de vista do </a:t>
            </a:r>
            <a:r>
              <a:rPr lang="pt-BR" b="1" dirty="0"/>
              <a:t>usuário</a:t>
            </a:r>
            <a:r>
              <a:rPr lang="pt-BR" dirty="0"/>
              <a:t>, há duas opções:</a:t>
            </a:r>
          </a:p>
          <a:p>
            <a:pPr fontAlgn="base"/>
            <a:r>
              <a:rPr lang="pt-BR" b="1" dirty="0"/>
              <a:t>Sistema web</a:t>
            </a:r>
            <a:r>
              <a:rPr lang="pt-BR" dirty="0"/>
              <a:t>: roda no navegador. Às vezes chamado de web </a:t>
            </a:r>
            <a:r>
              <a:rPr lang="pt-BR" dirty="0" err="1"/>
              <a:t>app</a:t>
            </a:r>
            <a:r>
              <a:rPr lang="pt-BR" dirty="0"/>
              <a:t>.</a:t>
            </a:r>
          </a:p>
          <a:p>
            <a:pPr fontAlgn="base"/>
            <a:r>
              <a:rPr lang="pt-BR" b="1" dirty="0" err="1"/>
              <a:t>App</a:t>
            </a:r>
            <a:r>
              <a:rPr lang="pt-BR" b="1" dirty="0"/>
              <a:t> </a:t>
            </a:r>
            <a:r>
              <a:rPr lang="pt-BR" dirty="0"/>
              <a:t>(nativo): roda no sistema operacional</a:t>
            </a:r>
          </a:p>
          <a:p>
            <a:r>
              <a:rPr lang="pt-BR" dirty="0"/>
              <a:t>Sistemas web não são distribuídos em </a:t>
            </a:r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stores</a:t>
            </a:r>
            <a:r>
              <a:rPr lang="pt-BR" dirty="0"/>
              <a:t>, e não conseguem acessar todos os recursos do sistema.</a:t>
            </a:r>
            <a:endParaRPr 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38970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 fontScale="90000"/>
          </a:bodyPr>
          <a:lstStyle/>
          <a:p>
            <a:r>
              <a:rPr lang="pt-BR" sz="4800" b="1" dirty="0"/>
              <a:t>Desenvolvimento de </a:t>
            </a:r>
            <a:r>
              <a:rPr lang="pt-BR" sz="4800" b="1" dirty="0" err="1"/>
              <a:t>apps</a:t>
            </a:r>
            <a:r>
              <a:rPr lang="pt-BR" sz="4800" b="1" dirty="0"/>
              <a:t> (ponto de vista do desenvolvedor)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763530"/>
          </a:xfrm>
        </p:spPr>
        <p:txBody>
          <a:bodyPr anchor="t">
            <a:normAutofit/>
          </a:bodyPr>
          <a:lstStyle/>
          <a:p>
            <a:r>
              <a:rPr lang="pt-BR" dirty="0"/>
              <a:t>Do ponto de vista do </a:t>
            </a:r>
            <a:r>
              <a:rPr lang="pt-BR" b="1" dirty="0"/>
              <a:t>desenvolvedor</a:t>
            </a:r>
            <a:r>
              <a:rPr lang="pt-BR" dirty="0"/>
              <a:t>, um </a:t>
            </a:r>
            <a:r>
              <a:rPr lang="pt-BR" dirty="0" err="1"/>
              <a:t>app</a:t>
            </a:r>
            <a:r>
              <a:rPr lang="pt-BR" dirty="0"/>
              <a:t> pode ser criado de diversas formas:</a:t>
            </a:r>
          </a:p>
          <a:p>
            <a:pPr fontAlgn="base"/>
            <a:r>
              <a:rPr lang="pt-BR" dirty="0"/>
              <a:t>Desenvolvimento </a:t>
            </a:r>
            <a:r>
              <a:rPr lang="pt-BR" b="1" dirty="0"/>
              <a:t>web</a:t>
            </a:r>
            <a:endParaRPr lang="pt-BR" dirty="0"/>
          </a:p>
          <a:p>
            <a:pPr fontAlgn="base"/>
            <a:r>
              <a:rPr lang="pt-BR" dirty="0"/>
              <a:t>Desenvolvimento </a:t>
            </a:r>
            <a:r>
              <a:rPr lang="pt-BR" b="1" dirty="0"/>
              <a:t>nativo</a:t>
            </a:r>
            <a:endParaRPr lang="pt-BR" dirty="0"/>
          </a:p>
          <a:p>
            <a:pPr fontAlgn="base"/>
            <a:r>
              <a:rPr lang="pt-BR" dirty="0"/>
              <a:t>Desenvolvimento </a:t>
            </a:r>
            <a:r>
              <a:rPr lang="pt-BR" b="1" dirty="0"/>
              <a:t>híbrido</a:t>
            </a:r>
            <a:endParaRPr lang="pt-BR" dirty="0"/>
          </a:p>
          <a:p>
            <a:pPr fontAlgn="base"/>
            <a:r>
              <a:rPr lang="pt-BR" dirty="0"/>
              <a:t>Desenvolvimento </a:t>
            </a:r>
            <a:r>
              <a:rPr lang="pt-BR" b="1" dirty="0"/>
              <a:t>nativo </a:t>
            </a:r>
            <a:r>
              <a:rPr lang="pt-BR" b="1" dirty="0" err="1"/>
              <a:t>multiplataforma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7566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Web </a:t>
            </a:r>
            <a:r>
              <a:rPr lang="pt-BR" b="1" dirty="0" err="1"/>
              <a:t>app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70000" lnSpcReduction="20000"/>
          </a:bodyPr>
          <a:lstStyle/>
          <a:p>
            <a:pPr fontAlgn="base"/>
            <a:r>
              <a:rPr lang="pt-BR" dirty="0"/>
              <a:t>Usa HTML, CSS, JS, e roda no navegador</a:t>
            </a:r>
          </a:p>
          <a:p>
            <a:pPr fontAlgn="base"/>
            <a:r>
              <a:rPr lang="pt-BR" dirty="0"/>
              <a:t>Originalmente era muito limitado (não acessava câmera, não funciona </a:t>
            </a:r>
            <a:r>
              <a:rPr lang="pt-BR" dirty="0" err="1"/>
              <a:t>offline</a:t>
            </a:r>
            <a:r>
              <a:rPr lang="pt-BR" dirty="0"/>
              <a:t>…)</a:t>
            </a:r>
          </a:p>
          <a:p>
            <a:pPr fontAlgn="base"/>
            <a:r>
              <a:rPr lang="pt-BR" b="1" dirty="0" err="1"/>
              <a:t>Progressive</a:t>
            </a:r>
            <a:r>
              <a:rPr lang="pt-BR" b="1" dirty="0"/>
              <a:t> web </a:t>
            </a:r>
            <a:r>
              <a:rPr lang="pt-BR" b="1" dirty="0" err="1"/>
              <a:t>apps</a:t>
            </a:r>
            <a:r>
              <a:rPr lang="pt-BR" dirty="0"/>
              <a:t> são web </a:t>
            </a:r>
            <a:r>
              <a:rPr lang="pt-BR" dirty="0" err="1"/>
              <a:t>apps</a:t>
            </a:r>
            <a:r>
              <a:rPr lang="pt-BR" dirty="0"/>
              <a:t> que se aproveitam de diversos </a:t>
            </a:r>
            <a:r>
              <a:rPr lang="pt-BR" b="1" dirty="0"/>
              <a:t>recursos</a:t>
            </a:r>
            <a:r>
              <a:rPr lang="pt-BR" dirty="0"/>
              <a:t> mais recentes implementados por navegadores web:</a:t>
            </a:r>
          </a:p>
          <a:p>
            <a:pPr fontAlgn="base"/>
            <a:r>
              <a:rPr lang="pt-BR" b="1" dirty="0" err="1"/>
              <a:t>manifest</a:t>
            </a:r>
            <a:r>
              <a:rPr lang="pt-BR" dirty="0"/>
              <a:t> (permite especificar nome e ícone do </a:t>
            </a:r>
            <a:r>
              <a:rPr lang="pt-BR" dirty="0" err="1"/>
              <a:t>app</a:t>
            </a:r>
            <a:r>
              <a:rPr lang="pt-BR" dirty="0"/>
              <a:t>, além de outras configurações)</a:t>
            </a:r>
          </a:p>
          <a:p>
            <a:pPr fontAlgn="base"/>
            <a:r>
              <a:rPr lang="pt-BR" b="1" dirty="0"/>
              <a:t>armazenamento de dados local</a:t>
            </a:r>
          </a:p>
          <a:p>
            <a:pPr fontAlgn="base"/>
            <a:r>
              <a:rPr lang="pt-BR" b="1" dirty="0" err="1"/>
              <a:t>WebAssembly</a:t>
            </a:r>
            <a:r>
              <a:rPr lang="pt-BR" dirty="0"/>
              <a:t> (linguagem de baixo nível, visando desempenho)</a:t>
            </a:r>
          </a:p>
          <a:p>
            <a:pPr fontAlgn="base"/>
            <a:r>
              <a:rPr lang="pt-BR" b="1" dirty="0"/>
              <a:t>notificações </a:t>
            </a:r>
            <a:r>
              <a:rPr lang="pt-BR" b="1" dirty="0" err="1"/>
              <a:t>push</a:t>
            </a:r>
            <a:endParaRPr lang="pt-BR" b="1" dirty="0"/>
          </a:p>
          <a:p>
            <a:pPr fontAlgn="base"/>
            <a:r>
              <a:rPr lang="pt-BR" b="1" dirty="0"/>
              <a:t>execução de scripts em background</a:t>
            </a:r>
          </a:p>
          <a:p>
            <a:pPr fontAlgn="base"/>
            <a:r>
              <a:rPr lang="pt-BR" b="1" dirty="0"/>
              <a:t>uso </a:t>
            </a:r>
            <a:r>
              <a:rPr lang="pt-BR" b="1" dirty="0" err="1"/>
              <a:t>offline</a:t>
            </a:r>
            <a:endParaRPr lang="pt-BR" b="1" dirty="0"/>
          </a:p>
        </p:txBody>
      </p:sp>
      <p:pic>
        <p:nvPicPr>
          <p:cNvPr id="15364" name="Picture 4" descr="https://lh7-us.googleusercontent.com/slidesz/AGV_vUd3r_DFS8O6Qh5cVkvIFsmQUb1z_iMx8zvjbKsMcRq67ETL5al-9JPHMG33Mr2J7E3JoqgFL7aCYcOuYugLSfWgXfCDYu8BkdvnqG0ypXq0ilA4JEBDLigYwK4J8OI2UrQ9ou05vMClGTqU_cUykiGNkVi0yFQI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67" y="292913"/>
            <a:ext cx="3370553" cy="186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738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 err="1"/>
              <a:t>App</a:t>
            </a:r>
            <a:r>
              <a:rPr lang="pt-BR" b="1" dirty="0"/>
              <a:t> nativo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92500" lnSpcReduction="20000"/>
          </a:bodyPr>
          <a:lstStyle/>
          <a:p>
            <a:r>
              <a:rPr lang="pt-BR" dirty="0"/>
              <a:t>Usa SDK (kit de desenvolvimento) oficial da plataforma para criar um </a:t>
            </a:r>
            <a:r>
              <a:rPr lang="pt-BR" dirty="0" err="1"/>
              <a:t>app</a:t>
            </a:r>
            <a:endParaRPr lang="pt-BR" dirty="0"/>
          </a:p>
          <a:p>
            <a:pPr fontAlgn="base"/>
            <a:r>
              <a:rPr lang="pt-BR" b="1" dirty="0"/>
              <a:t>iOS</a:t>
            </a:r>
            <a:r>
              <a:rPr lang="pt-BR" dirty="0"/>
              <a:t>: linguagem </a:t>
            </a:r>
            <a:r>
              <a:rPr lang="pt-BR" dirty="0" err="1"/>
              <a:t>Objective</a:t>
            </a:r>
            <a:r>
              <a:rPr lang="pt-BR" dirty="0"/>
              <a:t> C ou Swift, com framework iOS SDK, usando </a:t>
            </a:r>
            <a:r>
              <a:rPr lang="pt-BR" dirty="0" err="1"/>
              <a:t>Cocoa</a:t>
            </a:r>
            <a:r>
              <a:rPr lang="pt-BR" dirty="0"/>
              <a:t> </a:t>
            </a:r>
            <a:r>
              <a:rPr lang="pt-BR" dirty="0" err="1"/>
              <a:t>Touch</a:t>
            </a:r>
            <a:r>
              <a:rPr lang="pt-BR" dirty="0"/>
              <a:t> ou </a:t>
            </a:r>
            <a:r>
              <a:rPr lang="pt-BR" dirty="0" err="1"/>
              <a:t>SwiftUI</a:t>
            </a:r>
            <a:r>
              <a:rPr lang="pt-BR" dirty="0"/>
              <a:t>.</a:t>
            </a:r>
          </a:p>
          <a:p>
            <a:pPr fontAlgn="base"/>
            <a:r>
              <a:rPr lang="pt-BR" b="1" dirty="0" err="1"/>
              <a:t>Android</a:t>
            </a:r>
            <a:r>
              <a:rPr lang="pt-BR" dirty="0"/>
              <a:t>: Java ou </a:t>
            </a:r>
            <a:r>
              <a:rPr lang="pt-BR" dirty="0" err="1"/>
              <a:t>Kotlin</a:t>
            </a:r>
            <a:r>
              <a:rPr lang="pt-BR" dirty="0"/>
              <a:t>, </a:t>
            </a:r>
            <a:r>
              <a:rPr lang="pt-BR" dirty="0" err="1"/>
              <a:t>Android</a:t>
            </a:r>
            <a:r>
              <a:rPr lang="pt-BR" dirty="0"/>
              <a:t> SDK (UI tradicional ou com </a:t>
            </a:r>
            <a:r>
              <a:rPr lang="pt-BR" dirty="0" err="1"/>
              <a:t>Jetpack</a:t>
            </a:r>
            <a:r>
              <a:rPr lang="pt-BR" dirty="0"/>
              <a:t> </a:t>
            </a:r>
            <a:r>
              <a:rPr lang="pt-BR" dirty="0" err="1"/>
              <a:t>Compose</a:t>
            </a:r>
            <a:r>
              <a:rPr lang="pt-BR" dirty="0"/>
              <a:t>)</a:t>
            </a:r>
          </a:p>
          <a:p>
            <a:r>
              <a:rPr lang="pt-BR" dirty="0"/>
              <a:t>Características:</a:t>
            </a:r>
          </a:p>
          <a:p>
            <a:pPr fontAlgn="base"/>
            <a:r>
              <a:rPr lang="pt-BR" dirty="0"/>
              <a:t>SDK é atualizado simultaneamente com lançamento de nova versão do SO</a:t>
            </a:r>
          </a:p>
          <a:p>
            <a:pPr fontAlgn="base"/>
            <a:r>
              <a:rPr lang="pt-BR" dirty="0"/>
              <a:t>Possui alto desempenho</a:t>
            </a:r>
          </a:p>
        </p:txBody>
      </p:sp>
      <p:pic>
        <p:nvPicPr>
          <p:cNvPr id="16388" name="Picture 4" descr="https://lh7-us.googleusercontent.com/slidesz/AGV_vUdyiurXeL5C7nbKg083S0TZIuDifheR6ALIcsNpWfPSV0C1q5BTIjYTRWnXYsSacC-2y7MIJFufv_XgbCAH-729UoPSO7bmJB4v4ovJ55JMhzaRrbDVlJ9m_ww1AqQPpZpaC9j32V7fVTePdcYBsl-kvm05_j7T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141" y="318165"/>
            <a:ext cx="3222629" cy="149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501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 err="1"/>
              <a:t>App</a:t>
            </a:r>
            <a:r>
              <a:rPr lang="pt-BR" b="1" dirty="0"/>
              <a:t> híbrido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85000" lnSpcReduction="20000"/>
          </a:bodyPr>
          <a:lstStyle/>
          <a:p>
            <a:r>
              <a:rPr lang="pt-BR" dirty="0"/>
              <a:t>É desenvolvido como web </a:t>
            </a:r>
            <a:r>
              <a:rPr lang="pt-BR" dirty="0" err="1"/>
              <a:t>app</a:t>
            </a:r>
            <a:r>
              <a:rPr lang="pt-BR" dirty="0"/>
              <a:t>, que é então incorporado a um </a:t>
            </a:r>
            <a:r>
              <a:rPr lang="pt-BR" dirty="0" err="1"/>
              <a:t>app</a:t>
            </a:r>
            <a:r>
              <a:rPr lang="pt-BR" dirty="0"/>
              <a:t> nativo (</a:t>
            </a:r>
            <a:r>
              <a:rPr lang="pt-BR" b="1" dirty="0" err="1"/>
              <a:t>wrapper</a:t>
            </a:r>
            <a:r>
              <a:rPr lang="pt-BR" dirty="0"/>
              <a:t>) com um componente </a:t>
            </a:r>
            <a:r>
              <a:rPr lang="pt-BR" b="1" dirty="0" err="1"/>
              <a:t>WebView</a:t>
            </a:r>
            <a:r>
              <a:rPr lang="pt-BR" dirty="0"/>
              <a:t>. Isso é facilitado por tecnologias como </a:t>
            </a:r>
            <a:r>
              <a:rPr lang="pt-BR" dirty="0" err="1"/>
              <a:t>Cordova</a:t>
            </a:r>
            <a:r>
              <a:rPr lang="pt-BR" dirty="0"/>
              <a:t>. Esse </a:t>
            </a:r>
            <a:r>
              <a:rPr lang="pt-BR" dirty="0" err="1"/>
              <a:t>wrapper</a:t>
            </a:r>
            <a:r>
              <a:rPr lang="pt-BR" dirty="0"/>
              <a:t> pode receber chamadas JS e </a:t>
            </a:r>
            <a:r>
              <a:rPr lang="pt-BR" b="1" dirty="0"/>
              <a:t>chamar código nativo</a:t>
            </a:r>
            <a:r>
              <a:rPr lang="pt-BR" dirty="0"/>
              <a:t>, possibilitando que o </a:t>
            </a:r>
            <a:r>
              <a:rPr lang="pt-BR" dirty="0" err="1"/>
              <a:t>app</a:t>
            </a:r>
            <a:r>
              <a:rPr lang="pt-BR" dirty="0"/>
              <a:t> acesse qualquer recurso do sistema operacional.</a:t>
            </a:r>
          </a:p>
          <a:p>
            <a:pPr fontAlgn="base"/>
            <a:r>
              <a:rPr lang="pt-BR" b="1" dirty="0" err="1"/>
              <a:t>Ionic</a:t>
            </a:r>
            <a:r>
              <a:rPr lang="pt-BR" dirty="0"/>
              <a:t> é um exemplo de tecnologia para criar </a:t>
            </a:r>
            <a:r>
              <a:rPr lang="pt-BR" dirty="0" err="1"/>
              <a:t>apps</a:t>
            </a:r>
            <a:r>
              <a:rPr lang="pt-BR" dirty="0"/>
              <a:t> híbridos</a:t>
            </a:r>
          </a:p>
          <a:p>
            <a:r>
              <a:rPr lang="pt-BR" dirty="0"/>
              <a:t>Em ambos os casos, o </a:t>
            </a:r>
            <a:r>
              <a:rPr lang="pt-BR" dirty="0" err="1"/>
              <a:t>app</a:t>
            </a:r>
            <a:r>
              <a:rPr lang="pt-BR" dirty="0"/>
              <a:t> é </a:t>
            </a:r>
            <a:r>
              <a:rPr lang="pt-BR" b="1" dirty="0" err="1"/>
              <a:t>renderizado</a:t>
            </a:r>
            <a:r>
              <a:rPr lang="pt-BR" dirty="0"/>
              <a:t> (desenhado) e </a:t>
            </a:r>
            <a:r>
              <a:rPr lang="pt-BR" b="1" dirty="0"/>
              <a:t>executado</a:t>
            </a:r>
            <a:r>
              <a:rPr lang="pt-BR" dirty="0"/>
              <a:t> pelo navegador web. Por isso, não usa </a:t>
            </a:r>
            <a:r>
              <a:rPr lang="pt-BR" b="1" dirty="0"/>
              <a:t>componentes de UI</a:t>
            </a:r>
            <a:r>
              <a:rPr lang="pt-BR" dirty="0"/>
              <a:t> nativos e tem desempenho mais baixo.</a:t>
            </a:r>
            <a:endParaRPr lang="pt-BR" dirty="0">
              <a:effectLst/>
            </a:endParaRPr>
          </a:p>
        </p:txBody>
      </p:sp>
      <p:pic>
        <p:nvPicPr>
          <p:cNvPr id="17413" name="Picture 5" descr="https://lh7-us.googleusercontent.com/slidesz/AGV_vUc1O0iwoFQjpeWFptidz_0M6H438dL__TMYkgJ5kIl3j2IGEEVUViSw6SGVmfb1i1YoZh5djLViaGEzbpMclBPhkbYSKnGGu9covAhnQze_Qr6CrvnRb3-VStpl58-6c5WLJ4b6bpvdoomwJd4gWv1kaop2PtVn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869" y="852742"/>
            <a:ext cx="2266624" cy="101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5" name="Picture 7" descr="https://lh7-us.googleusercontent.com/slidesz/AGV_vUcHcvTRYleJWwLW3oAoBi9SIFPYY7DP7JliU8P7iXEdX9A-eZKDelv_lmM9_29S8iKlHBJBc0DVtIHxDBp6CTxI-UDhcJskPFSLqtErIL49HXQOcu6VO-3WFE5j0pYKX1ncVupTLvqiX7fVNyeavjLxpmu5IOy7=s2048?key=t4wmbaw_I3l6zf-6g1zSl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143" y="1008642"/>
            <a:ext cx="2074327" cy="70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9053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Nativo </a:t>
            </a:r>
            <a:r>
              <a:rPr lang="pt-BR" b="1" dirty="0" err="1"/>
              <a:t>multiplataforma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77500" lnSpcReduction="20000"/>
          </a:bodyPr>
          <a:lstStyle/>
          <a:p>
            <a:r>
              <a:rPr lang="pt-BR" dirty="0"/>
              <a:t>Usa ferramentas que, a partir de uma única base de código, geram </a:t>
            </a:r>
            <a:r>
              <a:rPr lang="pt-BR" dirty="0" err="1"/>
              <a:t>apps</a:t>
            </a:r>
            <a:r>
              <a:rPr lang="pt-BR" dirty="0"/>
              <a:t> para ambas as plataformas, que são </a:t>
            </a:r>
            <a:r>
              <a:rPr lang="pt-BR" dirty="0" err="1"/>
              <a:t>renderizados</a:t>
            </a:r>
            <a:r>
              <a:rPr lang="pt-BR" dirty="0"/>
              <a:t> e executados </a:t>
            </a:r>
            <a:r>
              <a:rPr lang="pt-BR" b="1" dirty="0"/>
              <a:t>fora</a:t>
            </a:r>
            <a:r>
              <a:rPr lang="pt-BR" dirty="0"/>
              <a:t> de um navegador web. Exemplos:</a:t>
            </a:r>
          </a:p>
          <a:p>
            <a:pPr fontAlgn="base"/>
            <a:r>
              <a:rPr lang="pt-BR" b="1" dirty="0" err="1"/>
              <a:t>React</a:t>
            </a:r>
            <a:r>
              <a:rPr lang="pt-BR" b="1" dirty="0"/>
              <a:t> </a:t>
            </a:r>
            <a:r>
              <a:rPr lang="pt-BR" b="1" dirty="0" err="1"/>
              <a:t>Native</a:t>
            </a:r>
            <a:r>
              <a:rPr lang="pt-BR" dirty="0"/>
              <a:t>: desenvolvedor escreve código </a:t>
            </a:r>
            <a:r>
              <a:rPr lang="pt-BR" dirty="0" err="1"/>
              <a:t>JavaScript</a:t>
            </a:r>
            <a:r>
              <a:rPr lang="pt-BR" dirty="0"/>
              <a:t>; ferramenta gera </a:t>
            </a:r>
            <a:r>
              <a:rPr lang="pt-BR" dirty="0" err="1"/>
              <a:t>app</a:t>
            </a:r>
            <a:r>
              <a:rPr lang="pt-BR" dirty="0"/>
              <a:t> nativo que interpreta esse código, traduzindo-o em chamadas nativas (compilação </a:t>
            </a:r>
            <a:r>
              <a:rPr lang="pt-BR" dirty="0" err="1"/>
              <a:t>just</a:t>
            </a:r>
            <a:r>
              <a:rPr lang="pt-BR" dirty="0"/>
              <a:t>-</a:t>
            </a:r>
            <a:r>
              <a:rPr lang="pt-BR" dirty="0" err="1"/>
              <a:t>in-time</a:t>
            </a:r>
            <a:r>
              <a:rPr lang="pt-BR" dirty="0"/>
              <a:t>, </a:t>
            </a:r>
            <a:r>
              <a:rPr lang="pt-BR" b="1" dirty="0"/>
              <a:t>JIT</a:t>
            </a:r>
            <a:r>
              <a:rPr lang="pt-BR" dirty="0"/>
              <a:t>). Usa </a:t>
            </a:r>
            <a:r>
              <a:rPr lang="pt-BR" dirty="0" err="1"/>
              <a:t>widgets</a:t>
            </a:r>
            <a:r>
              <a:rPr lang="pt-BR" dirty="0"/>
              <a:t> nativos.</a:t>
            </a:r>
          </a:p>
          <a:p>
            <a:pPr fontAlgn="base"/>
            <a:r>
              <a:rPr lang="pt-BR" b="1" dirty="0" err="1"/>
              <a:t>Flutter</a:t>
            </a:r>
            <a:r>
              <a:rPr lang="pt-BR" dirty="0"/>
              <a:t>: desenvolvedor escreve código </a:t>
            </a:r>
            <a:r>
              <a:rPr lang="pt-BR" dirty="0" err="1"/>
              <a:t>Dart</a:t>
            </a:r>
            <a:r>
              <a:rPr lang="pt-BR" dirty="0"/>
              <a:t>; ferramenta traduz para código nativo e compila (compilação </a:t>
            </a:r>
            <a:r>
              <a:rPr lang="pt-BR" dirty="0" err="1"/>
              <a:t>ahead</a:t>
            </a:r>
            <a:r>
              <a:rPr lang="pt-BR" dirty="0"/>
              <a:t>-</a:t>
            </a:r>
            <a:r>
              <a:rPr lang="pt-BR" dirty="0" err="1"/>
              <a:t>of</a:t>
            </a:r>
            <a:r>
              <a:rPr lang="pt-BR" dirty="0"/>
              <a:t>-time, </a:t>
            </a:r>
            <a:r>
              <a:rPr lang="pt-BR" b="1" dirty="0"/>
              <a:t>AOT</a:t>
            </a:r>
            <a:r>
              <a:rPr lang="pt-BR" dirty="0"/>
              <a:t>). Possui motor de </a:t>
            </a:r>
            <a:r>
              <a:rPr lang="pt-BR" dirty="0" err="1"/>
              <a:t>renderização</a:t>
            </a:r>
            <a:r>
              <a:rPr lang="pt-BR" dirty="0"/>
              <a:t> próprio, usa </a:t>
            </a:r>
            <a:r>
              <a:rPr lang="pt-BR" dirty="0" err="1"/>
              <a:t>widgets</a:t>
            </a:r>
            <a:r>
              <a:rPr lang="pt-BR" dirty="0"/>
              <a:t> próprios.</a:t>
            </a:r>
          </a:p>
          <a:p>
            <a:r>
              <a:rPr lang="pt-BR" b="1" dirty="0"/>
              <a:t>Características</a:t>
            </a:r>
            <a:r>
              <a:rPr lang="pt-BR" dirty="0"/>
              <a:t>: alto desempenho (sobretudo AOT) e pode-se usar </a:t>
            </a:r>
            <a:r>
              <a:rPr lang="pt-BR" dirty="0" err="1"/>
              <a:t>widgets</a:t>
            </a:r>
            <a:r>
              <a:rPr lang="pt-BR" dirty="0"/>
              <a:t> nativos.</a:t>
            </a:r>
            <a:endParaRPr lang="pt-BR" dirty="0">
              <a:effectLst/>
            </a:endParaRPr>
          </a:p>
        </p:txBody>
      </p:sp>
      <p:pic>
        <p:nvPicPr>
          <p:cNvPr id="18434" name="Picture 2" descr="https://lh7-us.googleusercontent.com/slidesz/AGV_vUdtsbqQaYZa6ghzlDea6FFzQ0VghNlfw6fXzI2_J5bNgmdiOGof9KifYhdSklVd_Ev8EXnzRdTrqiHHOUXS3irRLnvGd41iZ1HiXjf2b_eOB7MOX3Fr94KG8Ro8FUel4ftQWxzmvK1dxS_1ajRhhN8IsSG7JqP_=s2048?key=t4wmbaw_I3l6zf-6g1zSl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413" y="143541"/>
            <a:ext cx="2100070" cy="1379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s://lh7-us.googleusercontent.com/slidesz/AGV_vUeK4TrCY-6cCIRAmsbYShsmjvfHriv5hUkAIxwT3cYuqPIqhKjsnNgL7oaAGPgZwFBbvn_8nZht3epC1S8sMZyVL20uPROjfPFTxyrJdUmYEHiuZ4TzsWY6aGL9L1DhVRjc864tapSxx2i_z3nUH1itEnXdylm5=s2048?key=t4wmbaw_I3l6zf-6g1zSl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963" y="270277"/>
            <a:ext cx="3061134" cy="153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090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Comparação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/>
          </a:bodyPr>
          <a:lstStyle/>
          <a:p>
            <a:r>
              <a:rPr lang="en-US" sz="1200" dirty="0"/>
              <a:t>NAWROCKI, Piotr et al. A comparison of native and cross-platform frameworks for mobile applications. </a:t>
            </a:r>
            <a:r>
              <a:rPr lang="en-US" sz="1200" b="1" dirty="0"/>
              <a:t>Computer</a:t>
            </a:r>
            <a:r>
              <a:rPr lang="en-US" sz="1200" dirty="0"/>
              <a:t>, v. 54, n. 3, p. 18-27, 2021.</a:t>
            </a:r>
          </a:p>
          <a:p>
            <a:r>
              <a:rPr lang="pt-BR" sz="1200" dirty="0"/>
              <a:t>.</a:t>
            </a:r>
            <a:endParaRPr lang="pt-BR" sz="1200" dirty="0">
              <a:effectLst/>
            </a:endParaRPr>
          </a:p>
        </p:txBody>
      </p:sp>
      <p:pic>
        <p:nvPicPr>
          <p:cNvPr id="19460" name="Picture 4" descr="https://lh7-us.googleusercontent.com/slidesz/AGV_vUdwRlbma3k6XwzZjSJl4njqtZqkqaVOeo8gwkYJwB-HTSpwgN0OOTIr09G2a2tejdMzKSRQtn-ueoZmMFc0OgS16ZheTAaU_GzhhpGGdfqPokQddvc-NVwU7yvhL7a1-mh2S6lg7ouxXTgr1OCivB7z55SJbbI=s2048?key=t4wmbaw_I3l6zf-6g1zSl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31" y="2822579"/>
            <a:ext cx="7056033" cy="387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743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5362731"/>
          </a:xfrm>
        </p:spPr>
        <p:txBody>
          <a:bodyPr anchor="ctr">
            <a:normAutofit/>
          </a:bodyPr>
          <a:lstStyle/>
          <a:p>
            <a:r>
              <a:rPr lang="pt-BR" dirty="0"/>
              <a:t>Outras considerações sobre o desenvolvimento de </a:t>
            </a:r>
            <a:r>
              <a:rPr lang="pt-BR" dirty="0" err="1"/>
              <a:t>apps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/>
          </a:bodyPr>
          <a:lstStyle/>
          <a:p>
            <a:endParaRPr 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0907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Desenvolver sistema web ou </a:t>
            </a:r>
            <a:r>
              <a:rPr lang="pt-BR" b="1" dirty="0" err="1"/>
              <a:t>app</a:t>
            </a:r>
            <a:r>
              <a:rPr lang="pt-BR" b="1" dirty="0"/>
              <a:t>?</a:t>
            </a:r>
            <a:endParaRPr lang="pt-BR" sz="4800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77500" lnSpcReduction="20000"/>
          </a:bodyPr>
          <a:lstStyle/>
          <a:p>
            <a:pPr fontAlgn="base"/>
            <a:r>
              <a:rPr lang="pt-BR" dirty="0"/>
              <a:t>Muitos sistemas de informação não requerem alto desempenho ou uso de recursos específicos de dispositivos móveis</a:t>
            </a:r>
          </a:p>
          <a:p>
            <a:pPr fontAlgn="base"/>
            <a:r>
              <a:rPr lang="pt-BR" dirty="0"/>
              <a:t>Assim, se </a:t>
            </a:r>
            <a:r>
              <a:rPr lang="pt-BR" b="1" dirty="0"/>
              <a:t>justifica</a:t>
            </a:r>
            <a:r>
              <a:rPr lang="pt-BR" dirty="0"/>
              <a:t> desenvolver um </a:t>
            </a:r>
            <a:r>
              <a:rPr lang="pt-BR" dirty="0" err="1"/>
              <a:t>app</a:t>
            </a:r>
            <a:r>
              <a:rPr lang="pt-BR" dirty="0"/>
              <a:t>?</a:t>
            </a:r>
          </a:p>
          <a:p>
            <a:pPr lvl="1" fontAlgn="base"/>
            <a:r>
              <a:rPr lang="pt-BR" b="1" dirty="0" err="1"/>
              <a:t>app</a:t>
            </a:r>
            <a:r>
              <a:rPr lang="pt-BR" dirty="0"/>
              <a:t>: pode ser descoberto através das </a:t>
            </a:r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stores</a:t>
            </a:r>
            <a:r>
              <a:rPr lang="pt-BR" dirty="0"/>
              <a:t>; maior custo de desenvolvimento</a:t>
            </a:r>
          </a:p>
          <a:p>
            <a:pPr lvl="1" fontAlgn="base"/>
            <a:r>
              <a:rPr lang="pt-BR" b="1" dirty="0"/>
              <a:t>web</a:t>
            </a:r>
            <a:r>
              <a:rPr lang="pt-BR" dirty="0"/>
              <a:t>: pode experimentar sem instalar nada; pode usar em qualquer plataforma (até desktop)</a:t>
            </a:r>
          </a:p>
          <a:p>
            <a:pPr fontAlgn="base"/>
            <a:r>
              <a:rPr lang="pt-BR" u="sng" dirty="0">
                <a:hlinkClick r:id="rId2"/>
              </a:rPr>
              <a:t>Abordagem</a:t>
            </a:r>
            <a:r>
              <a:rPr lang="pt-BR" dirty="0"/>
              <a:t> </a:t>
            </a:r>
            <a:r>
              <a:rPr lang="pt-BR" u="sng" dirty="0">
                <a:hlinkClick r:id="rId3"/>
              </a:rPr>
              <a:t>do</a:t>
            </a:r>
            <a:r>
              <a:rPr lang="pt-BR" dirty="0"/>
              <a:t> gov.uk para escolher tecnologia:</a:t>
            </a:r>
          </a:p>
          <a:p>
            <a:pPr lvl="1" fontAlgn="base"/>
            <a:r>
              <a:rPr lang="pt-BR" dirty="0"/>
              <a:t>por padrão, cria um web </a:t>
            </a:r>
            <a:r>
              <a:rPr lang="pt-BR" dirty="0" err="1"/>
              <a:t>app</a:t>
            </a:r>
            <a:r>
              <a:rPr lang="pt-BR" dirty="0"/>
              <a:t> responsivo</a:t>
            </a:r>
          </a:p>
          <a:p>
            <a:pPr lvl="1" fontAlgn="base"/>
            <a:r>
              <a:rPr lang="pt-BR" dirty="0"/>
              <a:t>adiciona recursos de PWA se necessário</a:t>
            </a:r>
          </a:p>
          <a:p>
            <a:pPr lvl="1" fontAlgn="base"/>
            <a:r>
              <a:rPr lang="pt-BR" dirty="0"/>
              <a:t>só desenvolve </a:t>
            </a:r>
            <a:r>
              <a:rPr lang="pt-BR" dirty="0" err="1"/>
              <a:t>app</a:t>
            </a:r>
            <a:r>
              <a:rPr lang="pt-BR" dirty="0"/>
              <a:t> nativo em último caso, se bem justificado</a:t>
            </a:r>
          </a:p>
          <a:p>
            <a:pPr fontAlgn="base"/>
            <a:r>
              <a:rPr lang="pt-BR" b="1" dirty="0"/>
              <a:t>Extra</a:t>
            </a:r>
            <a:r>
              <a:rPr lang="pt-BR" dirty="0"/>
              <a:t>: disponibilize </a:t>
            </a:r>
            <a:r>
              <a:rPr lang="pt-BR" b="1" dirty="0"/>
              <a:t>dados abertos</a:t>
            </a:r>
            <a:r>
              <a:rPr lang="pt-BR" dirty="0"/>
              <a:t>; crie uma </a:t>
            </a:r>
            <a:r>
              <a:rPr lang="pt-BR" b="1" dirty="0"/>
              <a:t>API</a:t>
            </a:r>
            <a:r>
              <a:rPr lang="pt-BR" dirty="0"/>
              <a:t> para permitir a construção de soluções pela comunidade</a:t>
            </a:r>
          </a:p>
        </p:txBody>
      </p:sp>
    </p:spTree>
    <p:extLst>
      <p:ext uri="{BB962C8B-B14F-4D97-AF65-F5344CB8AC3E}">
        <p14:creationId xmlns:p14="http://schemas.microsoft.com/office/powerpoint/2010/main" val="2560279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Desafios no desenvolvimento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92500" lnSpcReduction="10000"/>
          </a:bodyPr>
          <a:lstStyle/>
          <a:p>
            <a:r>
              <a:rPr lang="pt-BR" u="sng" dirty="0">
                <a:hlinkClick r:id="rId2"/>
              </a:rPr>
              <a:t>https://blog.pragmaticengineer.com/10-engineering-challenges-due-to-the-nature-of-mobile-applications/</a:t>
            </a:r>
            <a:endParaRPr lang="pt-BR" dirty="0"/>
          </a:p>
          <a:p>
            <a:pPr fontAlgn="base"/>
            <a:r>
              <a:rPr lang="pt-BR" b="1" dirty="0" err="1"/>
              <a:t>State</a:t>
            </a:r>
            <a:r>
              <a:rPr lang="pt-BR" b="1" dirty="0"/>
              <a:t> Management</a:t>
            </a:r>
            <a:r>
              <a:rPr lang="pt-BR" dirty="0"/>
              <a:t> - eventos do sistema imprevisíveis</a:t>
            </a:r>
          </a:p>
          <a:p>
            <a:pPr fontAlgn="base"/>
            <a:r>
              <a:rPr lang="pt-BR" b="1" dirty="0" err="1"/>
              <a:t>Mistakes</a:t>
            </a:r>
            <a:r>
              <a:rPr lang="pt-BR" b="1" dirty="0"/>
              <a:t> Are Hard </a:t>
            </a:r>
            <a:r>
              <a:rPr lang="pt-BR" b="1" dirty="0" err="1"/>
              <a:t>to</a:t>
            </a:r>
            <a:r>
              <a:rPr lang="pt-BR" b="1" dirty="0"/>
              <a:t> </a:t>
            </a:r>
            <a:r>
              <a:rPr lang="pt-BR" b="1" dirty="0" err="1"/>
              <a:t>Revert</a:t>
            </a:r>
            <a:r>
              <a:rPr lang="pt-BR" dirty="0"/>
              <a:t> - submissão na </a:t>
            </a:r>
            <a:r>
              <a:rPr lang="pt-BR" dirty="0" err="1"/>
              <a:t>app</a:t>
            </a:r>
            <a:r>
              <a:rPr lang="pt-BR" dirty="0"/>
              <a:t> </a:t>
            </a:r>
            <a:r>
              <a:rPr lang="pt-BR" dirty="0" err="1"/>
              <a:t>store</a:t>
            </a:r>
            <a:r>
              <a:rPr lang="pt-BR" dirty="0"/>
              <a:t>, usuários podem demorar de atualizar</a:t>
            </a:r>
          </a:p>
          <a:p>
            <a:pPr fontAlgn="base"/>
            <a:r>
              <a:rPr lang="pt-BR" b="1" dirty="0"/>
              <a:t>The </a:t>
            </a:r>
            <a:r>
              <a:rPr lang="pt-BR" b="1" dirty="0" err="1"/>
              <a:t>Long</a:t>
            </a:r>
            <a:r>
              <a:rPr lang="pt-BR" b="1" dirty="0"/>
              <a:t> </a:t>
            </a:r>
            <a:r>
              <a:rPr lang="pt-BR" b="1" dirty="0" err="1"/>
              <a:t>Tail</a:t>
            </a:r>
            <a:r>
              <a:rPr lang="pt-BR" b="1" dirty="0"/>
              <a:t>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Old</a:t>
            </a:r>
            <a:r>
              <a:rPr lang="pt-BR" b="1" dirty="0"/>
              <a:t> </a:t>
            </a:r>
            <a:r>
              <a:rPr lang="pt-BR" b="1" dirty="0" err="1"/>
              <a:t>App</a:t>
            </a:r>
            <a:r>
              <a:rPr lang="pt-BR" b="1" dirty="0"/>
              <a:t> </a:t>
            </a:r>
            <a:r>
              <a:rPr lang="pt-BR" b="1" dirty="0" err="1"/>
              <a:t>Versions</a:t>
            </a:r>
            <a:endParaRPr lang="pt-BR" b="1" dirty="0"/>
          </a:p>
          <a:p>
            <a:pPr fontAlgn="base"/>
            <a:r>
              <a:rPr lang="pt-BR" b="1" dirty="0" err="1"/>
              <a:t>Deeplinks</a:t>
            </a:r>
            <a:endParaRPr lang="pt-BR" b="1" dirty="0"/>
          </a:p>
          <a:p>
            <a:pPr fontAlgn="base"/>
            <a:r>
              <a:rPr lang="pt-BR" b="1" dirty="0" err="1"/>
              <a:t>App</a:t>
            </a:r>
            <a:r>
              <a:rPr lang="pt-BR" b="1" dirty="0"/>
              <a:t> Crashes</a:t>
            </a:r>
          </a:p>
        </p:txBody>
      </p:sp>
    </p:spTree>
    <p:extLst>
      <p:ext uri="{BB962C8B-B14F-4D97-AF65-F5344CB8AC3E}">
        <p14:creationId xmlns:p14="http://schemas.microsoft.com/office/powerpoint/2010/main" val="5816746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b="1" dirty="0"/>
              <a:t>Desafios no desenvolvimento</a:t>
            </a:r>
            <a:endParaRPr lang="pt-BR" dirty="0">
              <a:effectLst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467627"/>
            <a:ext cx="7239037" cy="3945699"/>
          </a:xfrm>
        </p:spPr>
        <p:txBody>
          <a:bodyPr anchor="t">
            <a:normAutofit fontScale="92500" lnSpcReduction="10000"/>
          </a:bodyPr>
          <a:lstStyle/>
          <a:p>
            <a:r>
              <a:rPr lang="pt-BR" u="sng" dirty="0">
                <a:hlinkClick r:id="rId2"/>
              </a:rPr>
              <a:t>https://blog.pragmaticengineer.com/10-engineering-challenges-due-to-the-nature-of-mobile-applications/</a:t>
            </a:r>
            <a:endParaRPr lang="pt-BR" dirty="0"/>
          </a:p>
          <a:p>
            <a:pPr fontAlgn="base"/>
            <a:r>
              <a:rPr lang="pt-BR" b="1" dirty="0"/>
              <a:t>Faça um pequeno relato de cada um dos 10 pontos que o autor (</a:t>
            </a:r>
            <a:r>
              <a:rPr lang="pt-BR" b="1" dirty="0" err="1"/>
              <a:t>Gergely</a:t>
            </a:r>
            <a:r>
              <a:rPr lang="pt-BR" b="1" dirty="0"/>
              <a:t> </a:t>
            </a:r>
            <a:r>
              <a:rPr lang="pt-BR" b="1" dirty="0" err="1"/>
              <a:t>Orosz</a:t>
            </a:r>
            <a:r>
              <a:rPr lang="pt-BR" b="1" dirty="0"/>
              <a:t>)  menciona em seu texto.</a:t>
            </a:r>
          </a:p>
          <a:p>
            <a:pPr fontAlgn="base"/>
            <a:r>
              <a:rPr lang="pt-BR" b="1" dirty="0"/>
              <a:t>Cada aluno deverá ler um deles, o sorteio será aleatório.</a:t>
            </a:r>
          </a:p>
          <a:p>
            <a:pPr fontAlgn="base"/>
            <a:r>
              <a:rPr lang="pt-BR" b="1" dirty="0"/>
              <a:t>Valerá 1 ponto esse trabalho.</a:t>
            </a:r>
          </a:p>
          <a:p>
            <a:pPr fontAlgn="base"/>
            <a:r>
              <a:rPr lang="pt-BR" b="1" u="sng" dirty="0"/>
              <a:t>Apresentação</a:t>
            </a:r>
            <a:r>
              <a:rPr lang="pt-BR" b="1" dirty="0"/>
              <a:t>, no dia 24/02.  </a:t>
            </a:r>
          </a:p>
        </p:txBody>
      </p:sp>
    </p:spTree>
    <p:extLst>
      <p:ext uri="{BB962C8B-B14F-4D97-AF65-F5344CB8AC3E}">
        <p14:creationId xmlns:p14="http://schemas.microsoft.com/office/powerpoint/2010/main" val="1659578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1661</TotalTime>
  <Words>2706</Words>
  <Application>Microsoft Office PowerPoint</Application>
  <PresentationFormat>Apresentação na tela (4:3)</PresentationFormat>
  <Paragraphs>314</Paragraphs>
  <Slides>47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Open Sans</vt:lpstr>
      <vt:lpstr>Source Sans Pro</vt:lpstr>
      <vt:lpstr>Tema do Office</vt:lpstr>
      <vt:lpstr>TECNOLOGIAS MÓVEIS E HÍBRIDAS</vt:lpstr>
      <vt:lpstr>Evolução das aplicações e suas plataformas</vt:lpstr>
      <vt:lpstr>Desktop</vt:lpstr>
      <vt:lpstr>História do software com GUI</vt:lpstr>
      <vt:lpstr>Apresentação do PowerPoint</vt:lpstr>
      <vt:lpstr>Celular antigo (feature phone)</vt:lpstr>
      <vt:lpstr>Celular antigo (meu) (feature phone)</vt:lpstr>
      <vt:lpstr>Celular antigo (feature phone)</vt:lpstr>
      <vt:lpstr>Celular antigo (feature phone)</vt:lpstr>
      <vt:lpstr>Características de mobile</vt:lpstr>
      <vt:lpstr>Hoje em dia... </vt:lpstr>
      <vt:lpstr>Design web para mobile</vt:lpstr>
      <vt:lpstr>Problema</vt:lpstr>
      <vt:lpstr>Como os navegadores amenizam o problema</vt:lpstr>
      <vt:lpstr>Como os desenvolvedores podem resolver o problema</vt:lpstr>
      <vt:lpstr>Solução obsoleta: versão mobile do site</vt:lpstr>
      <vt:lpstr>Solução: designs que mudam de acordo com a resolução</vt:lpstr>
      <vt:lpstr>Design fixo (estático)</vt:lpstr>
      <vt:lpstr>Design fluido (líquido)</vt:lpstr>
      <vt:lpstr>Design adaptativo</vt:lpstr>
      <vt:lpstr>Design responsivo</vt:lpstr>
      <vt:lpstr>Design mobile-first</vt:lpstr>
      <vt:lpstr>Grid system</vt:lpstr>
      <vt:lpstr>Grid system</vt:lpstr>
      <vt:lpstr>Telas com alta densidade de pixels</vt:lpstr>
      <vt:lpstr>Telas com alta densidade de pixels</vt:lpstr>
      <vt:lpstr>Características dos smartphones</vt:lpstr>
      <vt:lpstr>Características dos smartphones</vt:lpstr>
      <vt:lpstr>Hardware</vt:lpstr>
      <vt:lpstr>Hardware</vt:lpstr>
      <vt:lpstr>Software</vt:lpstr>
      <vt:lpstr>Usuários</vt:lpstr>
      <vt:lpstr>Impactos sobre o desenvolvimento de apps</vt:lpstr>
      <vt:lpstr>Distribuição e mercado de apps</vt:lpstr>
      <vt:lpstr>Mercado de apps</vt:lpstr>
      <vt:lpstr>Desenvolvimento de apps</vt:lpstr>
      <vt:lpstr>Apps do ponto de vista do usuário</vt:lpstr>
      <vt:lpstr>Desenvolvimento de apps (ponto de vista do desenvolvedor)</vt:lpstr>
      <vt:lpstr>Web app</vt:lpstr>
      <vt:lpstr>App nativo</vt:lpstr>
      <vt:lpstr>App híbrido</vt:lpstr>
      <vt:lpstr>Nativo multiplataforma</vt:lpstr>
      <vt:lpstr>Comparação</vt:lpstr>
      <vt:lpstr>Outras considerações sobre o desenvolvimento de apps</vt:lpstr>
      <vt:lpstr>Desenvolver sistema web ou app?</vt:lpstr>
      <vt:lpstr>Desafios no desenvolvimento</vt:lpstr>
      <vt:lpstr>Desafios no desenvolvimento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55</cp:revision>
  <dcterms:created xsi:type="dcterms:W3CDTF">2023-01-24T23:29:32Z</dcterms:created>
  <dcterms:modified xsi:type="dcterms:W3CDTF">2025-02-18T19:21:26Z</dcterms:modified>
</cp:coreProperties>
</file>