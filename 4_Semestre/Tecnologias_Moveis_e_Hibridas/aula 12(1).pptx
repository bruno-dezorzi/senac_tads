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8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F78919-870B-474F-B615-8F1D50356F98}" v="6" dt="2025-04-29T17:32:31.0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5AF78919-870B-474F-B615-8F1D50356F98}"/>
    <pc:docChg chg="undo custSel addSld modSld sldOrd">
      <pc:chgData name="matheus raffael simon" userId="b81fe4e685964744" providerId="LiveId" clId="{5AF78919-870B-474F-B615-8F1D50356F98}" dt="2025-04-29T17:37:51.886" v="422" actId="20577"/>
      <pc:docMkLst>
        <pc:docMk/>
      </pc:docMkLst>
      <pc:sldChg chg="modSp add mod ord">
        <pc:chgData name="matheus raffael simon" userId="b81fe4e685964744" providerId="LiveId" clId="{5AF78919-870B-474F-B615-8F1D50356F98}" dt="2025-04-29T17:30:12.566" v="188" actId="20577"/>
        <pc:sldMkLst>
          <pc:docMk/>
          <pc:sldMk cId="3857352056" sldId="281"/>
        </pc:sldMkLst>
        <pc:spChg chg="mod">
          <ac:chgData name="matheus raffael simon" userId="b81fe4e685964744" providerId="LiveId" clId="{5AF78919-870B-474F-B615-8F1D50356F98}" dt="2025-04-29T17:29:11.545" v="25" actId="20577"/>
          <ac:spMkLst>
            <pc:docMk/>
            <pc:sldMk cId="3857352056" sldId="281"/>
            <ac:spMk id="2" creationId="{C9B4BA59-CE17-46B8-83AE-4A651ACB26FE}"/>
          </ac:spMkLst>
        </pc:spChg>
        <pc:spChg chg="mod">
          <ac:chgData name="matheus raffael simon" userId="b81fe4e685964744" providerId="LiveId" clId="{5AF78919-870B-474F-B615-8F1D50356F98}" dt="2025-04-29T17:30:12.566" v="188" actId="20577"/>
          <ac:spMkLst>
            <pc:docMk/>
            <pc:sldMk cId="3857352056" sldId="281"/>
            <ac:spMk id="3" creationId="{CA1C6ACB-5ECE-B76D-DA70-869B1F3A261B}"/>
          </ac:spMkLst>
        </pc:spChg>
      </pc:sldChg>
      <pc:sldChg chg="modSp add mod">
        <pc:chgData name="matheus raffael simon" userId="b81fe4e685964744" providerId="LiveId" clId="{5AF78919-870B-474F-B615-8F1D50356F98}" dt="2025-04-29T17:31:39.611" v="254" actId="20577"/>
        <pc:sldMkLst>
          <pc:docMk/>
          <pc:sldMk cId="838397521" sldId="282"/>
        </pc:sldMkLst>
        <pc:spChg chg="mod">
          <ac:chgData name="matheus raffael simon" userId="b81fe4e685964744" providerId="LiveId" clId="{5AF78919-870B-474F-B615-8F1D50356F98}" dt="2025-04-29T17:31:39.611" v="254" actId="20577"/>
          <ac:spMkLst>
            <pc:docMk/>
            <pc:sldMk cId="838397521" sldId="282"/>
            <ac:spMk id="3" creationId="{8F611701-4017-BB35-B1ED-5A66D5E69DFC}"/>
          </ac:spMkLst>
        </pc:spChg>
      </pc:sldChg>
      <pc:sldChg chg="addSp modSp add mod">
        <pc:chgData name="matheus raffael simon" userId="b81fe4e685964744" providerId="LiveId" clId="{5AF78919-870B-474F-B615-8F1D50356F98}" dt="2025-04-29T17:37:51.886" v="422" actId="20577"/>
        <pc:sldMkLst>
          <pc:docMk/>
          <pc:sldMk cId="858618229" sldId="283"/>
        </pc:sldMkLst>
        <pc:spChg chg="mod">
          <ac:chgData name="matheus raffael simon" userId="b81fe4e685964744" providerId="LiveId" clId="{5AF78919-870B-474F-B615-8F1D50356F98}" dt="2025-04-29T17:37:51.886" v="422" actId="20577"/>
          <ac:spMkLst>
            <pc:docMk/>
            <pc:sldMk cId="858618229" sldId="283"/>
            <ac:spMk id="3" creationId="{5AF0F691-AEF4-E841-00EB-E0AC91C80267}"/>
          </ac:spMkLst>
        </pc:spChg>
        <pc:spChg chg="add">
          <ac:chgData name="matheus raffael simon" userId="b81fe4e685964744" providerId="LiveId" clId="{5AF78919-870B-474F-B615-8F1D50356F98}" dt="2025-04-29T17:32:26.599" v="303"/>
          <ac:spMkLst>
            <pc:docMk/>
            <pc:sldMk cId="858618229" sldId="283"/>
            <ac:spMk id="5" creationId="{08181D82-FAF0-6035-B360-1024F723375E}"/>
          </ac:spMkLst>
        </pc:spChg>
      </pc:sldChg>
    </pc:docChg>
  </pc:docChgLst>
  <pc:docChgLst>
    <pc:chgData name="matheus raffael simon" userId="b81fe4e685964744" providerId="LiveId" clId="{F0DF8034-E6EB-4348-A9EB-A2E62E35BD64}"/>
    <pc:docChg chg="undo redo custSel addSld delSld modSld sldOrd">
      <pc:chgData name="matheus raffael simon" userId="b81fe4e685964744" providerId="LiveId" clId="{F0DF8034-E6EB-4348-A9EB-A2E62E35BD64}" dt="2024-10-28T20:43:08.151" v="185" actId="47"/>
      <pc:docMkLst>
        <pc:docMk/>
      </pc:docMkLst>
      <pc:sldChg chg="addSp modSp mod">
        <pc:chgData name="matheus raffael simon" userId="b81fe4e685964744" providerId="LiveId" clId="{F0DF8034-E6EB-4348-A9EB-A2E62E35BD64}" dt="2024-10-28T20:19:46.875" v="8" actId="20577"/>
        <pc:sldMkLst>
          <pc:docMk/>
          <pc:sldMk cId="1944787843" sldId="260"/>
        </pc:sldMkLst>
      </pc:sldChg>
      <pc:sldChg chg="modSp add mod">
        <pc:chgData name="matheus raffael simon" userId="b81fe4e685964744" providerId="LiveId" clId="{F0DF8034-E6EB-4348-A9EB-A2E62E35BD64}" dt="2024-10-28T20:22:33.547" v="26"/>
        <pc:sldMkLst>
          <pc:docMk/>
          <pc:sldMk cId="2907033758" sldId="261"/>
        </pc:sldMkLst>
      </pc:sldChg>
      <pc:sldChg chg="addSp modSp add mod">
        <pc:chgData name="matheus raffael simon" userId="b81fe4e685964744" providerId="LiveId" clId="{F0DF8034-E6EB-4348-A9EB-A2E62E35BD64}" dt="2024-10-28T20:23:31.261" v="39" actId="27636"/>
        <pc:sldMkLst>
          <pc:docMk/>
          <pc:sldMk cId="2689880283" sldId="262"/>
        </pc:sldMkLst>
      </pc:sldChg>
      <pc:sldChg chg="modSp add mod">
        <pc:chgData name="matheus raffael simon" userId="b81fe4e685964744" providerId="LiveId" clId="{F0DF8034-E6EB-4348-A9EB-A2E62E35BD64}" dt="2024-10-28T20:23:59.865" v="43"/>
        <pc:sldMkLst>
          <pc:docMk/>
          <pc:sldMk cId="294764975" sldId="263"/>
        </pc:sldMkLst>
      </pc:sldChg>
      <pc:sldChg chg="addSp modSp add mod">
        <pc:chgData name="matheus raffael simon" userId="b81fe4e685964744" providerId="LiveId" clId="{F0DF8034-E6EB-4348-A9EB-A2E62E35BD64}" dt="2024-10-28T20:25:11.369" v="53" actId="15"/>
        <pc:sldMkLst>
          <pc:docMk/>
          <pc:sldMk cId="1477346715" sldId="264"/>
        </pc:sldMkLst>
      </pc:sldChg>
      <pc:sldChg chg="addSp modSp add mod">
        <pc:chgData name="matheus raffael simon" userId="b81fe4e685964744" providerId="LiveId" clId="{F0DF8034-E6EB-4348-A9EB-A2E62E35BD64}" dt="2024-10-28T20:26:30.474" v="63"/>
        <pc:sldMkLst>
          <pc:docMk/>
          <pc:sldMk cId="1940418812" sldId="265"/>
        </pc:sldMkLst>
      </pc:sldChg>
      <pc:sldChg chg="addSp modSp add mod ord">
        <pc:chgData name="matheus raffael simon" userId="b81fe4e685964744" providerId="LiveId" clId="{F0DF8034-E6EB-4348-A9EB-A2E62E35BD64}" dt="2024-10-28T20:31:06.576" v="106" actId="14100"/>
        <pc:sldMkLst>
          <pc:docMk/>
          <pc:sldMk cId="3246423625" sldId="266"/>
        </pc:sldMkLst>
      </pc:sldChg>
      <pc:sldChg chg="addSp modSp add mod">
        <pc:chgData name="matheus raffael simon" userId="b81fe4e685964744" providerId="LiveId" clId="{F0DF8034-E6EB-4348-A9EB-A2E62E35BD64}" dt="2024-10-28T20:28:47.996" v="78" actId="12"/>
        <pc:sldMkLst>
          <pc:docMk/>
          <pc:sldMk cId="2024532130" sldId="267"/>
        </pc:sldMkLst>
      </pc:sldChg>
      <pc:sldChg chg="addSp delSp modSp add mod">
        <pc:chgData name="matheus raffael simon" userId="b81fe4e685964744" providerId="LiveId" clId="{F0DF8034-E6EB-4348-A9EB-A2E62E35BD64}" dt="2024-10-28T20:30:15.769" v="95" actId="478"/>
        <pc:sldMkLst>
          <pc:docMk/>
          <pc:sldMk cId="146885284" sldId="268"/>
        </pc:sldMkLst>
      </pc:sldChg>
      <pc:sldChg chg="modSp add mod">
        <pc:chgData name="matheus raffael simon" userId="b81fe4e685964744" providerId="LiveId" clId="{F0DF8034-E6EB-4348-A9EB-A2E62E35BD64}" dt="2024-10-28T20:31:24.577" v="111" actId="27636"/>
        <pc:sldMkLst>
          <pc:docMk/>
          <pc:sldMk cId="2577441390" sldId="269"/>
        </pc:sldMkLst>
      </pc:sldChg>
      <pc:sldChg chg="addSp modSp add mod">
        <pc:chgData name="matheus raffael simon" userId="b81fe4e685964744" providerId="LiveId" clId="{F0DF8034-E6EB-4348-A9EB-A2E62E35BD64}" dt="2024-10-28T20:31:58.437" v="119" actId="14100"/>
        <pc:sldMkLst>
          <pc:docMk/>
          <pc:sldMk cId="3785208393" sldId="270"/>
        </pc:sldMkLst>
      </pc:sldChg>
      <pc:sldChg chg="addSp modSp add mod">
        <pc:chgData name="matheus raffael simon" userId="b81fe4e685964744" providerId="LiveId" clId="{F0DF8034-E6EB-4348-A9EB-A2E62E35BD64}" dt="2024-10-28T20:32:25.842" v="124" actId="27636"/>
        <pc:sldMkLst>
          <pc:docMk/>
          <pc:sldMk cId="1230180858" sldId="271"/>
        </pc:sldMkLst>
      </pc:sldChg>
      <pc:sldChg chg="modSp add mod">
        <pc:chgData name="matheus raffael simon" userId="b81fe4e685964744" providerId="LiveId" clId="{F0DF8034-E6EB-4348-A9EB-A2E62E35BD64}" dt="2024-10-28T20:32:58.604" v="131" actId="27636"/>
        <pc:sldMkLst>
          <pc:docMk/>
          <pc:sldMk cId="4289334904" sldId="272"/>
        </pc:sldMkLst>
      </pc:sldChg>
      <pc:sldChg chg="addSp modSp add mod">
        <pc:chgData name="matheus raffael simon" userId="b81fe4e685964744" providerId="LiveId" clId="{F0DF8034-E6EB-4348-A9EB-A2E62E35BD64}" dt="2024-10-28T20:33:54.579" v="141"/>
        <pc:sldMkLst>
          <pc:docMk/>
          <pc:sldMk cId="51623186" sldId="273"/>
        </pc:sldMkLst>
      </pc:sldChg>
      <pc:sldChg chg="addSp modSp add mod">
        <pc:chgData name="matheus raffael simon" userId="b81fe4e685964744" providerId="LiveId" clId="{F0DF8034-E6EB-4348-A9EB-A2E62E35BD64}" dt="2024-10-28T20:34:57.646" v="150" actId="1076"/>
        <pc:sldMkLst>
          <pc:docMk/>
          <pc:sldMk cId="2109153233" sldId="274"/>
        </pc:sldMkLst>
      </pc:sldChg>
      <pc:sldChg chg="delSp modSp add mod">
        <pc:chgData name="matheus raffael simon" userId="b81fe4e685964744" providerId="LiveId" clId="{F0DF8034-E6EB-4348-A9EB-A2E62E35BD64}" dt="2024-10-28T20:35:18.050" v="155" actId="27636"/>
        <pc:sldMkLst>
          <pc:docMk/>
          <pc:sldMk cId="2028026771" sldId="275"/>
        </pc:sldMkLst>
      </pc:sldChg>
      <pc:sldChg chg="addSp delSp modSp add mod">
        <pc:chgData name="matheus raffael simon" userId="b81fe4e685964744" providerId="LiveId" clId="{F0DF8034-E6EB-4348-A9EB-A2E62E35BD64}" dt="2024-10-28T20:35:47.704" v="163" actId="1076"/>
        <pc:sldMkLst>
          <pc:docMk/>
          <pc:sldMk cId="3281603999" sldId="276"/>
        </pc:sldMkLst>
      </pc:sldChg>
      <pc:sldChg chg="add">
        <pc:chgData name="matheus raffael simon" userId="b81fe4e685964744" providerId="LiveId" clId="{F0DF8034-E6EB-4348-A9EB-A2E62E35BD64}" dt="2024-10-28T20:35:37.643" v="157" actId="2890"/>
        <pc:sldMkLst>
          <pc:docMk/>
          <pc:sldMk cId="3041316540" sldId="277"/>
        </pc:sldMkLst>
      </pc:sldChg>
      <pc:sldChg chg="modSp add mod">
        <pc:chgData name="matheus raffael simon" userId="b81fe4e685964744" providerId="LiveId" clId="{F0DF8034-E6EB-4348-A9EB-A2E62E35BD64}" dt="2024-10-28T20:36:06.898" v="172" actId="27636"/>
        <pc:sldMkLst>
          <pc:docMk/>
          <pc:sldMk cId="3575562327" sldId="278"/>
        </pc:sldMkLst>
      </pc:sldChg>
      <pc:sldChg chg="modSp add mod ord">
        <pc:chgData name="matheus raffael simon" userId="b81fe4e685964744" providerId="LiveId" clId="{F0DF8034-E6EB-4348-A9EB-A2E62E35BD64}" dt="2024-10-28T20:36:26.919" v="178" actId="27636"/>
        <pc:sldMkLst>
          <pc:docMk/>
          <pc:sldMk cId="1777122514" sldId="279"/>
        </pc:sldMkLst>
      </pc:sldChg>
      <pc:sldChg chg="addSp delSp modSp add mod">
        <pc:chgData name="matheus raffael simon" userId="b81fe4e685964744" providerId="LiveId" clId="{F0DF8034-E6EB-4348-A9EB-A2E62E35BD64}" dt="2024-10-28T20:36:49.176" v="184" actId="14100"/>
        <pc:sldMkLst>
          <pc:docMk/>
          <pc:sldMk cId="3908963924" sldId="280"/>
        </pc:sldMkLst>
      </pc:sldChg>
      <pc:sldChg chg="add del">
        <pc:chgData name="matheus raffael simon" userId="b81fe4e685964744" providerId="LiveId" clId="{F0DF8034-E6EB-4348-A9EB-A2E62E35BD64}" dt="2024-10-28T20:43:08.151" v="185" actId="47"/>
        <pc:sldMkLst>
          <pc:docMk/>
          <pc:sldMk cId="1301419717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617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8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41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8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8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575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01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90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6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77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5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29/04/2025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1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/>
              <a:t>TECNOLOGIAS MÓVEIS E HÍBRIDAS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2302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Container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dirty="0" err="1"/>
              <a:t>Flutter</a:t>
            </a:r>
            <a:r>
              <a:rPr lang="pt-BR" dirty="0"/>
              <a:t>, o widget Container funciona como uma caixa flexível para estruturar e estilizar outros widgets dentro de um layout. </a:t>
            </a:r>
          </a:p>
          <a:p>
            <a:r>
              <a:rPr lang="pt-BR" dirty="0"/>
              <a:t>Ele é útil para definir espaços ao redor de conteúdo, ajustar o tamanho, aplicar cores, bordas e sombras. </a:t>
            </a:r>
          </a:p>
          <a:p>
            <a:r>
              <a:rPr lang="pt-BR" dirty="0"/>
              <a:t>Você pode usar o </a:t>
            </a:r>
            <a:r>
              <a:rPr lang="pt-BR" dirty="0" err="1"/>
              <a:t>padding</a:t>
            </a:r>
            <a:r>
              <a:rPr lang="pt-BR" dirty="0"/>
              <a:t> para o espaço interno (entre o conteúdo e as bordas do contêiner) e o </a:t>
            </a:r>
            <a:r>
              <a:rPr lang="pt-BR" dirty="0" err="1"/>
              <a:t>margin</a:t>
            </a:r>
            <a:r>
              <a:rPr lang="pt-BR" dirty="0"/>
              <a:t> para o espaço externo (entre o contêiner e outros widgets). </a:t>
            </a:r>
          </a:p>
          <a:p>
            <a:r>
              <a:rPr lang="pt-BR" dirty="0"/>
              <a:t>Além disso, ele permite alinhar e posicionar os elementos, facilitando o controle visual do layout na tela.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78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279F-70C5-7FF5-E896-F1C7DDCA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5750DE68-4596-21A9-E2CA-3AD6B927403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9800E5-691C-118A-46DC-FBDF2CF4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Layout da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D2E418-78D1-A4A3-88C6-E83D449AB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geral, o layout de uma tela é composto por Widgets visíveis, como barras de menu, painéis, imagens etc., e também por Widgets invisíveis, como linhas, colunas e grades. </a:t>
            </a:r>
          </a:p>
          <a:p>
            <a:r>
              <a:rPr lang="pt-BR" dirty="0"/>
              <a:t>Esses Widgets invisíveis usamos para organizar a tela, alinhando os Widgets visíveis e delimitando o espaço que eles ocupam.</a:t>
            </a:r>
          </a:p>
          <a:p>
            <a:r>
              <a:rPr lang="pt-BR" dirty="0"/>
              <a:t>Por exemplo, na </a:t>
            </a:r>
            <a:r>
              <a:rPr lang="pt-BR" b="1" dirty="0"/>
              <a:t>Figura 1</a:t>
            </a:r>
            <a:r>
              <a:rPr lang="pt-BR" dirty="0"/>
              <a:t> podemos ver o layout planejado para um app e ao lado a implementação dele em uma tela.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06A10AB-5A81-B3E5-C803-858C20BB90A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03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09C9-F9EE-E03D-6C7F-B761B49F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C7182D3-7E44-27D3-918D-B0916EC43AC0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530F36-4853-B551-D8FD-4941ACBD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0CF03-BE74-C4FF-E096-15644B876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2604" y="365125"/>
            <a:ext cx="2991196" cy="58118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Repare na imagem a esquerda os nomes em cada parte do layout, como </a:t>
            </a:r>
            <a:r>
              <a:rPr lang="pt-BR" dirty="0" err="1"/>
              <a:t>AppBar</a:t>
            </a:r>
            <a:r>
              <a:rPr lang="pt-BR" dirty="0"/>
              <a:t> e </a:t>
            </a:r>
            <a:r>
              <a:rPr lang="pt-BR" dirty="0" err="1"/>
              <a:t>Image</a:t>
            </a:r>
            <a:r>
              <a:rPr lang="pt-BR" dirty="0"/>
              <a:t>. Esses são exemplos de Widgets visíveis do </a:t>
            </a:r>
            <a:r>
              <a:rPr lang="pt-BR" dirty="0" err="1"/>
              <a:t>Flutter</a:t>
            </a:r>
            <a:r>
              <a:rPr lang="pt-BR" dirty="0"/>
              <a:t> presentes na tela. Além deles, há também Widgets invisíveis, tais como Center e Row, que desempenham o papel de organizar a tela.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9BED7A-75D6-3E23-4134-9C83FB16C22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230345-3B58-0F6F-BD3D-1753F8775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94" y="188536"/>
            <a:ext cx="7906951" cy="656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8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9BC34-5805-1F57-55EF-123FC397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310BC48-6CCF-C92D-F40B-03BFC0A0E83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7D3ECC-F27F-D766-8021-FEB18849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Widgets para organizar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0304D4-4909-A30E-EF77-AEF3591E4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Dentre os Widgets utilizados para organizar a tela os mais utilizados são Center, </a:t>
            </a:r>
            <a:r>
              <a:rPr lang="pt-BR" dirty="0" err="1"/>
              <a:t>Column</a:t>
            </a:r>
            <a:r>
              <a:rPr lang="pt-BR" dirty="0"/>
              <a:t> e Row. Eles funcionam como contêineres para outros Widgets filhos, que devem ser configurados utilizando as propriedades </a:t>
            </a:r>
            <a:r>
              <a:rPr lang="pt-BR" dirty="0" err="1"/>
              <a:t>child</a:t>
            </a:r>
            <a:r>
              <a:rPr lang="pt-BR" dirty="0"/>
              <a:t>, no caso de haver apenas um filho, ou </a:t>
            </a:r>
            <a:r>
              <a:rPr lang="pt-BR" dirty="0" err="1"/>
              <a:t>children</a:t>
            </a:r>
            <a:r>
              <a:rPr lang="pt-BR" dirty="0"/>
              <a:t>, para muitos filhos.</a:t>
            </a:r>
          </a:p>
          <a:p>
            <a:r>
              <a:rPr lang="pt-BR" b="1" dirty="0"/>
              <a:t>Center</a:t>
            </a:r>
          </a:p>
          <a:p>
            <a:r>
              <a:rPr lang="pt-BR" dirty="0"/>
              <a:t>Centraliza todos os seus Widgets filhos. E para customizar a forma como essa centralização ocorre podemos usar propriedades que determinam as dimensões de Center conforme a Tabela 1.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002B5F-70DD-FC37-54EA-BA396DC8E07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64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6B02-6CD1-CBC7-3CA8-163BAFD2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1ED5D20B-4A2D-B252-E941-223518879C9A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EC88E4-76D7-E8A8-A158-6509528B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Widgets para organizar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5EB5F8-2E3A-C315-9E6C-4ABB4AEE6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heightFactor</a:t>
            </a:r>
            <a:r>
              <a:rPr lang="pt-BR" dirty="0"/>
              <a:t> 	</a:t>
            </a:r>
          </a:p>
          <a:p>
            <a:pPr lvl="1"/>
            <a:r>
              <a:rPr lang="pt-BR" dirty="0"/>
              <a:t>Se o valor não for nulo, define a altura de Center pela altura do filho multiplicado por esse valor.</a:t>
            </a:r>
          </a:p>
          <a:p>
            <a:r>
              <a:rPr lang="pt-BR" dirty="0" err="1"/>
              <a:t>widthFactor</a:t>
            </a:r>
            <a:r>
              <a:rPr lang="pt-BR" dirty="0"/>
              <a:t> 	</a:t>
            </a:r>
          </a:p>
          <a:p>
            <a:pPr lvl="1"/>
            <a:r>
              <a:rPr lang="pt-BR" dirty="0"/>
              <a:t>Se o valor não for nulo, define a largura de Center pela largura do filho multiplicado por esse valor. </a:t>
            </a:r>
          </a:p>
          <a:p>
            <a:r>
              <a:rPr lang="pt-BR" dirty="0"/>
              <a:t>Por exemplo, caso o valor da propriedade </a:t>
            </a:r>
            <a:r>
              <a:rPr lang="pt-BR" dirty="0" err="1"/>
              <a:t>widthFactor</a:t>
            </a:r>
            <a:r>
              <a:rPr lang="pt-BR" dirty="0"/>
              <a:t> seja igual a 2.0, a largura de Center será o dobro da de seus filhos.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5C62E6C-39A5-E6E9-D0D7-792A2AF95805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346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5CAB-E7C1-A85C-6E08-74EA74F9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885DEAB-92CB-50CB-6D63-FE9DA0F98BE7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206FA5-A0FF-B5C4-1B0D-5FBB7A10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de Layout com Center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0E1C87-26FF-2D48-D9AB-AD43D79D6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716" y="1825625"/>
            <a:ext cx="8012084" cy="4351338"/>
          </a:xfrm>
        </p:spPr>
        <p:txBody>
          <a:bodyPr/>
          <a:lstStyle/>
          <a:p>
            <a:r>
              <a:rPr lang="pt-BR" dirty="0"/>
              <a:t>No exemplo a seguir usamos Center para apresentar o texto “Olá Mundo!” centralizado na tela do dispositivo. O resultado pode ser visto na </a:t>
            </a:r>
            <a:r>
              <a:rPr lang="pt-BR" b="1" dirty="0"/>
              <a:t>Figura 2</a:t>
            </a:r>
            <a:r>
              <a:rPr lang="pt-BR" dirty="0"/>
              <a:t>.</a:t>
            </a:r>
          </a:p>
          <a:p>
            <a:r>
              <a:rPr lang="pt-BR" dirty="0"/>
              <a:t>O código para a criação desse layout pode visto na </a:t>
            </a:r>
            <a:r>
              <a:rPr lang="pt-BR" b="1" dirty="0"/>
              <a:t>Listagem 1</a:t>
            </a:r>
            <a:r>
              <a:rPr lang="pt-BR" dirty="0"/>
              <a:t> e é explicado logo após.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220F24B-8539-CC70-FB57-2FC55FBEC3A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9F8F5E-FFEC-4D34-D20E-AADA3BE27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7" y="1582101"/>
            <a:ext cx="2865368" cy="532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1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80BE-2224-1362-8D00-30DF66D6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6FBA855E-30BC-036C-D37C-4FB7EE0110E1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3E4039-DABA-5A43-898D-4CFDB5A99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 de Layout com Center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67F55-A84A-C16E-0F6E-5077DAA8D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376738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'</a:t>
            </a:r>
            <a:r>
              <a:rPr lang="pt-BR" dirty="0" err="1"/>
              <a:t>package:flutter</a:t>
            </a:r>
            <a:r>
              <a:rPr lang="pt-BR" dirty="0"/>
              <a:t>/</a:t>
            </a:r>
            <a:r>
              <a:rPr lang="pt-BR" dirty="0" err="1"/>
              <a:t>material.dart</a:t>
            </a:r>
            <a:r>
              <a:rPr lang="pt-BR" dirty="0"/>
              <a:t>';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=&gt; </a:t>
            </a:r>
            <a:r>
              <a:rPr lang="pt-BR" dirty="0" err="1"/>
              <a:t>runApp</a:t>
            </a:r>
            <a:r>
              <a:rPr lang="pt-BR" dirty="0"/>
              <a:t>(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());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StatelessWidget</a:t>
            </a:r>
            <a:r>
              <a:rPr lang="pt-BR" dirty="0"/>
              <a:t>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({Key? </a:t>
            </a:r>
            <a:r>
              <a:rPr lang="pt-BR" dirty="0" err="1"/>
              <a:t>key</a:t>
            </a:r>
            <a:r>
              <a:rPr lang="pt-BR" dirty="0"/>
              <a:t>}) : super(</a:t>
            </a:r>
            <a:r>
              <a:rPr lang="pt-BR" dirty="0" err="1"/>
              <a:t>key</a:t>
            </a:r>
            <a:r>
              <a:rPr lang="pt-BR" dirty="0"/>
              <a:t>: </a:t>
            </a:r>
            <a:r>
              <a:rPr lang="pt-BR" dirty="0" err="1"/>
              <a:t>key</a:t>
            </a: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  // </a:t>
            </a:r>
            <a:r>
              <a:rPr lang="pt-BR" dirty="0" err="1"/>
              <a:t>This</a:t>
            </a:r>
            <a:r>
              <a:rPr lang="pt-BR" dirty="0"/>
              <a:t> widget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root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application</a:t>
            </a:r>
            <a:r>
              <a:rPr lang="pt-BR" dirty="0"/>
              <a:t>.</a:t>
            </a:r>
          </a:p>
          <a:p>
            <a:pPr marL="0" indent="0">
              <a:buNone/>
            </a:pPr>
            <a:r>
              <a:rPr lang="pt-BR" dirty="0"/>
              <a:t>  @override</a:t>
            </a:r>
          </a:p>
          <a:p>
            <a:pPr marL="0" indent="0">
              <a:buNone/>
            </a:pPr>
            <a:r>
              <a:rPr lang="pt-BR" dirty="0"/>
              <a:t>  Widget build(</a:t>
            </a:r>
            <a:r>
              <a:rPr lang="pt-BR" dirty="0" err="1"/>
              <a:t>BuildContext</a:t>
            </a:r>
            <a:r>
              <a:rPr lang="pt-BR" dirty="0"/>
              <a:t> </a:t>
            </a:r>
            <a:r>
              <a:rPr lang="pt-BR" dirty="0" err="1"/>
              <a:t>context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MaterialApp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home: </a:t>
            </a:r>
            <a:r>
              <a:rPr lang="pt-BR" dirty="0" err="1"/>
              <a:t>Scaffold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  </a:t>
            </a:r>
            <a:r>
              <a:rPr lang="pt-BR" dirty="0" err="1"/>
              <a:t>appBar</a:t>
            </a:r>
            <a:r>
              <a:rPr lang="pt-BR" dirty="0"/>
              <a:t>: </a:t>
            </a:r>
            <a:r>
              <a:rPr lang="pt-BR" dirty="0" err="1"/>
              <a:t>AppBar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    </a:t>
            </a:r>
            <a:r>
              <a:rPr lang="pt-BR" dirty="0" err="1"/>
              <a:t>title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('</a:t>
            </a:r>
            <a:r>
              <a:rPr lang="pt-BR" dirty="0" err="1"/>
              <a:t>Flutter</a:t>
            </a:r>
            <a:r>
              <a:rPr lang="pt-BR" dirty="0"/>
              <a:t> Layouts'),</a:t>
            </a:r>
          </a:p>
          <a:p>
            <a:pPr marL="0" indent="0">
              <a:buNone/>
            </a:pPr>
            <a:r>
              <a:rPr lang="pt-BR" dirty="0"/>
              <a:t>          ),</a:t>
            </a:r>
          </a:p>
          <a:p>
            <a:pPr marL="0" indent="0">
              <a:buNone/>
            </a:pPr>
            <a:r>
              <a:rPr lang="pt-BR" dirty="0"/>
              <a:t>          body: </a:t>
            </a:r>
            <a:r>
              <a:rPr lang="pt-BR" dirty="0" err="1"/>
              <a:t>Column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    </a:t>
            </a:r>
            <a:r>
              <a:rPr lang="pt-BR" dirty="0" err="1"/>
              <a:t>children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[</a:t>
            </a:r>
          </a:p>
          <a:p>
            <a:pPr marL="0" indent="0">
              <a:buNone/>
            </a:pPr>
            <a:r>
              <a:rPr lang="pt-BR" dirty="0"/>
              <a:t>              Center(</a:t>
            </a:r>
          </a:p>
          <a:p>
            <a:pPr marL="0" indent="0">
              <a:buNone/>
            </a:pPr>
            <a:r>
              <a:rPr lang="pt-BR" dirty="0"/>
              <a:t>                </a:t>
            </a:r>
            <a:r>
              <a:rPr lang="pt-BR" dirty="0" err="1"/>
              <a:t>heightFactor</a:t>
            </a:r>
            <a:r>
              <a:rPr lang="pt-BR" dirty="0"/>
              <a:t>: 2,</a:t>
            </a:r>
          </a:p>
          <a:p>
            <a:pPr marL="0" indent="0">
              <a:buNone/>
            </a:pPr>
            <a:r>
              <a:rPr lang="pt-BR" dirty="0"/>
              <a:t>                </a:t>
            </a:r>
            <a:r>
              <a:rPr lang="pt-BR" dirty="0" err="1"/>
              <a:t>child</a:t>
            </a:r>
            <a:r>
              <a:rPr lang="pt-BR" dirty="0"/>
              <a:t>: </a:t>
            </a:r>
            <a:r>
              <a:rPr lang="pt-BR" dirty="0" err="1"/>
              <a:t>Text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          'Olá Mundo!',</a:t>
            </a:r>
          </a:p>
          <a:p>
            <a:pPr marL="0" indent="0">
              <a:buNone/>
            </a:pPr>
            <a:r>
              <a:rPr lang="pt-BR" dirty="0"/>
              <a:t>                  </a:t>
            </a:r>
            <a:r>
              <a:rPr lang="pt-BR" dirty="0" err="1"/>
              <a:t>textDirection</a:t>
            </a:r>
            <a:r>
              <a:rPr lang="pt-BR" dirty="0"/>
              <a:t>: </a:t>
            </a:r>
            <a:r>
              <a:rPr lang="pt-BR" dirty="0" err="1"/>
              <a:t>TextDirection.ltr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/>
              <a:t>                  </a:t>
            </a:r>
            <a:r>
              <a:rPr lang="pt-BR" dirty="0" err="1"/>
              <a:t>style</a:t>
            </a:r>
            <a:r>
              <a:rPr lang="pt-BR" dirty="0"/>
              <a:t>: </a:t>
            </a:r>
            <a:r>
              <a:rPr lang="pt-BR" dirty="0" err="1"/>
              <a:t>TextStyle</a:t>
            </a:r>
            <a:r>
              <a:rPr lang="pt-BR" dirty="0"/>
              <a:t>(</a:t>
            </a:r>
          </a:p>
          <a:p>
            <a:pPr marL="0" indent="0">
              <a:buNone/>
            </a:pPr>
            <a:r>
              <a:rPr lang="pt-BR" dirty="0"/>
              <a:t>                    </a:t>
            </a:r>
            <a:r>
              <a:rPr lang="pt-BR" dirty="0" err="1"/>
              <a:t>fontSize</a:t>
            </a:r>
            <a:r>
              <a:rPr lang="pt-BR" dirty="0"/>
              <a:t>: 32,</a:t>
            </a:r>
          </a:p>
          <a:p>
            <a:pPr marL="0" indent="0">
              <a:buNone/>
            </a:pPr>
            <a:r>
              <a:rPr lang="pt-BR" dirty="0"/>
              <a:t>                  color: </a:t>
            </a:r>
            <a:r>
              <a:rPr lang="pt-BR" dirty="0" err="1"/>
              <a:t>Colors.black</a:t>
            </a:r>
            <a:r>
              <a:rPr lang="pt-BR" dirty="0"/>
              <a:t>,</a:t>
            </a:r>
          </a:p>
          <a:p>
            <a:pPr marL="0" indent="0">
              <a:buNone/>
            </a:pPr>
            <a:r>
              <a:rPr lang="pt-BR" dirty="0"/>
              <a:t>                  )</a:t>
            </a:r>
          </a:p>
          <a:p>
            <a:pPr marL="0" indent="0">
              <a:buNone/>
            </a:pPr>
            <a:r>
              <a:rPr lang="pt-BR" dirty="0"/>
              <a:t>                ),</a:t>
            </a:r>
          </a:p>
          <a:p>
            <a:pPr marL="0" indent="0">
              <a:buNone/>
            </a:pPr>
            <a:r>
              <a:rPr lang="pt-BR" dirty="0"/>
              <a:t>              ),</a:t>
            </a:r>
          </a:p>
          <a:p>
            <a:pPr marL="0" indent="0">
              <a:buNone/>
            </a:pPr>
            <a:r>
              <a:rPr lang="pt-BR" dirty="0"/>
              <a:t>            ]</a:t>
            </a:r>
          </a:p>
          <a:p>
            <a:pPr marL="0" indent="0">
              <a:buNone/>
            </a:pPr>
            <a:r>
              <a:rPr lang="pt-BR" dirty="0"/>
              <a:t>          ),</a:t>
            </a:r>
          </a:p>
          <a:p>
            <a:pPr marL="0" indent="0">
              <a:buNone/>
            </a:pPr>
            <a:r>
              <a:rPr lang="pt-BR" dirty="0"/>
              <a:t>        ),</a:t>
            </a:r>
          </a:p>
          <a:p>
            <a:pPr marL="0" indent="0">
              <a:buNone/>
            </a:pPr>
            <a:r>
              <a:rPr lang="pt-BR" dirty="0"/>
              <a:t>    );</a:t>
            </a:r>
          </a:p>
          <a:p>
            <a:pPr marL="0" indent="0">
              <a:buNone/>
            </a:pPr>
            <a:r>
              <a:rPr lang="pt-BR" dirty="0"/>
              <a:t>  }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C960BBA-D466-193D-4033-C1EE6718E36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53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17512-CE1D-8B5B-08E1-493A8F9A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C26828F-94E0-7C77-BF07-969109727F08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5FE24-0D3A-D501-CC49-97DD43584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536"/>
            <a:ext cx="10515600" cy="5988427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Explicando o código: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10: o método build retorna </a:t>
            </a:r>
            <a:r>
              <a:rPr lang="pt-BR" dirty="0" err="1"/>
              <a:t>MaterialApp</a:t>
            </a:r>
            <a:r>
              <a:rPr lang="pt-BR" dirty="0"/>
              <a:t> como o Widget principal do app.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11: o Widget </a:t>
            </a:r>
            <a:r>
              <a:rPr lang="pt-BR" dirty="0" err="1"/>
              <a:t>Scaffold</a:t>
            </a:r>
            <a:r>
              <a:rPr lang="pt-BR" dirty="0"/>
              <a:t> é usado para compor a página home.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12: Widget </a:t>
            </a:r>
            <a:r>
              <a:rPr lang="pt-BR" dirty="0" err="1"/>
              <a:t>AppBar</a:t>
            </a:r>
            <a:r>
              <a:rPr lang="pt-BR" dirty="0"/>
              <a:t> que cria uma barra para o aplicativo.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15: O Widget </a:t>
            </a:r>
            <a:r>
              <a:rPr lang="pt-BR" dirty="0" err="1"/>
              <a:t>Column</a:t>
            </a:r>
            <a:r>
              <a:rPr lang="pt-BR" dirty="0"/>
              <a:t> ocupa o corpo do Widget </a:t>
            </a:r>
            <a:r>
              <a:rPr lang="pt-BR" dirty="0" err="1"/>
              <a:t>Scaffold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17: O Widget Center é filho de </a:t>
            </a:r>
            <a:r>
              <a:rPr lang="pt-BR" dirty="0" err="1"/>
              <a:t>Column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18: a propriedade </a:t>
            </a:r>
            <a:r>
              <a:rPr lang="pt-BR" dirty="0" err="1"/>
              <a:t>heightFactor</a:t>
            </a:r>
            <a:r>
              <a:rPr lang="pt-BR" dirty="0"/>
              <a:t> define a altura de Center multiplicando seu valor(2) pela altura do </a:t>
            </a:r>
            <a:r>
              <a:rPr lang="pt-BR" dirty="0" err="1"/>
              <a:t>Text</a:t>
            </a:r>
            <a:r>
              <a:rPr lang="pt-BR" dirty="0"/>
              <a:t> filho.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19: O Widget </a:t>
            </a:r>
            <a:r>
              <a:rPr lang="pt-BR" dirty="0" err="1"/>
              <a:t>Text</a:t>
            </a:r>
            <a:r>
              <a:rPr lang="pt-BR" dirty="0"/>
              <a:t> é filho de Center.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20: A sequência de texto que </a:t>
            </a:r>
            <a:r>
              <a:rPr lang="pt-BR" dirty="0" err="1"/>
              <a:t>Text</a:t>
            </a:r>
            <a:r>
              <a:rPr lang="pt-BR" dirty="0"/>
              <a:t> exibirá no app: “Olá Mundo!”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21: A propriedade </a:t>
            </a:r>
            <a:r>
              <a:rPr lang="pt-BR" dirty="0" err="1"/>
              <a:t>textDirection</a:t>
            </a:r>
            <a:r>
              <a:rPr lang="pt-BR" dirty="0"/>
              <a:t> está definida como </a:t>
            </a:r>
            <a:r>
              <a:rPr lang="pt-BR" dirty="0" err="1"/>
              <a:t>ltr</a:t>
            </a:r>
            <a:r>
              <a:rPr lang="pt-BR" dirty="0"/>
              <a:t>, pois o texto será lido da esquerda para direita.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22: A propriedade </a:t>
            </a:r>
            <a:r>
              <a:rPr lang="pt-BR" dirty="0" err="1"/>
              <a:t>TextStyle</a:t>
            </a:r>
            <a:r>
              <a:rPr lang="pt-BR" dirty="0"/>
              <a:t> define o estilo do texto.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23: A propriedade </a:t>
            </a:r>
            <a:r>
              <a:rPr lang="pt-BR" dirty="0" err="1"/>
              <a:t>fontSize</a:t>
            </a:r>
            <a:r>
              <a:rPr lang="pt-BR" dirty="0"/>
              <a:t> define o tamanho da fonte como 32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24: A propriedade color define a cor da fonte como </a:t>
            </a:r>
            <a:r>
              <a:rPr lang="pt-BR" dirty="0" err="1"/>
              <a:t>white</a:t>
            </a:r>
            <a:r>
              <a:rPr lang="pt-BR" dirty="0"/>
              <a:t> (branco) </a:t>
            </a:r>
          </a:p>
          <a:p>
            <a:r>
              <a:rPr lang="pt-BR" dirty="0"/>
              <a:t>Após executarmos esse código o resultado deverá se parecer com a </a:t>
            </a:r>
            <a:r>
              <a:rPr lang="pt-BR" b="1" dirty="0"/>
              <a:t>Figura 3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37100E-58FC-C04E-74D7-FB8B22A09FB7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05EFB183-0A29-8C66-432D-D92E4D60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85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7337-E91B-7421-DA5D-2CDF3068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05C0869-76DE-0E57-4CF4-9A8901461F4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542814-D5AE-2E19-FFF2-8EB52215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96BD9C-5013-0207-9733-4643EFD8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9094" y="1825625"/>
            <a:ext cx="4684706" cy="4351338"/>
          </a:xfrm>
        </p:spPr>
        <p:txBody>
          <a:bodyPr/>
          <a:lstStyle/>
          <a:p>
            <a:r>
              <a:rPr lang="pt-BR" dirty="0"/>
              <a:t>Podemos ver na </a:t>
            </a:r>
            <a:r>
              <a:rPr lang="pt-BR" b="1" dirty="0"/>
              <a:t>Figura 4</a:t>
            </a:r>
            <a:r>
              <a:rPr lang="pt-BR" dirty="0"/>
              <a:t> que a altura de Row é o dobro da altura de </a:t>
            </a:r>
            <a:r>
              <a:rPr lang="pt-BR" dirty="0" err="1"/>
              <a:t>Text</a:t>
            </a:r>
            <a:r>
              <a:rPr lang="pt-BR" dirty="0"/>
              <a:t>, conforme foi definido pela propriedade </a:t>
            </a:r>
            <a:r>
              <a:rPr lang="pt-BR" dirty="0" err="1"/>
              <a:t>heightFactor</a:t>
            </a:r>
            <a:r>
              <a:rPr lang="pt-BR" dirty="0"/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3939638-669C-59E7-0929-15F1201E2C6F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D8FC8B-7B74-FF67-C75B-4826D07F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7" y="188535"/>
            <a:ext cx="5277811" cy="272091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08C9873-D8FA-A51E-205C-522469D9D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787" y="4826841"/>
            <a:ext cx="7463034" cy="187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2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19B11-D349-3E71-1658-007C0B44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840A3E0-BBD1-EFCA-0B95-A29B6F21351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D00CEE-043B-A0BE-AB57-6A0F545A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Column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F9040-C3A1-CFD9-FDA2-89443AE41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Com esse Widget alinhamos os Widgets na tela do app no sentido vertical, como se fizessem parte de uma coluna.</a:t>
            </a:r>
          </a:p>
          <a:p>
            <a:r>
              <a:rPr lang="pt-BR" dirty="0"/>
              <a:t>Para customizar esse alinhamento utilizamos as seguintes propriedades: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mainAxisAlignment</a:t>
            </a:r>
            <a:r>
              <a:rPr lang="pt-BR" dirty="0"/>
              <a:t>: que alinha os filhos no eixo principal.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crossAxisAlignment</a:t>
            </a:r>
            <a:r>
              <a:rPr lang="pt-BR" dirty="0"/>
              <a:t>: que alinha os filhos no eixo transversal</a:t>
            </a:r>
          </a:p>
          <a:p>
            <a:r>
              <a:rPr lang="pt-BR" dirty="0"/>
              <a:t>Em um Widget </a:t>
            </a:r>
            <a:r>
              <a:rPr lang="pt-BR" dirty="0" err="1"/>
              <a:t>Column</a:t>
            </a:r>
            <a:r>
              <a:rPr lang="pt-BR" dirty="0"/>
              <a:t> o eixo principal é vertical e o eixo transversal é horizontal.</a:t>
            </a:r>
          </a:p>
          <a:p>
            <a:r>
              <a:rPr lang="pt-BR" b="1" dirty="0"/>
              <a:t>Exemplo de layout com </a:t>
            </a:r>
            <a:r>
              <a:rPr lang="pt-BR" b="1" dirty="0" err="1"/>
              <a:t>Column</a:t>
            </a:r>
            <a:endParaRPr lang="pt-BR" b="1" dirty="0"/>
          </a:p>
          <a:p>
            <a:r>
              <a:rPr lang="pt-BR" dirty="0"/>
              <a:t>Nesse exemplo criamos um layout com </a:t>
            </a:r>
            <a:r>
              <a:rPr lang="pt-BR" dirty="0" err="1"/>
              <a:t>Column</a:t>
            </a:r>
            <a:r>
              <a:rPr lang="pt-BR" dirty="0"/>
              <a:t> que terá como filhos três Widgets </a:t>
            </a:r>
            <a:r>
              <a:rPr lang="pt-BR" dirty="0" err="1"/>
              <a:t>Image</a:t>
            </a:r>
            <a:r>
              <a:rPr lang="pt-BR" dirty="0"/>
              <a:t> alinhados no sentido vertical, conforme a </a:t>
            </a:r>
            <a:r>
              <a:rPr lang="pt-BR" b="1" dirty="0"/>
              <a:t>Figura 4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788AAB6-9738-4064-B0AD-614402C15C2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441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048D-9299-3652-0A65-CC7565C5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76BC70E-2DCC-945D-5339-0D029C80D1C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26165A-51D4-B1BB-C44B-62C00B8E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9199F7-A227-2C5E-782B-C8833EBE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A745EF-F5B3-5CFC-D536-90F3B896CA46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603605-3F9C-B927-473C-F62CE69F6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462" y="221530"/>
            <a:ext cx="3415854" cy="65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20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F5EA-A0D9-90E8-26B5-5386375CB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E87C1E2-A719-B9EE-4226-9583C2AD7DF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5F5466-2C3C-DE32-8050-89A94646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Column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977878-FDB7-0E61-86FC-270FA955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pt-BR" dirty="0" err="1"/>
              <a:t>import</a:t>
            </a:r>
            <a:r>
              <a:rPr lang="pt-BR" dirty="0"/>
              <a:t> '</a:t>
            </a:r>
            <a:r>
              <a:rPr lang="pt-BR" dirty="0" err="1"/>
              <a:t>package:flutter</a:t>
            </a:r>
            <a:r>
              <a:rPr lang="pt-BR" dirty="0"/>
              <a:t>/</a:t>
            </a:r>
            <a:r>
              <a:rPr lang="pt-BR" dirty="0" err="1"/>
              <a:t>material.dart</a:t>
            </a:r>
            <a:r>
              <a:rPr lang="pt-BR" dirty="0"/>
              <a:t>';</a:t>
            </a:r>
          </a:p>
          <a:p>
            <a:endParaRPr lang="pt-BR" dirty="0"/>
          </a:p>
          <a:p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</a:t>
            </a:r>
            <a:r>
              <a:rPr lang="pt-BR" dirty="0" err="1"/>
              <a:t>runApp</a:t>
            </a:r>
            <a:r>
              <a:rPr lang="pt-BR" dirty="0"/>
              <a:t>(</a:t>
            </a:r>
            <a:r>
              <a:rPr lang="pt-BR" dirty="0" err="1"/>
              <a:t>MyApp</a:t>
            </a:r>
            <a:r>
              <a:rPr lang="pt-BR" dirty="0"/>
              <a:t>());</a:t>
            </a:r>
          </a:p>
          <a:p>
            <a:r>
              <a:rPr lang="pt-BR" dirty="0"/>
              <a:t>  }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StatelessWidget</a:t>
            </a:r>
            <a:r>
              <a:rPr lang="pt-BR" dirty="0"/>
              <a:t> {</a:t>
            </a:r>
          </a:p>
          <a:p>
            <a:r>
              <a:rPr lang="pt-BR" dirty="0"/>
              <a:t>  // </a:t>
            </a:r>
            <a:r>
              <a:rPr lang="pt-BR" dirty="0" err="1"/>
              <a:t>This</a:t>
            </a:r>
            <a:r>
              <a:rPr lang="pt-BR" dirty="0"/>
              <a:t> widget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root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application</a:t>
            </a:r>
            <a:r>
              <a:rPr lang="pt-BR" dirty="0"/>
              <a:t>.</a:t>
            </a:r>
          </a:p>
          <a:p>
            <a:r>
              <a:rPr lang="pt-BR" dirty="0"/>
              <a:t>   @override</a:t>
            </a:r>
          </a:p>
          <a:p>
            <a:r>
              <a:rPr lang="pt-BR" dirty="0"/>
              <a:t> Widget build(</a:t>
            </a:r>
            <a:r>
              <a:rPr lang="pt-BR" dirty="0" err="1"/>
              <a:t>BuildContext</a:t>
            </a:r>
            <a:r>
              <a:rPr lang="pt-BR" dirty="0"/>
              <a:t> </a:t>
            </a:r>
            <a:r>
              <a:rPr lang="pt-BR" dirty="0" err="1"/>
              <a:t>context</a:t>
            </a:r>
            <a:r>
              <a:rPr lang="pt-BR" dirty="0"/>
              <a:t>) {</a:t>
            </a:r>
          </a:p>
          <a:p>
            <a:r>
              <a:rPr lang="pt-BR" dirty="0"/>
              <a:t>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MaterialApp</a:t>
            </a:r>
            <a:r>
              <a:rPr lang="pt-BR" dirty="0"/>
              <a:t>(</a:t>
            </a:r>
          </a:p>
          <a:p>
            <a:r>
              <a:rPr lang="pt-BR" dirty="0"/>
              <a:t>     home: </a:t>
            </a:r>
            <a:r>
              <a:rPr lang="pt-BR" dirty="0" err="1"/>
              <a:t>Scaffold</a:t>
            </a:r>
            <a:r>
              <a:rPr lang="pt-BR" dirty="0"/>
              <a:t>(</a:t>
            </a:r>
          </a:p>
          <a:p>
            <a:r>
              <a:rPr lang="pt-BR" dirty="0"/>
              <a:t>       </a:t>
            </a:r>
            <a:r>
              <a:rPr lang="pt-BR" dirty="0" err="1"/>
              <a:t>appBar</a:t>
            </a:r>
            <a:r>
              <a:rPr lang="pt-BR" dirty="0"/>
              <a:t>: </a:t>
            </a:r>
            <a:r>
              <a:rPr lang="pt-BR" dirty="0" err="1"/>
              <a:t>AppBar</a:t>
            </a:r>
            <a:r>
              <a:rPr lang="pt-BR" dirty="0"/>
              <a:t>(</a:t>
            </a:r>
          </a:p>
          <a:p>
            <a:r>
              <a:rPr lang="pt-BR" dirty="0"/>
              <a:t>         </a:t>
            </a:r>
            <a:r>
              <a:rPr lang="pt-BR" dirty="0" err="1"/>
              <a:t>title</a:t>
            </a:r>
            <a:r>
              <a:rPr lang="pt-BR" dirty="0"/>
              <a:t>: </a:t>
            </a:r>
            <a:r>
              <a:rPr lang="pt-BR" dirty="0" err="1"/>
              <a:t>Text</a:t>
            </a:r>
            <a:r>
              <a:rPr lang="pt-BR" dirty="0"/>
              <a:t>('</a:t>
            </a:r>
            <a:r>
              <a:rPr lang="pt-BR" dirty="0" err="1"/>
              <a:t>Flutter</a:t>
            </a:r>
            <a:r>
              <a:rPr lang="pt-BR" dirty="0"/>
              <a:t> layouts'),</a:t>
            </a:r>
          </a:p>
          <a:p>
            <a:r>
              <a:rPr lang="pt-BR" dirty="0"/>
              <a:t>       ),</a:t>
            </a:r>
          </a:p>
          <a:p>
            <a:r>
              <a:rPr lang="pt-BR" dirty="0"/>
              <a:t>       body: Center(</a:t>
            </a:r>
          </a:p>
          <a:p>
            <a:r>
              <a:rPr lang="pt-BR" dirty="0"/>
              <a:t>         </a:t>
            </a:r>
            <a:r>
              <a:rPr lang="pt-BR" dirty="0" err="1"/>
              <a:t>child</a:t>
            </a:r>
            <a:r>
              <a:rPr lang="pt-BR" dirty="0"/>
              <a:t>: </a:t>
            </a:r>
            <a:r>
              <a:rPr lang="pt-BR" dirty="0" err="1"/>
              <a:t>Column</a:t>
            </a:r>
            <a:r>
              <a:rPr lang="pt-BR" dirty="0"/>
              <a:t>(</a:t>
            </a:r>
          </a:p>
          <a:p>
            <a:r>
              <a:rPr lang="pt-BR" dirty="0"/>
              <a:t>               </a:t>
            </a:r>
            <a:r>
              <a:rPr lang="pt-BR" dirty="0" err="1"/>
              <a:t>mainAxisAlignment</a:t>
            </a:r>
            <a:r>
              <a:rPr lang="pt-BR" dirty="0"/>
              <a:t>: </a:t>
            </a:r>
            <a:r>
              <a:rPr lang="pt-BR" dirty="0" err="1"/>
              <a:t>MainAxisAlignment.spaceEvenly</a:t>
            </a:r>
            <a:r>
              <a:rPr lang="pt-BR" dirty="0"/>
              <a:t>,</a:t>
            </a:r>
          </a:p>
          <a:p>
            <a:r>
              <a:rPr lang="pt-BR" dirty="0"/>
              <a:t>               </a:t>
            </a:r>
            <a:r>
              <a:rPr lang="pt-BR" dirty="0" err="1"/>
              <a:t>children</a:t>
            </a:r>
            <a:r>
              <a:rPr lang="pt-BR" dirty="0"/>
              <a:t>: [</a:t>
            </a:r>
          </a:p>
          <a:p>
            <a:r>
              <a:rPr lang="pt-BR" dirty="0"/>
              <a:t>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/lands_01.jpg'),</a:t>
            </a:r>
          </a:p>
          <a:p>
            <a:r>
              <a:rPr lang="pt-BR" dirty="0"/>
              <a:t>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/lands_02.jpg'),</a:t>
            </a:r>
          </a:p>
          <a:p>
            <a:r>
              <a:rPr lang="pt-BR" dirty="0"/>
              <a:t>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/lands_03.jpg'),</a:t>
            </a:r>
          </a:p>
          <a:p>
            <a:r>
              <a:rPr lang="pt-BR" dirty="0"/>
              <a:t>               ],</a:t>
            </a:r>
          </a:p>
          <a:p>
            <a:r>
              <a:rPr lang="pt-BR" dirty="0"/>
              <a:t>         ),</a:t>
            </a:r>
          </a:p>
          <a:p>
            <a:r>
              <a:rPr lang="pt-BR" dirty="0"/>
              <a:t>       ),</a:t>
            </a:r>
          </a:p>
          <a:p>
            <a:endParaRPr lang="pt-BR" dirty="0"/>
          </a:p>
          <a:p>
            <a:r>
              <a:rPr lang="pt-BR" dirty="0"/>
              <a:t>     )</a:t>
            </a:r>
          </a:p>
          <a:p>
            <a:r>
              <a:rPr lang="pt-BR" dirty="0"/>
              <a:t>   );</a:t>
            </a:r>
          </a:p>
          <a:p>
            <a:r>
              <a:rPr lang="pt-BR" dirty="0"/>
              <a:t> }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44072C1-2BFA-0554-8395-C2F8203F44D3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18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5C5C-DE56-3C12-6225-E519D6F8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45F90C7A-97CE-F7E7-A57C-C1CBD9022BC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6BD562-3969-32A8-E99F-B5B6E016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Column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F61A5-BBAC-7D25-90F2-567239AB9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415"/>
            <a:ext cx="10515600" cy="4730548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Nas explicações a seguir nos concentramos nos trechos relacionados com o assunto deste artigo, destacando assim as suas linhas principais nesse contexto.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11: o método build retorna </a:t>
            </a:r>
            <a:r>
              <a:rPr lang="pt-BR" dirty="0" err="1"/>
              <a:t>MaterialApp</a:t>
            </a:r>
            <a:r>
              <a:rPr lang="pt-BR" dirty="0"/>
              <a:t> como o Widget principal do app;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12: o Widget </a:t>
            </a:r>
            <a:r>
              <a:rPr lang="pt-BR" dirty="0" err="1"/>
              <a:t>Scaffold</a:t>
            </a:r>
            <a:r>
              <a:rPr lang="pt-BR" dirty="0"/>
              <a:t> é usado para compor a página home;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13: Widget </a:t>
            </a:r>
            <a:r>
              <a:rPr lang="pt-BR" dirty="0" err="1"/>
              <a:t>AppBar</a:t>
            </a:r>
            <a:r>
              <a:rPr lang="pt-BR" dirty="0"/>
              <a:t> que cria uma barra para o aplicativo;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Widget </a:t>
            </a:r>
            <a:r>
              <a:rPr lang="pt-BR" dirty="0" err="1"/>
              <a:t>Text</a:t>
            </a:r>
            <a:r>
              <a:rPr lang="pt-BR" dirty="0"/>
              <a:t> exibe o título do aplicativo na </a:t>
            </a:r>
            <a:r>
              <a:rPr lang="pt-BR" dirty="0" err="1"/>
              <a:t>AppBar</a:t>
            </a:r>
            <a:r>
              <a:rPr lang="pt-BR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16: O Widget Center ocupa o corpo do Widget </a:t>
            </a:r>
            <a:r>
              <a:rPr lang="pt-BR" dirty="0" err="1"/>
              <a:t>Scaffold</a:t>
            </a:r>
            <a:r>
              <a:rPr lang="pt-BR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17: O Widget </a:t>
            </a:r>
            <a:r>
              <a:rPr lang="pt-BR" dirty="0" err="1"/>
              <a:t>Column</a:t>
            </a:r>
            <a:r>
              <a:rPr lang="pt-BR" dirty="0"/>
              <a:t> vai alinhar seus filhos no sentido vertical.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18: A propriedade </a:t>
            </a:r>
            <a:r>
              <a:rPr lang="pt-BR" dirty="0" err="1"/>
              <a:t>mainAxisAlignment</a:t>
            </a:r>
            <a:r>
              <a:rPr lang="pt-BR" dirty="0"/>
              <a:t> está configurada como </a:t>
            </a:r>
            <a:r>
              <a:rPr lang="pt-BR" dirty="0" err="1"/>
              <a:t>spaceEvenly</a:t>
            </a:r>
            <a:r>
              <a:rPr lang="pt-BR" dirty="0"/>
              <a:t> para distribuir igualmente os espaços entre os Widgets filhos de </a:t>
            </a:r>
            <a:r>
              <a:rPr lang="pt-BR" dirty="0" err="1"/>
              <a:t>Column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20 a 22: Três Widgets </a:t>
            </a:r>
            <a:r>
              <a:rPr lang="pt-BR" dirty="0" err="1"/>
              <a:t>Image</a:t>
            </a:r>
            <a:r>
              <a:rPr lang="pt-BR" dirty="0"/>
              <a:t> estão compondo o layout de </a:t>
            </a:r>
            <a:r>
              <a:rPr lang="pt-BR" dirty="0" err="1"/>
              <a:t>Column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25368A9-F10E-2CEE-002B-1749ED71882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33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43410-4A32-D32E-4D62-3DCF9043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3641A95F-9B06-D3EC-7788-4C7C29AA4E30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F825F3-D4C7-828C-4E86-05C4E0A7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Utilização de imagens em projetos </a:t>
            </a:r>
            <a:r>
              <a:rPr lang="pt-BR" dirty="0" err="1"/>
              <a:t>Flutter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135EBD-ADCF-7E8E-AADC-B208C40D9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Para utilizarmos imagens em projetos </a:t>
            </a:r>
            <a:r>
              <a:rPr lang="pt-BR" dirty="0" err="1"/>
              <a:t>Flutter</a:t>
            </a:r>
            <a:r>
              <a:rPr lang="pt-BR" dirty="0"/>
              <a:t>, conforme o exemplo acima, temos que criar um diretório chamado </a:t>
            </a:r>
            <a:r>
              <a:rPr lang="pt-BR" dirty="0" err="1"/>
              <a:t>images</a:t>
            </a:r>
            <a:r>
              <a:rPr lang="pt-BR" dirty="0"/>
              <a:t> na raiz do projeto e copiar para ele as imagens que queremos usar. Também precisamos alterar o arquivo </a:t>
            </a:r>
            <a:r>
              <a:rPr lang="pt-BR" dirty="0" err="1"/>
              <a:t>pubspec.yaml</a:t>
            </a:r>
            <a:r>
              <a:rPr lang="pt-BR" dirty="0"/>
              <a:t> no diretório raiz. Para isso, abra o arquivo e localize o seguinte trecho de código dentro dele:</a:t>
            </a:r>
          </a:p>
          <a:p>
            <a:r>
              <a:rPr lang="en-US" dirty="0"/>
              <a:t># The following section is specific to Flutter.</a:t>
            </a:r>
          </a:p>
          <a:p>
            <a:r>
              <a:rPr lang="en-US" dirty="0"/>
              <a:t>flutter:</a:t>
            </a:r>
          </a:p>
          <a:p>
            <a:r>
              <a:rPr lang="en-US" dirty="0"/>
              <a:t>  assets: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B19A3D-29A9-A45E-D839-B1E514181A5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23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3981-325C-E31A-9E40-C7FA54C3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191D69BE-FF30-55D1-2026-D28F11601D99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6807B4-0A69-59D0-B0A2-4279C887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Utilização de imagens em projetos </a:t>
            </a:r>
            <a:r>
              <a:rPr lang="pt-BR" dirty="0" err="1"/>
              <a:t>Flutter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838DE0-1F1A-268F-31F8-4A98560FC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Altere para o seguinte:</a:t>
            </a:r>
          </a:p>
          <a:p>
            <a:pPr marL="0" indent="0">
              <a:buNone/>
            </a:pPr>
            <a:r>
              <a:rPr lang="en-US" dirty="0"/>
              <a:t># The following section is specific to Flutter.</a:t>
            </a:r>
          </a:p>
          <a:p>
            <a:pPr marL="0" indent="0">
              <a:buNone/>
            </a:pPr>
            <a:r>
              <a:rPr lang="en-US" dirty="0"/>
              <a:t>flutter:</a:t>
            </a:r>
          </a:p>
          <a:p>
            <a:pPr marL="0" indent="0">
              <a:buNone/>
            </a:pPr>
            <a:r>
              <a:rPr lang="en-US" dirty="0"/>
              <a:t>  assets:</a:t>
            </a:r>
          </a:p>
          <a:p>
            <a:pPr marL="0" indent="0">
              <a:buNone/>
            </a:pPr>
            <a:r>
              <a:rPr lang="en-US" dirty="0"/>
              <a:t>     - images/lands_01.jpg</a:t>
            </a:r>
          </a:p>
          <a:p>
            <a:pPr marL="0" indent="0">
              <a:buNone/>
            </a:pPr>
            <a:r>
              <a:rPr lang="en-US" dirty="0"/>
              <a:t>     - images/lands_02.jpg</a:t>
            </a:r>
          </a:p>
          <a:p>
            <a:pPr marL="0" indent="0">
              <a:buNone/>
            </a:pPr>
            <a:r>
              <a:rPr lang="en-US" dirty="0"/>
              <a:t>     - images/lands_03.jpg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CB19FC-B01E-1DEA-89CD-ECB89CFA611A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3335DA-31DD-0346-FA1A-2DC5FAB7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814" y="1599213"/>
            <a:ext cx="3223539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53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7F51-5974-00D8-6009-B82C6772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2ADDEA47-2082-5CFE-7518-9C8EBF85693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E0723C-E867-8941-E751-2012F35F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8D0B99-9CBA-5C73-9A2D-C42C368A5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Usamos esse Widget para alinhamento horizontal, utilizando as seguintes propriedades: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mainAxisAlignment</a:t>
            </a:r>
            <a:r>
              <a:rPr lang="pt-BR" dirty="0"/>
              <a:t>: alinha os filhos no eixo principal.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crossAxisAlignment</a:t>
            </a:r>
            <a:r>
              <a:rPr lang="pt-BR" dirty="0"/>
              <a:t>: alinha os filhos no eixo transversal.</a:t>
            </a:r>
          </a:p>
          <a:p>
            <a:r>
              <a:rPr lang="pt-BR" dirty="0"/>
              <a:t>Em um Widget Row o eixo principal é horizontal e o eixo transversal é vertical.</a:t>
            </a:r>
          </a:p>
          <a:p>
            <a:r>
              <a:rPr lang="pt-BR" dirty="0"/>
              <a:t>Repare que o comportamento das propriedades acima é o inverso do que acontece com o Widget </a:t>
            </a:r>
            <a:r>
              <a:rPr lang="pt-BR" dirty="0" err="1"/>
              <a:t>Column</a:t>
            </a:r>
            <a:r>
              <a:rPr lang="pt-BR" dirty="0"/>
              <a:t>.</a:t>
            </a:r>
          </a:p>
          <a:p>
            <a:r>
              <a:rPr lang="pt-BR" b="1" dirty="0"/>
              <a:t>Exemplo de layout com Row</a:t>
            </a:r>
          </a:p>
          <a:p>
            <a:r>
              <a:rPr lang="pt-BR" dirty="0"/>
              <a:t>No exemplo da </a:t>
            </a:r>
            <a:r>
              <a:rPr lang="pt-BR" b="1" dirty="0"/>
              <a:t>Figura 6</a:t>
            </a:r>
            <a:r>
              <a:rPr lang="pt-BR" dirty="0"/>
              <a:t> usamos Row para exibir três imagens em uma tela do app, uma ao lado da outra.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FEA50A3-6A7C-AA34-3F08-1A2E6077CBC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02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386B-C4E3-8E4F-B313-B65BDFCB8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F2F75611-58C5-7C34-2697-7F22020B948B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41F113-9F75-1E37-9C26-8FD05868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CAC757E3-DD26-2DC5-431B-CEE27A372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473" y="238946"/>
            <a:ext cx="3526112" cy="6430518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AD1580F-F00E-D33F-11B0-0525DD82F93A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603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E029-8542-2B99-3C02-98C8ADBA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75B61AC0-3E13-E2E7-8A19-455EEA2CEAB7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97E5CA-4705-7E75-EDA4-3A07A7ED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CED1AA-92F1-D809-C14D-51771524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Usamos esse Widget para alinhamento horizontal, utilizando as seguintes propriedades: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mainAxisAlignment</a:t>
            </a:r>
            <a:r>
              <a:rPr lang="pt-BR" dirty="0"/>
              <a:t>: alinha os filhos no eixo principal.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 err="1"/>
              <a:t>crossAxisAlignment</a:t>
            </a:r>
            <a:r>
              <a:rPr lang="pt-BR" dirty="0"/>
              <a:t>: alinha os filhos no eixo transversal.</a:t>
            </a:r>
          </a:p>
          <a:p>
            <a:r>
              <a:rPr lang="pt-BR" dirty="0"/>
              <a:t>Em um Widget Row o eixo principal é horizontal e o eixo transversal é vertical.</a:t>
            </a:r>
          </a:p>
          <a:p>
            <a:r>
              <a:rPr lang="pt-BR" dirty="0"/>
              <a:t>Repare que o comportamento das propriedades acima é o inverso do que acontece com o Widget </a:t>
            </a:r>
            <a:r>
              <a:rPr lang="pt-BR" dirty="0" err="1"/>
              <a:t>Column</a:t>
            </a:r>
            <a:r>
              <a:rPr lang="pt-BR" dirty="0"/>
              <a:t>.</a:t>
            </a:r>
          </a:p>
          <a:p>
            <a:r>
              <a:rPr lang="pt-BR" b="1" dirty="0"/>
              <a:t>Exemplo de layout com Row</a:t>
            </a:r>
          </a:p>
          <a:p>
            <a:r>
              <a:rPr lang="pt-BR" dirty="0"/>
              <a:t>No exemplo da </a:t>
            </a:r>
            <a:r>
              <a:rPr lang="pt-BR" b="1" dirty="0"/>
              <a:t>Figura 6</a:t>
            </a:r>
            <a:r>
              <a:rPr lang="pt-BR" dirty="0"/>
              <a:t> usamos Row para exibir três imagens em uma tela do app, uma ao lado da outra.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AAEDA8B-0298-6586-E5AE-22C1847A5427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1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CADD-25F4-C510-1B7F-E2892A51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2C6F8334-C0C3-E767-570A-181A8BA84A3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BCAD75-FD6C-7FEA-CD39-BF1D34AD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F175B8-36EB-884A-D3D0-D8881B6C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pt-BR" dirty="0" err="1"/>
              <a:t>import</a:t>
            </a:r>
            <a:r>
              <a:rPr lang="pt-BR" dirty="0"/>
              <a:t> '</a:t>
            </a:r>
            <a:r>
              <a:rPr lang="pt-BR" dirty="0" err="1"/>
              <a:t>package:flutter</a:t>
            </a:r>
            <a:r>
              <a:rPr lang="pt-BR" dirty="0"/>
              <a:t>/</a:t>
            </a:r>
            <a:r>
              <a:rPr lang="pt-BR" dirty="0" err="1"/>
              <a:t>material.dart</a:t>
            </a:r>
            <a:r>
              <a:rPr lang="pt-BR" dirty="0"/>
              <a:t>';</a:t>
            </a:r>
          </a:p>
          <a:p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/>
              <a:t>  </a:t>
            </a:r>
            <a:r>
              <a:rPr lang="pt-BR" dirty="0" err="1"/>
              <a:t>runApp</a:t>
            </a:r>
            <a:r>
              <a:rPr lang="pt-BR" dirty="0"/>
              <a:t>(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());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StatelessWidget</a:t>
            </a:r>
            <a:r>
              <a:rPr lang="pt-BR" dirty="0"/>
              <a:t> {</a:t>
            </a:r>
          </a:p>
          <a:p>
            <a:r>
              <a:rPr lang="pt-BR" dirty="0"/>
              <a:t> 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MyApp</a:t>
            </a:r>
            <a:r>
              <a:rPr lang="pt-BR" dirty="0"/>
              <a:t>({Key? </a:t>
            </a:r>
            <a:r>
              <a:rPr lang="pt-BR" dirty="0" err="1"/>
              <a:t>key</a:t>
            </a:r>
            <a:r>
              <a:rPr lang="pt-BR" dirty="0"/>
              <a:t>}) : super (</a:t>
            </a:r>
            <a:r>
              <a:rPr lang="pt-BR" dirty="0" err="1"/>
              <a:t>key</a:t>
            </a:r>
            <a:r>
              <a:rPr lang="pt-BR" dirty="0"/>
              <a:t>: </a:t>
            </a:r>
            <a:r>
              <a:rPr lang="pt-BR" dirty="0" err="1"/>
              <a:t>key</a:t>
            </a:r>
            <a:r>
              <a:rPr lang="pt-BR" dirty="0"/>
              <a:t>);</a:t>
            </a:r>
          </a:p>
          <a:p>
            <a:r>
              <a:rPr lang="pt-BR" dirty="0"/>
              <a:t>  // </a:t>
            </a:r>
            <a:r>
              <a:rPr lang="pt-BR" dirty="0" err="1"/>
              <a:t>This</a:t>
            </a:r>
            <a:r>
              <a:rPr lang="pt-BR" dirty="0"/>
              <a:t> widget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root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application</a:t>
            </a:r>
            <a:r>
              <a:rPr lang="pt-BR" dirty="0"/>
              <a:t>.</a:t>
            </a:r>
          </a:p>
          <a:p>
            <a:r>
              <a:rPr lang="pt-BR" dirty="0"/>
              <a:t>  @override</a:t>
            </a:r>
          </a:p>
          <a:p>
            <a:r>
              <a:rPr lang="pt-BR" dirty="0"/>
              <a:t>  Widget build(</a:t>
            </a:r>
            <a:r>
              <a:rPr lang="pt-BR" dirty="0" err="1"/>
              <a:t>BuildContext</a:t>
            </a:r>
            <a:r>
              <a:rPr lang="pt-BR" dirty="0"/>
              <a:t> </a:t>
            </a:r>
            <a:r>
              <a:rPr lang="pt-BR" dirty="0" err="1"/>
              <a:t>context</a:t>
            </a:r>
            <a:r>
              <a:rPr lang="pt-BR" dirty="0"/>
              <a:t>) {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MaterialApp</a:t>
            </a:r>
            <a:r>
              <a:rPr lang="pt-BR" dirty="0"/>
              <a:t>(</a:t>
            </a:r>
          </a:p>
          <a:p>
            <a:r>
              <a:rPr lang="pt-BR" dirty="0"/>
              <a:t>      home: </a:t>
            </a:r>
            <a:r>
              <a:rPr lang="pt-BR" dirty="0" err="1"/>
              <a:t>Scaffold</a:t>
            </a:r>
            <a:r>
              <a:rPr lang="pt-BR" dirty="0"/>
              <a:t>(</a:t>
            </a:r>
          </a:p>
          <a:p>
            <a:r>
              <a:rPr lang="pt-BR" dirty="0"/>
              <a:t>        </a:t>
            </a:r>
            <a:r>
              <a:rPr lang="pt-BR" dirty="0" err="1"/>
              <a:t>appBar</a:t>
            </a:r>
            <a:r>
              <a:rPr lang="pt-BR" dirty="0"/>
              <a:t>: </a:t>
            </a:r>
            <a:r>
              <a:rPr lang="pt-BR" dirty="0" err="1"/>
              <a:t>AppBar</a:t>
            </a:r>
            <a:r>
              <a:rPr lang="pt-BR" dirty="0"/>
              <a:t>(</a:t>
            </a:r>
          </a:p>
          <a:p>
            <a:r>
              <a:rPr lang="pt-BR" dirty="0"/>
              <a:t>          </a:t>
            </a:r>
            <a:r>
              <a:rPr lang="pt-BR" dirty="0" err="1"/>
              <a:t>title</a:t>
            </a:r>
            <a:r>
              <a:rPr lang="pt-BR" dirty="0"/>
              <a:t>: 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('</a:t>
            </a:r>
            <a:r>
              <a:rPr lang="pt-BR" dirty="0" err="1"/>
              <a:t>Flutter</a:t>
            </a:r>
            <a:r>
              <a:rPr lang="pt-BR" dirty="0"/>
              <a:t> layouts'),</a:t>
            </a:r>
          </a:p>
          <a:p>
            <a:r>
              <a:rPr lang="pt-BR" dirty="0"/>
              <a:t>        ),</a:t>
            </a:r>
          </a:p>
          <a:p>
            <a:r>
              <a:rPr lang="pt-BR" dirty="0"/>
              <a:t>        body: Center(</a:t>
            </a:r>
          </a:p>
          <a:p>
            <a:r>
              <a:rPr lang="pt-BR" dirty="0"/>
              <a:t>          </a:t>
            </a:r>
            <a:r>
              <a:rPr lang="pt-BR" dirty="0" err="1"/>
              <a:t>child</a:t>
            </a:r>
            <a:r>
              <a:rPr lang="pt-BR" dirty="0"/>
              <a:t>: Row(</a:t>
            </a:r>
          </a:p>
          <a:p>
            <a:r>
              <a:rPr lang="pt-BR" dirty="0"/>
              <a:t>                </a:t>
            </a:r>
            <a:r>
              <a:rPr lang="pt-BR" dirty="0" err="1"/>
              <a:t>mainAxisAlignment</a:t>
            </a:r>
            <a:r>
              <a:rPr lang="pt-BR" dirty="0"/>
              <a:t>: </a:t>
            </a:r>
            <a:r>
              <a:rPr lang="pt-BR" dirty="0" err="1"/>
              <a:t>MainAxisAlignment.spaceEvenly</a:t>
            </a:r>
            <a:r>
              <a:rPr lang="pt-BR" dirty="0"/>
              <a:t>,</a:t>
            </a:r>
          </a:p>
          <a:p>
            <a:r>
              <a:rPr lang="pt-BR" dirty="0"/>
              <a:t>                </a:t>
            </a:r>
            <a:r>
              <a:rPr lang="pt-BR" dirty="0" err="1"/>
              <a:t>children</a:t>
            </a:r>
            <a:r>
              <a:rPr lang="pt-BR" dirty="0"/>
              <a:t>: [</a:t>
            </a:r>
          </a:p>
          <a:p>
            <a:r>
              <a:rPr lang="pt-BR" dirty="0"/>
              <a:t> 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/lands_01.jpg'),</a:t>
            </a:r>
          </a:p>
          <a:p>
            <a:r>
              <a:rPr lang="pt-BR" dirty="0"/>
              <a:t> 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/lands_02.jpg'),</a:t>
            </a:r>
          </a:p>
          <a:p>
            <a:r>
              <a:rPr lang="pt-BR" dirty="0"/>
              <a:t>                  </a:t>
            </a:r>
            <a:r>
              <a:rPr lang="pt-BR" dirty="0" err="1"/>
              <a:t>Image.asset</a:t>
            </a:r>
            <a:r>
              <a:rPr lang="pt-BR" dirty="0"/>
              <a:t>('</a:t>
            </a:r>
            <a:r>
              <a:rPr lang="pt-BR" dirty="0" err="1"/>
              <a:t>images</a:t>
            </a:r>
            <a:r>
              <a:rPr lang="pt-BR" dirty="0"/>
              <a:t>/lands_03.jpg'),</a:t>
            </a:r>
          </a:p>
          <a:p>
            <a:r>
              <a:rPr lang="pt-BR" dirty="0"/>
              <a:t>                ],</a:t>
            </a:r>
          </a:p>
          <a:p>
            <a:r>
              <a:rPr lang="pt-BR" dirty="0"/>
              <a:t>          ),</a:t>
            </a:r>
          </a:p>
          <a:p>
            <a:r>
              <a:rPr lang="pt-BR" dirty="0"/>
              <a:t>        ),</a:t>
            </a:r>
          </a:p>
          <a:p>
            <a:r>
              <a:rPr lang="pt-BR" dirty="0"/>
              <a:t>      )</a:t>
            </a:r>
          </a:p>
          <a:p>
            <a:r>
              <a:rPr lang="pt-BR" dirty="0"/>
              <a:t>    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F8084BE-804D-99C8-5E6F-6B8AC9852A28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5562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F7FD-BDE1-E241-8140-8ED0C1CE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2636ACC0-F234-FA76-2DA4-0D0654DB808D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29190-9CCA-5E72-AE24-FD3CC313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6AD05B-DF05-C7DE-D824-7C988F0C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Explicando o código: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12: o método build retorna </a:t>
            </a:r>
            <a:r>
              <a:rPr lang="pt-BR" dirty="0" err="1"/>
              <a:t>MaterialApp</a:t>
            </a:r>
            <a:r>
              <a:rPr lang="pt-BR" dirty="0"/>
              <a:t> como o Widget principal do app;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13: o Widget </a:t>
            </a:r>
            <a:r>
              <a:rPr lang="pt-BR" dirty="0" err="1"/>
              <a:t>Scaffold</a:t>
            </a:r>
            <a:r>
              <a:rPr lang="pt-BR" dirty="0"/>
              <a:t> é usado para compor a página home;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14: Widget </a:t>
            </a:r>
            <a:r>
              <a:rPr lang="pt-BR" dirty="0" err="1"/>
              <a:t>AppBar</a:t>
            </a:r>
            <a:r>
              <a:rPr lang="pt-BR" dirty="0"/>
              <a:t> que cria uma barra para o aplicativo;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15: Um Widget </a:t>
            </a:r>
            <a:r>
              <a:rPr lang="pt-BR" dirty="0" err="1"/>
              <a:t>Text</a:t>
            </a:r>
            <a:r>
              <a:rPr lang="pt-BR" dirty="0"/>
              <a:t> exibe o título do aplicativo na </a:t>
            </a:r>
            <a:r>
              <a:rPr lang="pt-BR" dirty="0" err="1"/>
              <a:t>AppBar</a:t>
            </a:r>
            <a:r>
              <a:rPr lang="pt-BR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17: O Widget Center ocupa o corpo do Widget </a:t>
            </a:r>
            <a:r>
              <a:rPr lang="pt-BR" dirty="0" err="1"/>
              <a:t>Scaffold</a:t>
            </a:r>
            <a:r>
              <a:rPr lang="pt-BR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18: O Widget Row vai alinhar seus filhos no sentido horizontal;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19: A propriedade </a:t>
            </a:r>
            <a:r>
              <a:rPr lang="pt-BR" dirty="0" err="1"/>
              <a:t>mainAxisAlignment</a:t>
            </a:r>
            <a:r>
              <a:rPr lang="pt-BR" dirty="0"/>
              <a:t> está configurada como </a:t>
            </a:r>
            <a:r>
              <a:rPr lang="pt-BR" dirty="0" err="1"/>
              <a:t>spaceEvenly</a:t>
            </a:r>
            <a:r>
              <a:rPr lang="pt-BR" dirty="0"/>
              <a:t> para distribuir igualmente os espaços entre os Widgets filhos do Widget Center;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Linha 21 a 23: Três Widgets </a:t>
            </a:r>
            <a:r>
              <a:rPr lang="pt-BR" dirty="0" err="1"/>
              <a:t>Image</a:t>
            </a:r>
            <a:r>
              <a:rPr lang="pt-BR" dirty="0"/>
              <a:t> estão compondo o layout de Center.</a:t>
            </a:r>
          </a:p>
          <a:p>
            <a:r>
              <a:rPr lang="pt-BR" dirty="0"/>
              <a:t>Ao executar o app o resultado apresentado deve se parecer com o que vemos na </a:t>
            </a:r>
            <a:r>
              <a:rPr lang="pt-BR" b="1" dirty="0"/>
              <a:t>Figura 7</a:t>
            </a:r>
            <a:r>
              <a:rPr lang="pt-BR" dirty="0"/>
              <a:t>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5AAC4FA-C2DE-8B64-117D-1B8D1CD87C5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122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C294-0927-BE5A-E16B-B4C4FCDD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7BEFBEA9-8194-B31F-CB65-A9570E0C7F9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AF2AF2-9B0D-5AE4-621E-781B1784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Row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EF66D4E-4D6C-BAC8-7001-935567541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0718" y="365125"/>
            <a:ext cx="3926002" cy="6357712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6E8FA3-B18B-7F41-6F3B-DAE96183F7BD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963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A7B3-9A0A-368D-3BB3-65149B73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982DD329-BB3B-916F-148D-6D9A136B005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B4BA59-CE17-46B8-83AE-4A651ACB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Bora </a:t>
            </a:r>
            <a:r>
              <a:rPr lang="pt-BR" dirty="0" err="1"/>
              <a:t>codar</a:t>
            </a:r>
            <a:r>
              <a:rPr lang="pt-BR" dirty="0"/>
              <a:t>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C6ACB-5ECE-B76D-DA70-869B1F3A2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Vamos fazer um App, básico, que tenha um título, exiba imagens centralizadas, pequenas, uma embaixo da outra, com sua devida legenda.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D879C7B-F43E-8447-B5C0-BC1A87CF3E5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35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E064-571F-0632-E93B-C00D630A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8B9FE98D-CDF3-61D0-60BE-D46B1717A5A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7E982D-8163-F495-7038-2AFBF9D9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Bora </a:t>
            </a:r>
            <a:r>
              <a:rPr lang="pt-BR" dirty="0" err="1"/>
              <a:t>codar</a:t>
            </a:r>
            <a:r>
              <a:rPr lang="pt-BR" dirty="0"/>
              <a:t>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11701-4017-BB35-B1ED-5A66D5E69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 – Explicando algumas funcionalidades...</a:t>
            </a:r>
          </a:p>
          <a:p>
            <a:r>
              <a:rPr lang="pt-BR" dirty="0" err="1"/>
              <a:t>MaterialApp</a:t>
            </a:r>
            <a:r>
              <a:rPr lang="pt-BR" dirty="0"/>
              <a:t> → Inicializa o app com tema Material Design.</a:t>
            </a:r>
          </a:p>
          <a:p>
            <a:r>
              <a:rPr lang="pt-BR" dirty="0" err="1"/>
              <a:t>Scaffold</a:t>
            </a:r>
            <a:r>
              <a:rPr lang="pt-BR" dirty="0"/>
              <a:t> → Estrutura visual com </a:t>
            </a:r>
            <a:r>
              <a:rPr lang="pt-BR" dirty="0" err="1"/>
              <a:t>AppBar</a:t>
            </a:r>
            <a:r>
              <a:rPr lang="pt-BR" dirty="0"/>
              <a:t> e body.</a:t>
            </a:r>
          </a:p>
          <a:p>
            <a:r>
              <a:rPr lang="pt-BR" dirty="0" err="1"/>
              <a:t>SingleChildScrollView</a:t>
            </a:r>
            <a:r>
              <a:rPr lang="pt-BR" dirty="0"/>
              <a:t> → Permite que o conteúdo role verticalmente.</a:t>
            </a:r>
          </a:p>
          <a:p>
            <a:r>
              <a:rPr lang="pt-BR" dirty="0"/>
              <a:t>Center + </a:t>
            </a:r>
            <a:r>
              <a:rPr lang="pt-BR" dirty="0" err="1"/>
              <a:t>Column</a:t>
            </a:r>
            <a:r>
              <a:rPr lang="pt-BR" dirty="0"/>
              <a:t> → Centraliza e empilha os widgets verticalmente.</a:t>
            </a:r>
          </a:p>
          <a:p>
            <a:r>
              <a:rPr lang="pt-BR" dirty="0" err="1"/>
              <a:t>ImageCard</a:t>
            </a:r>
            <a:r>
              <a:rPr lang="pt-BR" dirty="0"/>
              <a:t> → Componente personalizado que junta imagem + texto.</a:t>
            </a:r>
          </a:p>
          <a:p>
            <a:r>
              <a:rPr lang="pt-BR" dirty="0" err="1"/>
              <a:t>Image.asset</a:t>
            </a:r>
            <a:r>
              <a:rPr lang="pt-BR" dirty="0"/>
              <a:t> → Carrega uma imagem local do diretório </a:t>
            </a:r>
            <a:r>
              <a:rPr lang="pt-BR" dirty="0" err="1"/>
              <a:t>assets</a:t>
            </a:r>
            <a:r>
              <a:rPr lang="pt-BR" dirty="0"/>
              <a:t>/.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E149775-5FFC-F864-E91F-3DC1055E87C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397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092C-8AA1-6E90-47C1-D7F1D6FFF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7B8F874A-7CA5-7BF1-3592-DF441AEE3B8E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A20DDF-8D32-2098-E7E7-C561EA6B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Bora </a:t>
            </a:r>
            <a:r>
              <a:rPr lang="pt-BR" dirty="0" err="1"/>
              <a:t>codar</a:t>
            </a:r>
            <a:r>
              <a:rPr lang="pt-BR" dirty="0"/>
              <a:t>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0F691-AEF4-E841-00EB-E0AC91C8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2 – Crie um diretório chamado </a:t>
            </a:r>
            <a:r>
              <a:rPr lang="pt-BR" dirty="0" err="1"/>
              <a:t>assets</a:t>
            </a:r>
            <a:r>
              <a:rPr lang="pt-BR" dirty="0"/>
              <a:t> e coloque </a:t>
            </a:r>
            <a:r>
              <a:rPr lang="pt-BR"/>
              <a:t>as imagens lá.</a:t>
            </a:r>
            <a:endParaRPr lang="pt-BR" dirty="0"/>
          </a:p>
          <a:p>
            <a:r>
              <a:rPr lang="pt-BR" dirty="0"/>
              <a:t>3 – Edite o arquivo </a:t>
            </a:r>
            <a:r>
              <a:rPr lang="pt-BR" dirty="0" err="1"/>
              <a:t>pubspec.yaml</a:t>
            </a:r>
            <a:r>
              <a:rPr lang="pt-BR" dirty="0"/>
              <a:t> e adicione o seguinte código:</a:t>
            </a:r>
            <a:br>
              <a:rPr lang="pt-BR" dirty="0"/>
            </a:br>
            <a:r>
              <a:rPr lang="pt-BR" dirty="0" err="1"/>
              <a:t>flutter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err="1"/>
              <a:t>assets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	    - </a:t>
            </a:r>
            <a:r>
              <a:rPr lang="pt-BR" dirty="0" err="1"/>
              <a:t>assets</a:t>
            </a:r>
            <a:r>
              <a:rPr lang="pt-BR" dirty="0"/>
              <a:t>/desert.jpg</a:t>
            </a:r>
          </a:p>
          <a:p>
            <a:pPr marL="0" indent="0">
              <a:buNone/>
            </a:pPr>
            <a:r>
              <a:rPr lang="pt-BR" dirty="0"/>
              <a:t>	    - </a:t>
            </a:r>
            <a:r>
              <a:rPr lang="pt-BR" dirty="0" err="1"/>
              <a:t>assets</a:t>
            </a:r>
            <a:r>
              <a:rPr lang="pt-BR" dirty="0"/>
              <a:t>/alps.jpg</a:t>
            </a:r>
          </a:p>
          <a:p>
            <a:pPr marL="0" indent="0">
              <a:buNone/>
            </a:pPr>
            <a:r>
              <a:rPr lang="pt-BR" dirty="0"/>
              <a:t>	    - </a:t>
            </a:r>
            <a:r>
              <a:rPr lang="pt-BR" dirty="0" err="1"/>
              <a:t>assets</a:t>
            </a:r>
            <a:r>
              <a:rPr lang="pt-BR" dirty="0"/>
              <a:t>/beach.jpg</a:t>
            </a:r>
          </a:p>
          <a:p>
            <a:r>
              <a:rPr lang="pt-BR" dirty="0"/>
              <a:t>OBS: cuidado com a indentação do código.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6C80485-E319-8FC6-8250-A71DACF717E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618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1538</TotalTime>
  <Words>2028</Words>
  <Application>Microsoft Office PowerPoint</Application>
  <PresentationFormat>Widescreen</PresentationFormat>
  <Paragraphs>215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do Office</vt:lpstr>
      <vt:lpstr>Apresentação do PowerPoint</vt:lpstr>
      <vt:lpstr>Container </vt:lpstr>
      <vt:lpstr>Layout da tela</vt:lpstr>
      <vt:lpstr>Apresentação do PowerPoint</vt:lpstr>
      <vt:lpstr>Widgets para organizar</vt:lpstr>
      <vt:lpstr>Widgets para organizar</vt:lpstr>
      <vt:lpstr>Exemplo de Layout com Center</vt:lpstr>
      <vt:lpstr>Exemplo de Layout com Center</vt:lpstr>
      <vt:lpstr>Apresentação do PowerPoint</vt:lpstr>
      <vt:lpstr>Apresentação do PowerPoint</vt:lpstr>
      <vt:lpstr>Column</vt:lpstr>
      <vt:lpstr>Apresentação do PowerPoint</vt:lpstr>
      <vt:lpstr>Column</vt:lpstr>
      <vt:lpstr>Column</vt:lpstr>
      <vt:lpstr>Utilização de imagens em projetos Flutter</vt:lpstr>
      <vt:lpstr>Utilização de imagens em projetos Flutter</vt:lpstr>
      <vt:lpstr>Row</vt:lpstr>
      <vt:lpstr>Row</vt:lpstr>
      <vt:lpstr>Row</vt:lpstr>
      <vt:lpstr>Row</vt:lpstr>
      <vt:lpstr>Row</vt:lpstr>
      <vt:lpstr>Row</vt:lpstr>
      <vt:lpstr>Bora codar...</vt:lpstr>
      <vt:lpstr>Bora codar...</vt:lpstr>
      <vt:lpstr>Bora codar...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45</cp:revision>
  <dcterms:created xsi:type="dcterms:W3CDTF">2023-01-24T23:29:32Z</dcterms:created>
  <dcterms:modified xsi:type="dcterms:W3CDTF">2025-04-29T17:37:55Z</dcterms:modified>
</cp:coreProperties>
</file>