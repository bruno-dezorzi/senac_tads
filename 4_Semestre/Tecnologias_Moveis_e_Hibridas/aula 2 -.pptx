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331" r:id="rId2"/>
    <p:sldId id="260" r:id="rId3"/>
    <p:sldId id="299" r:id="rId4"/>
    <p:sldId id="300" r:id="rId5"/>
    <p:sldId id="301" r:id="rId6"/>
    <p:sldId id="302" r:id="rId7"/>
    <p:sldId id="303" r:id="rId8"/>
    <p:sldId id="294" r:id="rId9"/>
    <p:sldId id="305" r:id="rId10"/>
    <p:sldId id="306" r:id="rId11"/>
    <p:sldId id="307" r:id="rId12"/>
    <p:sldId id="308" r:id="rId13"/>
    <p:sldId id="309" r:id="rId14"/>
    <p:sldId id="304" r:id="rId15"/>
    <p:sldId id="311" r:id="rId16"/>
    <p:sldId id="312" r:id="rId17"/>
    <p:sldId id="310" r:id="rId18"/>
    <p:sldId id="313" r:id="rId19"/>
    <p:sldId id="314" r:id="rId20"/>
    <p:sldId id="316" r:id="rId21"/>
    <p:sldId id="315" r:id="rId22"/>
    <p:sldId id="317" r:id="rId23"/>
    <p:sldId id="318" r:id="rId24"/>
    <p:sldId id="321" r:id="rId25"/>
    <p:sldId id="320" r:id="rId26"/>
    <p:sldId id="322" r:id="rId27"/>
    <p:sldId id="323" r:id="rId28"/>
    <p:sldId id="324" r:id="rId29"/>
    <p:sldId id="325" r:id="rId30"/>
    <p:sldId id="326" r:id="rId31"/>
    <p:sldId id="327" r:id="rId32"/>
    <p:sldId id="328" r:id="rId33"/>
    <p:sldId id="330" r:id="rId34"/>
    <p:sldId id="329" r:id="rId35"/>
    <p:sldId id="297" r:id="rId36"/>
    <p:sldId id="298" r:id="rId37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ção Padrão" id="{A8CD4D28-960B-4804-B7A8-77CB24651156}">
          <p14:sldIdLst>
            <p14:sldId id="331"/>
            <p14:sldId id="260"/>
            <p14:sldId id="299"/>
            <p14:sldId id="300"/>
            <p14:sldId id="301"/>
            <p14:sldId id="302"/>
            <p14:sldId id="303"/>
            <p14:sldId id="294"/>
            <p14:sldId id="305"/>
            <p14:sldId id="306"/>
            <p14:sldId id="307"/>
            <p14:sldId id="308"/>
            <p14:sldId id="309"/>
            <p14:sldId id="304"/>
            <p14:sldId id="311"/>
            <p14:sldId id="312"/>
            <p14:sldId id="310"/>
            <p14:sldId id="313"/>
            <p14:sldId id="314"/>
            <p14:sldId id="316"/>
            <p14:sldId id="315"/>
            <p14:sldId id="317"/>
            <p14:sldId id="318"/>
            <p14:sldId id="321"/>
            <p14:sldId id="320"/>
            <p14:sldId id="322"/>
            <p14:sldId id="323"/>
            <p14:sldId id="324"/>
            <p14:sldId id="325"/>
            <p14:sldId id="326"/>
            <p14:sldId id="327"/>
            <p14:sldId id="328"/>
            <p14:sldId id="330"/>
            <p14:sldId id="329"/>
            <p14:sldId id="297"/>
            <p14:sldId id="29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BDAEA38-9C2C-46DD-BDDC-6B792C73FA2C}" v="4" dt="2025-02-17T20:04:49.29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6" d="100"/>
          <a:sy n="66" d="100"/>
        </p:scale>
        <p:origin x="1224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5/10/relationships/revisionInfo" Target="revisionInfo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theus raffael simon" userId="b81fe4e685964744" providerId="LiveId" clId="{5BDAEA38-9C2C-46DD-BDDC-6B792C73FA2C}"/>
    <pc:docChg chg="modSld">
      <pc:chgData name="matheus raffael simon" userId="b81fe4e685964744" providerId="LiveId" clId="{5BDAEA38-9C2C-46DD-BDDC-6B792C73FA2C}" dt="2025-02-17T20:04:53.609" v="26" actId="1076"/>
      <pc:docMkLst>
        <pc:docMk/>
      </pc:docMkLst>
      <pc:sldChg chg="addSp modSp mod">
        <pc:chgData name="matheus raffael simon" userId="b81fe4e685964744" providerId="LiveId" clId="{5BDAEA38-9C2C-46DD-BDDC-6B792C73FA2C}" dt="2025-02-17T20:04:53.609" v="26" actId="1076"/>
        <pc:sldMkLst>
          <pc:docMk/>
          <pc:sldMk cId="2630434875" sldId="315"/>
        </pc:sldMkLst>
        <pc:spChg chg="add mod">
          <ac:chgData name="matheus raffael simon" userId="b81fe4e685964744" providerId="LiveId" clId="{5BDAEA38-9C2C-46DD-BDDC-6B792C73FA2C}" dt="2025-02-17T20:03:45.881" v="14" actId="1076"/>
          <ac:spMkLst>
            <pc:docMk/>
            <pc:sldMk cId="2630434875" sldId="315"/>
            <ac:spMk id="5" creationId="{7510286B-2DD2-9E31-EE97-67813352027A}"/>
          </ac:spMkLst>
        </pc:spChg>
        <pc:spChg chg="add mod">
          <ac:chgData name="matheus raffael simon" userId="b81fe4e685964744" providerId="LiveId" clId="{5BDAEA38-9C2C-46DD-BDDC-6B792C73FA2C}" dt="2025-02-17T20:04:43.240" v="24" actId="1076"/>
          <ac:spMkLst>
            <pc:docMk/>
            <pc:sldMk cId="2630434875" sldId="315"/>
            <ac:spMk id="18" creationId="{434A6DC4-F5FE-5510-620E-F8B539F486E2}"/>
          </ac:spMkLst>
        </pc:spChg>
        <pc:spChg chg="add mod">
          <ac:chgData name="matheus raffael simon" userId="b81fe4e685964744" providerId="LiveId" clId="{5BDAEA38-9C2C-46DD-BDDC-6B792C73FA2C}" dt="2025-02-17T20:04:53.609" v="26" actId="1076"/>
          <ac:spMkLst>
            <pc:docMk/>
            <pc:sldMk cId="2630434875" sldId="315"/>
            <ac:spMk id="19" creationId="{AC6CB778-F8F7-60C4-1D4C-B1898476374D}"/>
          </ac:spMkLst>
        </pc:spChg>
        <pc:cxnChg chg="add mod">
          <ac:chgData name="matheus raffael simon" userId="b81fe4e685964744" providerId="LiveId" clId="{5BDAEA38-9C2C-46DD-BDDC-6B792C73FA2C}" dt="2025-02-17T20:04:05.413" v="17" actId="1582"/>
          <ac:cxnSpMkLst>
            <pc:docMk/>
            <pc:sldMk cId="2630434875" sldId="315"/>
            <ac:cxnSpMk id="14" creationId="{D6B35DA5-3C77-9311-3CF6-E89EF6A49AA6}"/>
          </ac:cxnSpMkLst>
        </pc:cxnChg>
        <pc:cxnChg chg="add mod">
          <ac:chgData name="matheus raffael simon" userId="b81fe4e685964744" providerId="LiveId" clId="{5BDAEA38-9C2C-46DD-BDDC-6B792C73FA2C}" dt="2025-02-17T20:04:14.113" v="20" actId="14100"/>
          <ac:cxnSpMkLst>
            <pc:docMk/>
            <pc:sldMk cId="2630434875" sldId="315"/>
            <ac:cxnSpMk id="15" creationId="{E959E22F-D579-00B7-43EF-FA74E7215D24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17/02/2025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461718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17/02/2025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248624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17/02/2025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941342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17/02/2025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43884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17/02/2025</a:t>
            </a:fld>
            <a:endParaRPr lang="pt-BR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58414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17/02/2025</a:t>
            </a:fld>
            <a:endParaRPr lang="pt-BR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857567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17/02/2025</a:t>
            </a:fld>
            <a:endParaRPr lang="pt-BR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400188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17/02/2025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589031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 dirty="0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17/02/2025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596975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17/02/2025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407700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17/02/2025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395588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AD9F01-DE70-421D-913C-5540CBA8C3E6}" type="datetimeFigureOut">
              <a:rPr lang="pt-BR" smtClean="0"/>
              <a:t>17/02/2025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591396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jpg"/><Relationship Id="rId5" Type="http://schemas.openxmlformats.org/officeDocument/2006/relationships/image" Target="../media/image7.jpg"/><Relationship Id="rId4" Type="http://schemas.openxmlformats.org/officeDocument/2006/relationships/image" Target="../media/image6.jpe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jpe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jpeg"/><Relationship Id="rId4" Type="http://schemas.openxmlformats.org/officeDocument/2006/relationships/image" Target="../media/image1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hyperlink" Target="https://g1.globo.com/tecnologia/noticia/2023/11/16/acesso-a-internet-cresce-no-brasil-e-chega-a-84percent-da-populacao-em-2023-diz-pesquisa.ghtml" TargetMode="Externa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/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tângulo 3"/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2" name="Imagem 1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029" y="297480"/>
            <a:ext cx="3093359" cy="1809615"/>
          </a:xfrm>
          <a:prstGeom prst="rect">
            <a:avLst/>
          </a:prstGeom>
        </p:spPr>
      </p:pic>
      <p:sp>
        <p:nvSpPr>
          <p:cNvPr id="13" name="Título 1"/>
          <p:cNvSpPr txBox="1">
            <a:spLocks/>
          </p:cNvSpPr>
          <p:nvPr/>
        </p:nvSpPr>
        <p:spPr>
          <a:xfrm>
            <a:off x="245097" y="3786809"/>
            <a:ext cx="11679810" cy="7286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2800"/>
              <a:t>TECNOLOGIAS MÓVEIS E HÍBRIDAS</a:t>
            </a:r>
            <a:endParaRPr lang="pt-BR" sz="2800" dirty="0"/>
          </a:p>
        </p:txBody>
      </p:sp>
      <p:sp>
        <p:nvSpPr>
          <p:cNvPr id="14" name="Subtítulo 2"/>
          <p:cNvSpPr txBox="1">
            <a:spLocks/>
          </p:cNvSpPr>
          <p:nvPr/>
        </p:nvSpPr>
        <p:spPr>
          <a:xfrm>
            <a:off x="245097" y="5142306"/>
            <a:ext cx="11679809" cy="75316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pt-BR" dirty="0"/>
              <a:t>Prof. Me. Matheus </a:t>
            </a:r>
            <a:r>
              <a:rPr lang="pt-BR" dirty="0" err="1"/>
              <a:t>Raffael</a:t>
            </a:r>
            <a:r>
              <a:rPr lang="pt-BR" dirty="0"/>
              <a:t> Simon</a:t>
            </a:r>
          </a:p>
        </p:txBody>
      </p:sp>
      <p:sp>
        <p:nvSpPr>
          <p:cNvPr id="15" name="Título 1"/>
          <p:cNvSpPr txBox="1">
            <a:spLocks/>
          </p:cNvSpPr>
          <p:nvPr/>
        </p:nvSpPr>
        <p:spPr>
          <a:xfrm>
            <a:off x="964096" y="2353636"/>
            <a:ext cx="10127973" cy="132099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3900" dirty="0"/>
              <a:t>TECNOLOGIA EM ANÁLISE E DESENVOLVIMENTO DE SISTEMAS</a:t>
            </a:r>
          </a:p>
        </p:txBody>
      </p:sp>
    </p:spTree>
    <p:extLst>
      <p:ext uri="{BB962C8B-B14F-4D97-AF65-F5344CB8AC3E}">
        <p14:creationId xmlns:p14="http://schemas.microsoft.com/office/powerpoint/2010/main" val="18836197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/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Objetivos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Geral:</a:t>
            </a:r>
          </a:p>
          <a:p>
            <a:pPr lvl="1"/>
            <a:r>
              <a:rPr lang="pt-BR" dirty="0"/>
              <a:t>Identificar as principais plataformas disponíveis no mercado para desenvolver para dispositivos móveis;</a:t>
            </a:r>
          </a:p>
          <a:p>
            <a:endParaRPr lang="pt-BR" dirty="0"/>
          </a:p>
          <a:p>
            <a:r>
              <a:rPr lang="pt-BR" dirty="0"/>
              <a:t>Específicos:</a:t>
            </a:r>
          </a:p>
          <a:p>
            <a:pPr lvl="1"/>
            <a:r>
              <a:rPr lang="pt-BR" dirty="0"/>
              <a:t>Identificar o que são dispositivos móveis;</a:t>
            </a:r>
          </a:p>
          <a:p>
            <a:pPr lvl="1"/>
            <a:r>
              <a:rPr lang="pt-BR" dirty="0"/>
              <a:t>Entender a importância do desenvolvimento para dispositivos móveis;</a:t>
            </a:r>
          </a:p>
          <a:p>
            <a:pPr lvl="1"/>
            <a:r>
              <a:rPr lang="pt-BR" dirty="0"/>
              <a:t>Elencar as principais dificuldades encontradas nesta abordagem;</a:t>
            </a:r>
          </a:p>
          <a:p>
            <a:pPr marL="457200" lvl="1" indent="0">
              <a:buNone/>
            </a:pPr>
            <a:endParaRPr lang="pt-BR" dirty="0"/>
          </a:p>
          <a:p>
            <a:endParaRPr lang="pt-BR" dirty="0"/>
          </a:p>
        </p:txBody>
      </p:sp>
      <p:sp>
        <p:nvSpPr>
          <p:cNvPr id="4" name="Retângulo 3"/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447878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/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Conteúdo Programático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Dispositivos móveis;</a:t>
            </a:r>
          </a:p>
          <a:p>
            <a:r>
              <a:rPr lang="pt-BR" dirty="0"/>
              <a:t>Além dos computadores tradicionais;</a:t>
            </a:r>
          </a:p>
          <a:p>
            <a:r>
              <a:rPr lang="pt-BR" dirty="0"/>
              <a:t>Desafios e complicadores;</a:t>
            </a:r>
          </a:p>
          <a:p>
            <a:r>
              <a:rPr lang="pt-BR" dirty="0"/>
              <a:t>Plataformas de aplicações móveis.</a:t>
            </a:r>
          </a:p>
          <a:p>
            <a:pPr marL="457200" lvl="1" indent="0">
              <a:buNone/>
            </a:pPr>
            <a:endParaRPr lang="pt-BR" dirty="0"/>
          </a:p>
          <a:p>
            <a:endParaRPr lang="pt-BR" dirty="0"/>
          </a:p>
        </p:txBody>
      </p:sp>
      <p:sp>
        <p:nvSpPr>
          <p:cNvPr id="4" name="Retângulo 3"/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3848" y="2788824"/>
            <a:ext cx="3991767" cy="3221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78046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/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124452"/>
          </a:xfrm>
        </p:spPr>
        <p:txBody>
          <a:bodyPr/>
          <a:lstStyle/>
          <a:p>
            <a:pPr algn="ctr"/>
            <a:r>
              <a:rPr lang="pt-BR" dirty="0"/>
              <a:t>Afinal o que são dispositivos móveis?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1" indent="0">
              <a:buNone/>
            </a:pPr>
            <a:endParaRPr lang="pt-BR" dirty="0"/>
          </a:p>
          <a:p>
            <a:endParaRPr lang="pt-BR" dirty="0"/>
          </a:p>
        </p:txBody>
      </p:sp>
      <p:sp>
        <p:nvSpPr>
          <p:cNvPr id="4" name="Retângulo 3"/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360120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/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811838"/>
          </a:xfrm>
        </p:spPr>
        <p:txBody>
          <a:bodyPr>
            <a:normAutofit/>
          </a:bodyPr>
          <a:lstStyle/>
          <a:p>
            <a:pPr algn="ctr"/>
            <a:r>
              <a:rPr lang="pt-BR" dirty="0"/>
              <a:t>Dispositivos móveis são tecnologias digitais que permitem a mobilidade e o acesso à internet. Pode-se citar como exemplos os smartphones e </a:t>
            </a:r>
            <a:r>
              <a:rPr lang="pt-BR" dirty="0" err="1"/>
              <a:t>tablets</a:t>
            </a:r>
            <a:r>
              <a:rPr lang="pt-BR" dirty="0"/>
              <a:t>.</a:t>
            </a:r>
            <a:br>
              <a:rPr lang="pt-BR" dirty="0"/>
            </a:br>
            <a:r>
              <a:rPr lang="pt-BR" dirty="0"/>
              <a:t>(</a:t>
            </a:r>
            <a:r>
              <a:rPr lang="pt-BR" dirty="0" err="1"/>
              <a:t>EduMobile</a:t>
            </a:r>
            <a:r>
              <a:rPr lang="pt-BR" dirty="0"/>
              <a:t>, UFRGS)</a:t>
            </a:r>
          </a:p>
        </p:txBody>
      </p:sp>
      <p:sp>
        <p:nvSpPr>
          <p:cNvPr id="4" name="Retângulo 3"/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67795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/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3665337"/>
          </a:xfrm>
        </p:spPr>
        <p:txBody>
          <a:bodyPr>
            <a:normAutofit/>
          </a:bodyPr>
          <a:lstStyle/>
          <a:p>
            <a:pPr algn="ctr"/>
            <a:r>
              <a:rPr lang="pt-BR" dirty="0"/>
              <a:t>Além dos computadores tradicionais</a:t>
            </a:r>
          </a:p>
        </p:txBody>
      </p:sp>
      <p:sp>
        <p:nvSpPr>
          <p:cNvPr id="4" name="Retângulo 3"/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6116" y="2925208"/>
            <a:ext cx="4016088" cy="3711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40240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/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783271"/>
          </a:xfrm>
        </p:spPr>
        <p:txBody>
          <a:bodyPr>
            <a:normAutofit/>
          </a:bodyPr>
          <a:lstStyle/>
          <a:p>
            <a:pPr algn="ctr"/>
            <a:r>
              <a:rPr lang="pt-BR" dirty="0"/>
              <a:t>Além dos computadores tradicionais</a:t>
            </a:r>
          </a:p>
        </p:txBody>
      </p:sp>
      <p:sp>
        <p:nvSpPr>
          <p:cNvPr id="4" name="Retângulo 3"/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7" name="Picture 2" descr="Resultado de imagem para android wear">
            <a:extLst>
              <a:ext uri="{FF2B5EF4-FFF2-40B4-BE49-F238E27FC236}">
                <a16:creationId xmlns:a16="http://schemas.microsoft.com/office/drawing/2014/main" id="{5F06C900-FED4-5F40-BBBA-038637768B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298" y="4265176"/>
            <a:ext cx="4440582" cy="22202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6" descr="Resultado de imagem para android tv">
            <a:extLst>
              <a:ext uri="{FF2B5EF4-FFF2-40B4-BE49-F238E27FC236}">
                <a16:creationId xmlns:a16="http://schemas.microsoft.com/office/drawing/2014/main" id="{5DE17401-36A0-A04A-9FFF-75B6824B0B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111" y="2261414"/>
            <a:ext cx="3335742" cy="20037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4" descr="Resultado de imagem para android auto">
            <a:extLst>
              <a:ext uri="{FF2B5EF4-FFF2-40B4-BE49-F238E27FC236}">
                <a16:creationId xmlns:a16="http://schemas.microsoft.com/office/drawing/2014/main" id="{F79ED036-E3C0-0744-8316-7C08AF173F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846396">
            <a:off x="4358372" y="2564424"/>
            <a:ext cx="2970643" cy="16709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07EA8588-DA26-BE46-80E2-DD3FC5AC1E1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05251">
            <a:off x="4620216" y="4898048"/>
            <a:ext cx="2282163" cy="1520687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8FF849CF-8C66-A044-A9B8-0839193DF5B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740503">
            <a:off x="7543767" y="4446066"/>
            <a:ext cx="4376343" cy="159007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E29C8348-EEFC-0B44-898F-82FCDA994E1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32800" y="2261414"/>
            <a:ext cx="2285699" cy="1789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11836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/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Porque desenvolver para Dispositivos móveis?</a:t>
            </a:r>
            <a:endParaRPr lang="pt-BR" i="1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A quantidade destes dispositivos aumenta a cada dia;</a:t>
            </a:r>
          </a:p>
          <a:p>
            <a:endParaRPr lang="pt-BR" dirty="0"/>
          </a:p>
          <a:p>
            <a:r>
              <a:rPr lang="pt-BR" dirty="0"/>
              <a:t>Mais dispositivos móveis acessando internet que computadores tradicionais;</a:t>
            </a:r>
          </a:p>
          <a:p>
            <a:endParaRPr lang="pt-BR" dirty="0"/>
          </a:p>
          <a:p>
            <a:r>
              <a:rPr lang="pt-BR" dirty="0"/>
              <a:t>Plataformas móveis expandindo para outros meios: relógios, carros, </a:t>
            </a:r>
            <a:r>
              <a:rPr lang="pt-BR" dirty="0" err="1"/>
              <a:t>tvs</a:t>
            </a:r>
            <a:r>
              <a:rPr lang="pt-BR" dirty="0"/>
              <a:t>, ...</a:t>
            </a:r>
          </a:p>
        </p:txBody>
      </p:sp>
      <p:sp>
        <p:nvSpPr>
          <p:cNvPr id="4" name="Retângulo 3"/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034873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/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Um mercado crescente</a:t>
            </a:r>
            <a:endParaRPr lang="pt-BR" i="1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pt-BR" dirty="0"/>
              <a:t>Uso da Internet no Brasil – TIC Domicílios 2023.</a:t>
            </a:r>
          </a:p>
          <a:p>
            <a:r>
              <a:rPr lang="pt-BR" dirty="0"/>
              <a:t>84% da população brasileira com 10 anos ou mais;</a:t>
            </a:r>
          </a:p>
          <a:p>
            <a:r>
              <a:rPr lang="pt-BR" dirty="0"/>
              <a:t>58% dos usuários acessaram a internet apenas pelo celular;</a:t>
            </a:r>
          </a:p>
          <a:p>
            <a:r>
              <a:rPr lang="pt-BR" dirty="0"/>
              <a:t>85% da população na área urbana;</a:t>
            </a:r>
          </a:p>
          <a:p>
            <a:r>
              <a:rPr lang="pt-BR" dirty="0"/>
              <a:t>78% da população na área rural;</a:t>
            </a:r>
          </a:p>
          <a:p>
            <a:r>
              <a:rPr lang="pt-BR" dirty="0"/>
              <a:t>Por renda Classe A 97%; Classe B 95%; Classe C 88%; Classes D e </a:t>
            </a:r>
            <a:r>
              <a:rPr lang="pt-BR" dirty="0" err="1"/>
              <a:t>E</a:t>
            </a:r>
            <a:r>
              <a:rPr lang="pt-BR" dirty="0"/>
              <a:t> 69%;</a:t>
            </a:r>
          </a:p>
          <a:p>
            <a:r>
              <a:rPr lang="pt-BR" dirty="0"/>
              <a:t>Por escolaridade Superior 97%; Médio 93%; Fundamental 75%; Analfabeto ou Educação Infantil 32%;</a:t>
            </a:r>
          </a:p>
          <a:p>
            <a:r>
              <a:rPr lang="pt-BR" dirty="0"/>
              <a:t>93% dos domicílios possuem algum celular;</a:t>
            </a:r>
          </a:p>
        </p:txBody>
      </p:sp>
      <p:sp>
        <p:nvSpPr>
          <p:cNvPr id="4" name="Retângulo 3"/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888128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/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Um mercado crescente</a:t>
            </a:r>
            <a:endParaRPr lang="pt-BR" i="1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TIC Domicílios 2023.</a:t>
            </a:r>
          </a:p>
        </p:txBody>
      </p:sp>
      <p:sp>
        <p:nvSpPr>
          <p:cNvPr id="4" name="Retângulo 3"/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1574" y="2368425"/>
            <a:ext cx="6484052" cy="4394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77103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/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Um mercado crescente</a:t>
            </a:r>
            <a:endParaRPr lang="pt-BR" i="1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TIC Domicílios 2023.</a:t>
            </a:r>
          </a:p>
        </p:txBody>
      </p:sp>
      <p:sp>
        <p:nvSpPr>
          <p:cNvPr id="4" name="Retângulo 3"/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69CD9C06-E42A-B643-B876-12ADECE70E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774" y="288615"/>
            <a:ext cx="10603273" cy="6247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86732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/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 err="1"/>
              <a:t>Apps</a:t>
            </a:r>
            <a:r>
              <a:rPr lang="pt-BR" dirty="0"/>
              <a:t> para celulares</a:t>
            </a:r>
            <a:endParaRPr lang="pt-BR" i="1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Mobile Banking – 34% das transações bancárias;</a:t>
            </a:r>
          </a:p>
          <a:p>
            <a:r>
              <a:rPr lang="pt-BR" dirty="0" err="1"/>
              <a:t>Apps</a:t>
            </a:r>
            <a:r>
              <a:rPr lang="pt-BR" dirty="0"/>
              <a:t> de relacionamento:</a:t>
            </a:r>
          </a:p>
          <a:p>
            <a:pPr lvl="1"/>
            <a:r>
              <a:rPr lang="pt-BR" dirty="0"/>
              <a:t>Crescimento de 50%;</a:t>
            </a:r>
          </a:p>
          <a:p>
            <a:r>
              <a:rPr lang="pt-BR" dirty="0"/>
              <a:t>O Brasileiro gasta em média R$300,00 com </a:t>
            </a:r>
            <a:r>
              <a:rPr lang="pt-BR" dirty="0" err="1"/>
              <a:t>apps</a:t>
            </a:r>
            <a:r>
              <a:rPr lang="pt-BR" dirty="0"/>
              <a:t> de transporte: </a:t>
            </a:r>
            <a:r>
              <a:rPr lang="pt-BR" dirty="0" err="1"/>
              <a:t>uber</a:t>
            </a:r>
            <a:r>
              <a:rPr lang="pt-BR" dirty="0"/>
              <a:t>, 99pop ...</a:t>
            </a:r>
          </a:p>
          <a:p>
            <a:r>
              <a:rPr lang="pt-BR" dirty="0"/>
              <a:t>Uma infinidade de </a:t>
            </a:r>
            <a:r>
              <a:rPr lang="pt-BR" dirty="0" err="1"/>
              <a:t>apps</a:t>
            </a:r>
            <a:r>
              <a:rPr lang="pt-BR" dirty="0"/>
              <a:t>: redes sociais, troca de mensagens, lojas virtuais, serviços de streaming de música, de filmes e séries para </a:t>
            </a:r>
            <a:r>
              <a:rPr lang="pt-BR" dirty="0" err="1"/>
              <a:t>tv</a:t>
            </a:r>
            <a:r>
              <a:rPr lang="pt-BR" dirty="0"/>
              <a:t>,  etc...</a:t>
            </a:r>
          </a:p>
          <a:p>
            <a:r>
              <a:rPr lang="pt-BR" dirty="0"/>
              <a:t>Aplicativos para gestão de negócios, agricultura, governo digital, ... </a:t>
            </a:r>
          </a:p>
        </p:txBody>
      </p:sp>
      <p:sp>
        <p:nvSpPr>
          <p:cNvPr id="4" name="Retângulo 3"/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772537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/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440871"/>
          </a:xfrm>
        </p:spPr>
        <p:txBody>
          <a:bodyPr/>
          <a:lstStyle/>
          <a:p>
            <a:pPr algn="ctr"/>
            <a:r>
              <a:rPr lang="pt-BR" dirty="0"/>
              <a:t>Desafios e Complicadores</a:t>
            </a:r>
            <a:endParaRPr lang="pt-BR" i="1" dirty="0"/>
          </a:p>
        </p:txBody>
      </p:sp>
      <p:sp>
        <p:nvSpPr>
          <p:cNvPr id="4" name="Retângulo 3"/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59956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/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Desafios e Complicadores</a:t>
            </a:r>
            <a:endParaRPr lang="pt-BR" i="1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/>
              <a:t>Recursos físicos limitados;</a:t>
            </a:r>
          </a:p>
          <a:p>
            <a:endParaRPr lang="pt-BR" dirty="0"/>
          </a:p>
          <a:p>
            <a:r>
              <a:rPr lang="pt-BR" dirty="0"/>
              <a:t>Contextos de uso diversificados;</a:t>
            </a:r>
          </a:p>
          <a:p>
            <a:endParaRPr lang="pt-BR" dirty="0"/>
          </a:p>
          <a:p>
            <a:r>
              <a:rPr lang="pt-BR" dirty="0"/>
              <a:t>Diferentes atividades;</a:t>
            </a:r>
          </a:p>
          <a:p>
            <a:endParaRPr lang="pt-BR" dirty="0"/>
          </a:p>
          <a:p>
            <a:r>
              <a:rPr lang="pt-BR" dirty="0"/>
              <a:t>Atenção limitada;</a:t>
            </a:r>
          </a:p>
          <a:p>
            <a:endParaRPr lang="pt-BR" dirty="0"/>
          </a:p>
          <a:p>
            <a:r>
              <a:rPr lang="pt-BR" dirty="0"/>
              <a:t>Sensores e mais sensores.</a:t>
            </a:r>
          </a:p>
        </p:txBody>
      </p:sp>
      <p:sp>
        <p:nvSpPr>
          <p:cNvPr id="4" name="Retângulo 3"/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260057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/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Recursos Limitados</a:t>
            </a:r>
            <a:endParaRPr lang="pt-BR" i="1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CPU, Memória, Tamanho de Tela variável e pequeno, Dispositivos de Entrada, Tempo de Bateria...</a:t>
            </a:r>
          </a:p>
        </p:txBody>
      </p:sp>
      <p:sp>
        <p:nvSpPr>
          <p:cNvPr id="4" name="Retângulo 3"/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8086DFE0-316E-2045-B9CC-D079B1D97F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1813" y="2638033"/>
            <a:ext cx="9499600" cy="4061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1846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/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Contextos de Uso Diversificado</a:t>
            </a:r>
            <a:endParaRPr lang="pt-BR" i="1" dirty="0"/>
          </a:p>
        </p:txBody>
      </p:sp>
      <p:sp>
        <p:nvSpPr>
          <p:cNvPr id="4" name="Retângulo 3"/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7" name="Espaço Reservado para Conteúdo 6">
            <a:extLst>
              <a:ext uri="{FF2B5EF4-FFF2-40B4-BE49-F238E27FC236}">
                <a16:creationId xmlns:a16="http://schemas.microsoft.com/office/drawing/2014/main" id="{0C70C79F-A76B-6A49-86F0-FC5BFD6CF08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54361" y="2305938"/>
            <a:ext cx="10779000" cy="3544446"/>
          </a:xfrm>
        </p:spPr>
      </p:pic>
    </p:spTree>
    <p:extLst>
      <p:ext uri="{BB962C8B-B14F-4D97-AF65-F5344CB8AC3E}">
        <p14:creationId xmlns:p14="http://schemas.microsoft.com/office/powerpoint/2010/main" val="33242891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/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Diferentes Atividades</a:t>
            </a:r>
            <a:endParaRPr lang="pt-BR" i="1" dirty="0"/>
          </a:p>
        </p:txBody>
      </p:sp>
      <p:sp>
        <p:nvSpPr>
          <p:cNvPr id="4" name="Retângulo 3"/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6" name="Espaço Reservado para Conteúdo 5">
            <a:extLst>
              <a:ext uri="{FF2B5EF4-FFF2-40B4-BE49-F238E27FC236}">
                <a16:creationId xmlns:a16="http://schemas.microsoft.com/office/drawing/2014/main" id="{0A4F3CF1-2FF3-8F42-BDA0-3C89B44A5FE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53408" y="1947131"/>
            <a:ext cx="8801100" cy="4019550"/>
          </a:xfrm>
        </p:spPr>
      </p:pic>
    </p:spTree>
    <p:extLst>
      <p:ext uri="{BB962C8B-B14F-4D97-AF65-F5344CB8AC3E}">
        <p14:creationId xmlns:p14="http://schemas.microsoft.com/office/powerpoint/2010/main" val="15806089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/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Atenção Limitada</a:t>
            </a:r>
            <a:endParaRPr lang="pt-BR" i="1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Repense se uma tarefa típica da sua solução.</a:t>
            </a:r>
          </a:p>
          <a:p>
            <a:r>
              <a:rPr lang="pt-BR" dirty="0"/>
              <a:t>Requer mais que 10 minutos de atenção do seu usuário.</a:t>
            </a:r>
          </a:p>
        </p:txBody>
      </p:sp>
      <p:sp>
        <p:nvSpPr>
          <p:cNvPr id="4" name="Retângulo 3"/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6" name="Espaço Reservado para Conteúdo 6">
            <a:extLst>
              <a:ext uri="{FF2B5EF4-FFF2-40B4-BE49-F238E27FC236}">
                <a16:creationId xmlns:a16="http://schemas.microsoft.com/office/drawing/2014/main" id="{C3E33136-7649-1843-BEAE-15BD4290E8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3193" y="3060234"/>
            <a:ext cx="5534880" cy="3116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26612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/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Sensores e mais sensores</a:t>
            </a:r>
            <a:endParaRPr lang="pt-BR" i="1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Sensores e funcionalidades diversos:</a:t>
            </a:r>
          </a:p>
          <a:p>
            <a:r>
              <a:rPr lang="pt-BR" dirty="0"/>
              <a:t>Umidade e temperatura, movimento, luminosidade, etc... </a:t>
            </a:r>
          </a:p>
          <a:p>
            <a:r>
              <a:rPr lang="pt-BR" dirty="0"/>
              <a:t>Maior cobrança na precisão e na velocidade da informação.</a:t>
            </a:r>
          </a:p>
          <a:p>
            <a:r>
              <a:rPr lang="pt-BR" dirty="0"/>
              <a:t>Tire o máximo de proveito desse recurso.</a:t>
            </a:r>
          </a:p>
          <a:p>
            <a:r>
              <a:rPr lang="pt-BR" dirty="0"/>
              <a:t>Diferentes dispositivos, sensores diferentes.</a:t>
            </a:r>
          </a:p>
        </p:txBody>
      </p:sp>
      <p:sp>
        <p:nvSpPr>
          <p:cNvPr id="4" name="Retângulo 3"/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094796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/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574036"/>
          </a:xfrm>
        </p:spPr>
        <p:txBody>
          <a:bodyPr/>
          <a:lstStyle/>
          <a:p>
            <a:pPr algn="ctr"/>
            <a:r>
              <a:rPr lang="pt-BR" dirty="0"/>
              <a:t>Plataformas para Desenvolvimento</a:t>
            </a:r>
            <a:endParaRPr lang="pt-BR" i="1" dirty="0"/>
          </a:p>
        </p:txBody>
      </p:sp>
      <p:sp>
        <p:nvSpPr>
          <p:cNvPr id="4" name="Retângulo 3"/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433019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/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Plataformas mais comuns para desenvolvimento de </a:t>
            </a:r>
            <a:r>
              <a:rPr lang="pt-BR" dirty="0" err="1"/>
              <a:t>Apps</a:t>
            </a:r>
            <a:r>
              <a:rPr lang="pt-BR" dirty="0"/>
              <a:t> para celulares</a:t>
            </a:r>
            <a:endParaRPr lang="pt-BR" i="1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5"/>
            <a:ext cx="3325427" cy="4351338"/>
          </a:xfrm>
        </p:spPr>
        <p:txBody>
          <a:bodyPr>
            <a:normAutofit/>
          </a:bodyPr>
          <a:lstStyle/>
          <a:p>
            <a:r>
              <a:rPr lang="en-US" dirty="0"/>
              <a:t>Adobe AIR</a:t>
            </a:r>
          </a:p>
          <a:p>
            <a:r>
              <a:rPr lang="en-US" dirty="0"/>
              <a:t>Blackberry</a:t>
            </a:r>
          </a:p>
          <a:p>
            <a:r>
              <a:rPr lang="en-US" dirty="0"/>
              <a:t>Java ME</a:t>
            </a:r>
          </a:p>
          <a:p>
            <a:r>
              <a:rPr lang="en-US" dirty="0"/>
              <a:t>Symbian</a:t>
            </a:r>
          </a:p>
          <a:p>
            <a:r>
              <a:rPr lang="en-US" dirty="0"/>
              <a:t>iOS</a:t>
            </a:r>
          </a:p>
          <a:p>
            <a:r>
              <a:rPr lang="en-US" dirty="0"/>
              <a:t>Windows Phone</a:t>
            </a:r>
          </a:p>
          <a:p>
            <a:r>
              <a:rPr lang="en-US" dirty="0"/>
              <a:t>Android</a:t>
            </a:r>
          </a:p>
        </p:txBody>
      </p:sp>
      <p:sp>
        <p:nvSpPr>
          <p:cNvPr id="4" name="Retângulo 3"/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6" name="Picture 6" descr="http://www.freeiconspng.com/uploads/displaying-18-images-for-android-music-icon-png--27.png">
            <a:extLst>
              <a:ext uri="{FF2B5EF4-FFF2-40B4-BE49-F238E27FC236}">
                <a16:creationId xmlns:a16="http://schemas.microsoft.com/office/drawing/2014/main" id="{06FBDF69-B9B7-FD47-AD8B-052F701BE5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08492" y="5027759"/>
            <a:ext cx="717718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8" descr="IOS 10.0 beta home screen.png">
            <a:extLst>
              <a:ext uri="{FF2B5EF4-FFF2-40B4-BE49-F238E27FC236}">
                <a16:creationId xmlns:a16="http://schemas.microsoft.com/office/drawing/2014/main" id="{4E3BBC96-1955-E847-986C-925305B955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7496" y="2037579"/>
            <a:ext cx="1428620" cy="25372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10" descr="Windows Phone 8 logo and wordmark (purple).svg">
            <a:extLst>
              <a:ext uri="{FF2B5EF4-FFF2-40B4-BE49-F238E27FC236}">
                <a16:creationId xmlns:a16="http://schemas.microsoft.com/office/drawing/2014/main" id="{29562FBE-1E28-D948-B466-1D39913631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0313" y="4983500"/>
            <a:ext cx="2095500" cy="295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519E257F-1472-9B4C-86E3-351FC60386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0715" y="2426575"/>
            <a:ext cx="2055098" cy="1888232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AB5AF490-FFC7-CA4B-A912-7C8D477349D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87799" y="1690688"/>
            <a:ext cx="2559104" cy="3195905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75CBBC54-A7E5-3C42-A513-962BD5993EA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13348" y="5027759"/>
            <a:ext cx="1122638" cy="547373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7510286B-2DD2-9E31-EE97-67813352027A}"/>
              </a:ext>
            </a:extLst>
          </p:cNvPr>
          <p:cNvSpPr txBox="1"/>
          <p:nvPr/>
        </p:nvSpPr>
        <p:spPr>
          <a:xfrm>
            <a:off x="3891759" y="5526888"/>
            <a:ext cx="22949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Ainda existe?</a:t>
            </a:r>
          </a:p>
        </p:txBody>
      </p: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D6B35DA5-3C77-9311-3CF6-E89EF6A49AA6}"/>
              </a:ext>
            </a:extLst>
          </p:cNvPr>
          <p:cNvCxnSpPr/>
          <p:nvPr/>
        </p:nvCxnSpPr>
        <p:spPr>
          <a:xfrm>
            <a:off x="3298785" y="2291638"/>
            <a:ext cx="2486500" cy="2283171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to 14">
            <a:extLst>
              <a:ext uri="{FF2B5EF4-FFF2-40B4-BE49-F238E27FC236}">
                <a16:creationId xmlns:a16="http://schemas.microsoft.com/office/drawing/2014/main" id="{E959E22F-D579-00B7-43EF-FA74E7215D24}"/>
              </a:ext>
            </a:extLst>
          </p:cNvPr>
          <p:cNvCxnSpPr>
            <a:cxnSpLocks/>
          </p:cNvCxnSpPr>
          <p:nvPr/>
        </p:nvCxnSpPr>
        <p:spPr>
          <a:xfrm flipH="1">
            <a:off x="3440313" y="2145832"/>
            <a:ext cx="2092150" cy="221238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434A6DC4-F5FE-5510-620E-F8B539F486E2}"/>
              </a:ext>
            </a:extLst>
          </p:cNvPr>
          <p:cNvSpPr txBox="1"/>
          <p:nvPr/>
        </p:nvSpPr>
        <p:spPr>
          <a:xfrm rot="17770629">
            <a:off x="2129339" y="1527724"/>
            <a:ext cx="22949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Ainda existe?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AC6CB778-F8F7-60C4-1D4C-B1898476374D}"/>
              </a:ext>
            </a:extLst>
          </p:cNvPr>
          <p:cNvSpPr txBox="1"/>
          <p:nvPr/>
        </p:nvSpPr>
        <p:spPr>
          <a:xfrm rot="17770629">
            <a:off x="1972333" y="2530847"/>
            <a:ext cx="22949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Ainda existe?</a:t>
            </a:r>
          </a:p>
        </p:txBody>
      </p:sp>
    </p:spTree>
    <p:extLst>
      <p:ext uri="{BB962C8B-B14F-4D97-AF65-F5344CB8AC3E}">
        <p14:creationId xmlns:p14="http://schemas.microsoft.com/office/powerpoint/2010/main" val="26304348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/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pt-BR" dirty="0"/>
              <a:t>Participação no mercado Brasileiro em 2022, segundo </a:t>
            </a:r>
            <a:r>
              <a:rPr lang="pt-BR" dirty="0" err="1"/>
              <a:t>CupomValido</a:t>
            </a:r>
            <a:r>
              <a:rPr lang="pt-BR" dirty="0"/>
              <a:t> e </a:t>
            </a:r>
            <a:r>
              <a:rPr lang="pt-BR" dirty="0" err="1"/>
              <a:t>Statista</a:t>
            </a:r>
            <a:r>
              <a:rPr lang="pt-BR" dirty="0"/>
              <a:t> e </a:t>
            </a:r>
            <a:r>
              <a:rPr lang="pt-BR" dirty="0" err="1"/>
              <a:t>Statcounter</a:t>
            </a:r>
            <a:r>
              <a:rPr lang="pt-BR" dirty="0"/>
              <a:t>.</a:t>
            </a:r>
            <a:endParaRPr lang="pt-BR" i="1" dirty="0"/>
          </a:p>
        </p:txBody>
      </p:sp>
      <p:sp>
        <p:nvSpPr>
          <p:cNvPr id="4" name="Retângulo 3"/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525" y="2780152"/>
            <a:ext cx="10121966" cy="1095913"/>
          </a:xfrm>
          <a:prstGeom prst="rect">
            <a:avLst/>
          </a:prstGeom>
        </p:spPr>
      </p:pic>
      <p:pic>
        <p:nvPicPr>
          <p:cNvPr id="6" name="Imagem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8803" y="4750692"/>
            <a:ext cx="4705140" cy="629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397195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/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Estratégias de Desenvolvimento</a:t>
            </a:r>
            <a:endParaRPr lang="pt-BR" i="1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Nativo</a:t>
            </a:r>
          </a:p>
          <a:p>
            <a:r>
              <a:rPr lang="pt-BR" dirty="0"/>
              <a:t>Aplicações Web</a:t>
            </a:r>
          </a:p>
          <a:p>
            <a:r>
              <a:rPr lang="pt-BR" dirty="0"/>
              <a:t>Aplicações híbridas</a:t>
            </a:r>
          </a:p>
        </p:txBody>
      </p:sp>
      <p:sp>
        <p:nvSpPr>
          <p:cNvPr id="4" name="Retângulo 3"/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490730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/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Nativo</a:t>
            </a:r>
            <a:endParaRPr lang="pt-BR" i="1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Desenvolvedor especialista para cada plataforma;</a:t>
            </a:r>
          </a:p>
          <a:p>
            <a:r>
              <a:rPr lang="pt-BR" dirty="0"/>
              <a:t>Possui acesso à todos os recursos do dispositivo, com bom desempenho (acelerômetro, giroscópio, </a:t>
            </a:r>
            <a:r>
              <a:rPr lang="pt-BR" dirty="0" err="1"/>
              <a:t>geolocalização</a:t>
            </a:r>
            <a:r>
              <a:rPr lang="pt-BR" dirty="0"/>
              <a:t>, </a:t>
            </a:r>
            <a:r>
              <a:rPr lang="pt-BR" dirty="0" err="1"/>
              <a:t>etc</a:t>
            </a:r>
            <a:r>
              <a:rPr lang="pt-BR" dirty="0"/>
              <a:t>);</a:t>
            </a:r>
          </a:p>
          <a:p>
            <a:r>
              <a:rPr lang="pt-BR" dirty="0"/>
              <a:t>Como são desenvolvidos especificamente para cada plataforma, explora muito bem toda a UX/UI , seguindo o padrão de interface do usuário adequadamente.</a:t>
            </a:r>
          </a:p>
          <a:p>
            <a:endParaRPr lang="pt-BR" dirty="0"/>
          </a:p>
          <a:p>
            <a:r>
              <a:rPr lang="pt-BR" dirty="0" err="1"/>
              <a:t>Android</a:t>
            </a:r>
            <a:endParaRPr lang="pt-BR" dirty="0"/>
          </a:p>
          <a:p>
            <a:r>
              <a:rPr lang="pt-BR" dirty="0"/>
              <a:t>IOS</a:t>
            </a:r>
          </a:p>
        </p:txBody>
      </p:sp>
      <p:sp>
        <p:nvSpPr>
          <p:cNvPr id="4" name="Retângulo 3"/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2353853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/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Google Play </a:t>
            </a:r>
            <a:r>
              <a:rPr lang="pt-BR" dirty="0" err="1"/>
              <a:t>Store</a:t>
            </a:r>
            <a:endParaRPr lang="pt-BR" i="1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 err="1"/>
              <a:t>App</a:t>
            </a:r>
            <a:r>
              <a:rPr lang="pt-BR" dirty="0"/>
              <a:t> disponível para download em questão de horas;</a:t>
            </a:r>
          </a:p>
          <a:p>
            <a:endParaRPr lang="pt-BR" dirty="0"/>
          </a:p>
          <a:p>
            <a:r>
              <a:rPr lang="pt-BR" dirty="0"/>
              <a:t>Pode-se atualizar o </a:t>
            </a:r>
            <a:r>
              <a:rPr lang="pt-BR" dirty="0" err="1"/>
              <a:t>app</a:t>
            </a:r>
            <a:r>
              <a:rPr lang="pt-BR" dirty="0"/>
              <a:t> diversas vezes ao dia;</a:t>
            </a:r>
          </a:p>
          <a:p>
            <a:endParaRPr lang="pt-BR" dirty="0"/>
          </a:p>
          <a:p>
            <a:r>
              <a:rPr lang="pt-BR" dirty="0"/>
              <a:t>Permite lançar </a:t>
            </a:r>
            <a:r>
              <a:rPr lang="pt-BR" dirty="0" err="1"/>
              <a:t>app</a:t>
            </a:r>
            <a:r>
              <a:rPr lang="pt-BR" dirty="0"/>
              <a:t> versão beta para um grupo de usuários teste.</a:t>
            </a:r>
          </a:p>
        </p:txBody>
      </p:sp>
      <p:sp>
        <p:nvSpPr>
          <p:cNvPr id="4" name="Retângulo 3"/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6662121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/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IOS</a:t>
            </a:r>
            <a:endParaRPr lang="pt-BR" i="1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/>
              <a:t>Publico mais seleto, fidelizado e engajado;</a:t>
            </a:r>
          </a:p>
          <a:p>
            <a:endParaRPr lang="pt-BR" dirty="0"/>
          </a:p>
          <a:p>
            <a:r>
              <a:rPr lang="pt-BR" dirty="0"/>
              <a:t>Para desenvolver iOS é necessário hardware Apple;</a:t>
            </a:r>
          </a:p>
          <a:p>
            <a:endParaRPr lang="pt-BR" dirty="0"/>
          </a:p>
          <a:p>
            <a:r>
              <a:rPr lang="pt-BR" dirty="0"/>
              <a:t>Necessário uma licença para desenvolver – tem custo U$99 anual;</a:t>
            </a:r>
          </a:p>
          <a:p>
            <a:endParaRPr lang="pt-BR" dirty="0"/>
          </a:p>
          <a:p>
            <a:r>
              <a:rPr lang="pt-BR" dirty="0" err="1"/>
              <a:t>Objective</a:t>
            </a:r>
            <a:r>
              <a:rPr lang="pt-BR" dirty="0"/>
              <a:t> C e Swift;</a:t>
            </a:r>
          </a:p>
          <a:p>
            <a:endParaRPr lang="pt-BR" dirty="0"/>
          </a:p>
          <a:p>
            <a:r>
              <a:rPr lang="pt-BR" dirty="0"/>
              <a:t>Apple </a:t>
            </a:r>
            <a:r>
              <a:rPr lang="pt-BR" dirty="0" err="1"/>
              <a:t>Store</a:t>
            </a:r>
            <a:r>
              <a:rPr lang="pt-BR" dirty="0"/>
              <a:t>.</a:t>
            </a:r>
          </a:p>
        </p:txBody>
      </p:sp>
      <p:sp>
        <p:nvSpPr>
          <p:cNvPr id="4" name="Retângulo 3"/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1019299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/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Apple </a:t>
            </a:r>
            <a:r>
              <a:rPr lang="pt-BR" dirty="0" err="1"/>
              <a:t>Store</a:t>
            </a:r>
            <a:endParaRPr lang="pt-BR" i="1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pt-BR" dirty="0"/>
          </a:p>
          <a:p>
            <a:r>
              <a:rPr lang="pt-BR" dirty="0"/>
              <a:t>Muito restrita no processo de aceitação da publicação do </a:t>
            </a:r>
            <a:r>
              <a:rPr lang="pt-BR" dirty="0" err="1"/>
              <a:t>app</a:t>
            </a:r>
            <a:r>
              <a:rPr lang="pt-BR" dirty="0"/>
              <a:t>;</a:t>
            </a:r>
          </a:p>
          <a:p>
            <a:endParaRPr lang="pt-BR" dirty="0"/>
          </a:p>
          <a:p>
            <a:endParaRPr lang="pt-BR" dirty="0"/>
          </a:p>
          <a:p>
            <a:r>
              <a:rPr lang="pt-BR" dirty="0"/>
              <a:t>Retorno financeiro.</a:t>
            </a:r>
          </a:p>
          <a:p>
            <a:endParaRPr lang="pt-BR" dirty="0"/>
          </a:p>
        </p:txBody>
      </p:sp>
      <p:sp>
        <p:nvSpPr>
          <p:cNvPr id="4" name="Retângulo 3"/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5535223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/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Desenvolvimento Web</a:t>
            </a:r>
            <a:endParaRPr lang="pt-BR" i="1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Vantagem da independência de plataforma;</a:t>
            </a:r>
          </a:p>
          <a:p>
            <a:endParaRPr lang="pt-BR" dirty="0"/>
          </a:p>
          <a:p>
            <a:r>
              <a:rPr lang="pt-BR" dirty="0"/>
              <a:t>Uso de tecnologia amplamente conhecida: HTML5, CSS, JS, etc...</a:t>
            </a:r>
          </a:p>
          <a:p>
            <a:endParaRPr lang="pt-BR" dirty="0"/>
          </a:p>
        </p:txBody>
      </p:sp>
      <p:sp>
        <p:nvSpPr>
          <p:cNvPr id="4" name="Retângulo 3"/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5469907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/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Desenvolvimento Hibrido</a:t>
            </a:r>
            <a:endParaRPr lang="pt-BR" i="1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Muitos celulares de fabricantes diferentes utilizam versões diferentes de </a:t>
            </a:r>
            <a:r>
              <a:rPr lang="pt-BR" dirty="0" err="1"/>
              <a:t>android</a:t>
            </a:r>
            <a:r>
              <a:rPr lang="pt-BR" dirty="0"/>
              <a:t>;</a:t>
            </a:r>
          </a:p>
          <a:p>
            <a:endParaRPr lang="pt-BR" dirty="0"/>
          </a:p>
          <a:p>
            <a:r>
              <a:rPr lang="pt-BR" dirty="0"/>
              <a:t>Necessidade de </a:t>
            </a:r>
            <a:r>
              <a:rPr lang="pt-BR" dirty="0" err="1"/>
              <a:t>app</a:t>
            </a:r>
            <a:r>
              <a:rPr lang="pt-BR" dirty="0"/>
              <a:t> para mais plataformas (</a:t>
            </a:r>
            <a:r>
              <a:rPr lang="pt-BR" dirty="0" err="1"/>
              <a:t>android</a:t>
            </a:r>
            <a:r>
              <a:rPr lang="pt-BR" dirty="0"/>
              <a:t> e iOS por exemplo);</a:t>
            </a:r>
          </a:p>
          <a:p>
            <a:endParaRPr lang="pt-BR" dirty="0"/>
          </a:p>
          <a:p>
            <a:r>
              <a:rPr lang="pt-BR" dirty="0"/>
              <a:t>Acesso a sensores e componentes dos celulares diferentes.</a:t>
            </a:r>
          </a:p>
          <a:p>
            <a:endParaRPr lang="pt-BR" dirty="0"/>
          </a:p>
        </p:txBody>
      </p:sp>
      <p:sp>
        <p:nvSpPr>
          <p:cNvPr id="4" name="Retângulo 3"/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6316148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/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Frameworks para abordagem  Híbrida</a:t>
            </a:r>
            <a:endParaRPr lang="pt-BR" i="1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Adobe </a:t>
            </a:r>
            <a:r>
              <a:rPr lang="pt-BR" dirty="0" err="1"/>
              <a:t>PhoneGap</a:t>
            </a:r>
            <a:r>
              <a:rPr lang="pt-BR" dirty="0"/>
              <a:t>: Usa HTML5, CSS3 e JS sem necessidade de </a:t>
            </a:r>
            <a:r>
              <a:rPr lang="pt-BR" dirty="0" err="1"/>
              <a:t>api</a:t>
            </a:r>
            <a:r>
              <a:rPr lang="pt-BR" dirty="0"/>
              <a:t> específicas. Os </a:t>
            </a:r>
            <a:r>
              <a:rPr lang="pt-BR" dirty="0" err="1"/>
              <a:t>apps</a:t>
            </a:r>
            <a:r>
              <a:rPr lang="pt-BR" dirty="0"/>
              <a:t> criados são compatíveis com iOS e </a:t>
            </a:r>
            <a:r>
              <a:rPr lang="pt-BR" dirty="0" err="1"/>
              <a:t>Android</a:t>
            </a:r>
            <a:r>
              <a:rPr lang="pt-BR" dirty="0"/>
              <a:t>;</a:t>
            </a:r>
          </a:p>
          <a:p>
            <a:r>
              <a:rPr lang="pt-BR" dirty="0" err="1"/>
              <a:t>Xamarin</a:t>
            </a:r>
            <a:r>
              <a:rPr lang="pt-BR" dirty="0"/>
              <a:t>: </a:t>
            </a:r>
            <a:r>
              <a:rPr lang="pt-BR" dirty="0" err="1"/>
              <a:t>multiplataforma</a:t>
            </a:r>
            <a:r>
              <a:rPr lang="pt-BR" dirty="0"/>
              <a:t> par desenvolvedores C#, mas tem muitas limitações;</a:t>
            </a:r>
          </a:p>
          <a:p>
            <a:r>
              <a:rPr lang="pt-BR" dirty="0" err="1"/>
              <a:t>Flutter</a:t>
            </a:r>
            <a:r>
              <a:rPr lang="pt-BR" dirty="0"/>
              <a:t>: framework </a:t>
            </a:r>
            <a:r>
              <a:rPr lang="pt-BR" dirty="0" err="1"/>
              <a:t>google</a:t>
            </a:r>
            <a:r>
              <a:rPr lang="pt-BR" dirty="0"/>
              <a:t> para criar interfaces nativas de alta qualidade  no iOS e no </a:t>
            </a:r>
            <a:r>
              <a:rPr lang="pt-BR" dirty="0" err="1"/>
              <a:t>Android</a:t>
            </a:r>
            <a:r>
              <a:rPr lang="pt-BR" dirty="0"/>
              <a:t>. Solução gratuita e de código aberto. Usa linguagem DART onde o código é compilado antes da execução o que faz carregamento do </a:t>
            </a:r>
            <a:r>
              <a:rPr lang="pt-BR" dirty="0" err="1"/>
              <a:t>app</a:t>
            </a:r>
            <a:r>
              <a:rPr lang="pt-BR" dirty="0"/>
              <a:t> e das animações do mesmo é mais fluido;</a:t>
            </a:r>
          </a:p>
          <a:p>
            <a:r>
              <a:rPr lang="pt-BR" dirty="0"/>
              <a:t>Entre outros...</a:t>
            </a:r>
          </a:p>
          <a:p>
            <a:endParaRPr lang="pt-BR" dirty="0"/>
          </a:p>
        </p:txBody>
      </p:sp>
      <p:sp>
        <p:nvSpPr>
          <p:cNvPr id="4" name="Retângulo 3"/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7244400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/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Desenvolvimento Hibrido</a:t>
            </a:r>
            <a:endParaRPr lang="pt-BR" i="1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Tecnologia web para camada visão: HTML, CSS e JS; </a:t>
            </a:r>
          </a:p>
          <a:p>
            <a:r>
              <a:rPr lang="pt-BR" dirty="0"/>
              <a:t>um único código fonte para plataformas diferentes (</a:t>
            </a:r>
            <a:r>
              <a:rPr lang="pt-BR" dirty="0" err="1"/>
              <a:t>Android</a:t>
            </a:r>
            <a:r>
              <a:rPr lang="pt-BR" dirty="0"/>
              <a:t>, iOS e Windows Phone);</a:t>
            </a:r>
          </a:p>
          <a:p>
            <a:r>
              <a:rPr lang="pt-BR" dirty="0"/>
              <a:t>Tem a capacidade de acessar recursos nativos do dispositivo através do </a:t>
            </a:r>
            <a:r>
              <a:rPr lang="pt-BR" dirty="0" err="1"/>
              <a:t>Cordova</a:t>
            </a:r>
            <a:r>
              <a:rPr lang="pt-BR" dirty="0"/>
              <a:t>/</a:t>
            </a:r>
            <a:r>
              <a:rPr lang="pt-BR" dirty="0" err="1"/>
              <a:t>Phonegap</a:t>
            </a:r>
            <a:r>
              <a:rPr lang="pt-BR" dirty="0"/>
              <a:t> ou outros frameworks disponíveis, que servem basicamente para criar um </a:t>
            </a:r>
            <a:r>
              <a:rPr lang="pt-BR" dirty="0" err="1"/>
              <a:t>app</a:t>
            </a:r>
            <a:r>
              <a:rPr lang="pt-BR" dirty="0"/>
              <a:t> nativo, capaz de abrir uma </a:t>
            </a:r>
            <a:r>
              <a:rPr lang="pt-BR" dirty="0" err="1"/>
              <a:t>webview</a:t>
            </a:r>
            <a:r>
              <a:rPr lang="pt-BR" dirty="0"/>
              <a:t> executando o HTML/CSS e </a:t>
            </a:r>
            <a:r>
              <a:rPr lang="pt-BR" dirty="0" err="1"/>
              <a:t>JavaScript</a:t>
            </a:r>
            <a:r>
              <a:rPr lang="pt-BR" dirty="0"/>
              <a:t>, e mostrar ao usuário;</a:t>
            </a:r>
          </a:p>
          <a:p>
            <a:r>
              <a:rPr lang="pt-BR" dirty="0"/>
              <a:t>Respeita a UX/UI do sistema operacional do dispositivo, porém, utiliza um navegador embutido no aplicativo para demonstrar ao usuário.</a:t>
            </a:r>
          </a:p>
        </p:txBody>
      </p:sp>
      <p:sp>
        <p:nvSpPr>
          <p:cNvPr id="4" name="Retângulo 3"/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3227418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/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Desenvolvimento Hibrido</a:t>
            </a:r>
            <a:endParaRPr lang="pt-BR" i="1" dirty="0"/>
          </a:p>
        </p:txBody>
      </p:sp>
      <p:sp>
        <p:nvSpPr>
          <p:cNvPr id="4" name="Retângulo 3"/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6" name="Espaço Reservado para Conteúdo 6">
            <a:extLst>
              <a:ext uri="{FF2B5EF4-FFF2-40B4-BE49-F238E27FC236}">
                <a16:creationId xmlns:a16="http://schemas.microsoft.com/office/drawing/2014/main" id="{13476320-DD7E-2F42-9266-516E429008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80721" y="2527899"/>
            <a:ext cx="9642791" cy="2816458"/>
          </a:xfrm>
        </p:spPr>
      </p:pic>
    </p:spTree>
    <p:extLst>
      <p:ext uri="{BB962C8B-B14F-4D97-AF65-F5344CB8AC3E}">
        <p14:creationId xmlns:p14="http://schemas.microsoft.com/office/powerpoint/2010/main" val="160253770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/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Desenvolvimento Hibrido</a:t>
            </a:r>
            <a:endParaRPr lang="pt-BR" i="1" dirty="0"/>
          </a:p>
        </p:txBody>
      </p:sp>
      <p:sp>
        <p:nvSpPr>
          <p:cNvPr id="4" name="Retângulo 3"/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err="1"/>
              <a:t>Xamarin</a:t>
            </a:r>
            <a:endParaRPr lang="pt-BR" dirty="0"/>
          </a:p>
        </p:txBody>
      </p:sp>
      <p:pic>
        <p:nvPicPr>
          <p:cNvPr id="7" name="Espaço Reservado para Conteúdo 5">
            <a:extLst>
              <a:ext uri="{FF2B5EF4-FFF2-40B4-BE49-F238E27FC236}">
                <a16:creationId xmlns:a16="http://schemas.microsoft.com/office/drawing/2014/main" id="{3CC8937C-BF27-EA42-9580-B5DDF7DEE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4763" y="2328863"/>
            <a:ext cx="5524500" cy="3848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380448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/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811838"/>
          </a:xfrm>
        </p:spPr>
        <p:txBody>
          <a:bodyPr/>
          <a:lstStyle/>
          <a:p>
            <a:pPr algn="ctr"/>
            <a:r>
              <a:rPr lang="pt-BR" dirty="0"/>
              <a:t>Qual abordagem escolher?</a:t>
            </a:r>
            <a:endParaRPr lang="pt-BR" i="1" dirty="0"/>
          </a:p>
        </p:txBody>
      </p:sp>
      <p:sp>
        <p:nvSpPr>
          <p:cNvPr id="4" name="Retângulo 3"/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4883776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/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Referências Bibliográficas</a:t>
            </a:r>
            <a:endParaRPr lang="pt-BR" i="1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pt-BR" dirty="0"/>
              <a:t>TIC Domicílios 2023. Acesso à internet no Brasil. Disponível em: </a:t>
            </a:r>
            <a:r>
              <a:rPr lang="pt-BR" dirty="0">
                <a:hlinkClick r:id="rId2"/>
              </a:rPr>
              <a:t>https://g1.globo.com/tecnologia/noticia/2023/11/16/acesso-a-internet-cresce-no-brasil-e-chega-a-84percent-da-populacao-em-2023-diz-pesquisa.ghtml</a:t>
            </a:r>
            <a:r>
              <a:rPr lang="pt-BR" dirty="0"/>
              <a:t>. Acesso em 16/04/2024.</a:t>
            </a:r>
          </a:p>
          <a:p>
            <a:r>
              <a:rPr lang="pt-BR" dirty="0"/>
              <a:t>E-</a:t>
            </a:r>
            <a:r>
              <a:rPr lang="pt-BR" dirty="0" err="1"/>
              <a:t>commerceBrasil</a:t>
            </a:r>
            <a:r>
              <a:rPr lang="pt-BR" dirty="0"/>
              <a:t>. Uso do celular no Brasil. Disponível em: https://www.ecommercebrasil.com.br/noticias/pesquisa-shopee-3-em-cada-10-vendedores-brasileiros-tem-o-e-commerce-como-principal-renda. Acesso em 16/04/2024.</a:t>
            </a:r>
          </a:p>
          <a:p>
            <a:r>
              <a:rPr lang="pt-BR" dirty="0"/>
              <a:t>LEE, V.; SCHENEIDER, H.; SCHELL, R. Aplicações móveis: arquitetura, projeto e desenvolvimento. São Paulo: Pearson </a:t>
            </a:r>
            <a:r>
              <a:rPr lang="pt-BR" dirty="0" err="1"/>
              <a:t>Education</a:t>
            </a:r>
            <a:r>
              <a:rPr lang="pt-BR" dirty="0"/>
              <a:t>: Makron Books, 2005. 328 p.</a:t>
            </a:r>
          </a:p>
          <a:p>
            <a:r>
              <a:rPr lang="pt-BR" dirty="0"/>
              <a:t>SILVA, M. S. HTML 5: a linguagem de marcação que revolucionou a web. São Paulo: </a:t>
            </a:r>
            <a:r>
              <a:rPr lang="pt-BR" dirty="0" err="1"/>
              <a:t>Novatec</a:t>
            </a:r>
            <a:r>
              <a:rPr lang="pt-BR" dirty="0"/>
              <a:t>, 2011.  </a:t>
            </a:r>
          </a:p>
          <a:p>
            <a:r>
              <a:rPr lang="pt-BR" dirty="0"/>
              <a:t>SILVA, M. S. </a:t>
            </a:r>
            <a:r>
              <a:rPr lang="pt-BR" dirty="0" err="1"/>
              <a:t>JQuery</a:t>
            </a:r>
            <a:r>
              <a:rPr lang="pt-BR" dirty="0"/>
              <a:t> Mobile: desenvolva aplicações web para dispositivos móveis com HTMLS, CSS3, AJAX, </a:t>
            </a:r>
            <a:r>
              <a:rPr lang="pt-BR" dirty="0" err="1"/>
              <a:t>jQuery</a:t>
            </a:r>
            <a:r>
              <a:rPr lang="pt-BR" dirty="0"/>
              <a:t> e </a:t>
            </a:r>
            <a:r>
              <a:rPr lang="pt-BR" dirty="0" err="1"/>
              <a:t>jQuery</a:t>
            </a:r>
            <a:r>
              <a:rPr lang="pt-BR" dirty="0"/>
              <a:t> UI. São Paulo: </a:t>
            </a:r>
            <a:r>
              <a:rPr lang="pt-BR" dirty="0" err="1"/>
              <a:t>Novatec</a:t>
            </a:r>
            <a:r>
              <a:rPr lang="pt-BR" dirty="0"/>
              <a:t>, 2012.</a:t>
            </a:r>
            <a:endParaRPr lang="pt-BR" dirty="0">
              <a:solidFill>
                <a:schemeClr val="accent2">
                  <a:lumMod val="20000"/>
                  <a:lumOff val="80000"/>
                </a:schemeClr>
              </a:solidFill>
            </a:endParaRPr>
          </a:p>
          <a:p>
            <a:endParaRPr lang="pt-BR" dirty="0"/>
          </a:p>
          <a:p>
            <a:endParaRPr lang="pt-BR" dirty="0"/>
          </a:p>
        </p:txBody>
      </p:sp>
      <p:sp>
        <p:nvSpPr>
          <p:cNvPr id="4" name="Retângulo 3"/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1933660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/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1776674"/>
            <a:ext cx="10515600" cy="1325563"/>
          </a:xfrm>
        </p:spPr>
        <p:txBody>
          <a:bodyPr/>
          <a:lstStyle/>
          <a:p>
            <a:pPr algn="ctr"/>
            <a:r>
              <a:rPr lang="pt-BR" dirty="0"/>
              <a:t>Obrigado pela atenção.</a:t>
            </a:r>
            <a:endParaRPr lang="pt-BR" i="1" dirty="0"/>
          </a:p>
        </p:txBody>
      </p:sp>
      <p:sp>
        <p:nvSpPr>
          <p:cNvPr id="4" name="Retângulo 3"/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" name="Título 1"/>
          <p:cNvSpPr txBox="1">
            <a:spLocks/>
          </p:cNvSpPr>
          <p:nvPr/>
        </p:nvSpPr>
        <p:spPr>
          <a:xfrm>
            <a:off x="827202" y="397981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dirty="0"/>
              <a:t>Dúvidas?</a:t>
            </a:r>
            <a:endParaRPr lang="pt-BR" i="1" dirty="0"/>
          </a:p>
        </p:txBody>
      </p:sp>
    </p:spTree>
    <p:extLst>
      <p:ext uri="{BB962C8B-B14F-4D97-AF65-F5344CB8AC3E}">
        <p14:creationId xmlns:p14="http://schemas.microsoft.com/office/powerpoint/2010/main" val="349257958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1790</TotalTime>
  <Words>1090</Words>
  <Application>Microsoft Office PowerPoint</Application>
  <PresentationFormat>Widescreen</PresentationFormat>
  <Paragraphs>148</Paragraphs>
  <Slides>36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36</vt:i4>
      </vt:variant>
    </vt:vector>
  </HeadingPairs>
  <TitlesOfParts>
    <vt:vector size="40" baseType="lpstr">
      <vt:lpstr>Arial</vt:lpstr>
      <vt:lpstr>Calibri</vt:lpstr>
      <vt:lpstr>Calibri Light</vt:lpstr>
      <vt:lpstr>Tema do Office</vt:lpstr>
      <vt:lpstr>Apresentação do PowerPoint</vt:lpstr>
      <vt:lpstr>Objetivos</vt:lpstr>
      <vt:lpstr>Conteúdo Programático</vt:lpstr>
      <vt:lpstr>Afinal o que são dispositivos móveis?</vt:lpstr>
      <vt:lpstr>Dispositivos móveis são tecnologias digitais que permitem a mobilidade e o acesso à internet. Pode-se citar como exemplos os smartphones e tablets. (EduMobile, UFRGS)</vt:lpstr>
      <vt:lpstr>Além dos computadores tradicionais</vt:lpstr>
      <vt:lpstr>Além dos computadores tradicionais</vt:lpstr>
      <vt:lpstr>Porque desenvolver para Dispositivos móveis?</vt:lpstr>
      <vt:lpstr>Um mercado crescente</vt:lpstr>
      <vt:lpstr>Um mercado crescente</vt:lpstr>
      <vt:lpstr>Um mercado crescente</vt:lpstr>
      <vt:lpstr>Apps para celulares</vt:lpstr>
      <vt:lpstr>Desafios e Complicadores</vt:lpstr>
      <vt:lpstr>Desafios e Complicadores</vt:lpstr>
      <vt:lpstr>Recursos Limitados</vt:lpstr>
      <vt:lpstr>Contextos de Uso Diversificado</vt:lpstr>
      <vt:lpstr>Diferentes Atividades</vt:lpstr>
      <vt:lpstr>Atenção Limitada</vt:lpstr>
      <vt:lpstr>Sensores e mais sensores</vt:lpstr>
      <vt:lpstr>Plataformas para Desenvolvimento</vt:lpstr>
      <vt:lpstr>Plataformas mais comuns para desenvolvimento de Apps para celulares</vt:lpstr>
      <vt:lpstr>Participação no mercado Brasileiro em 2022, segundo CupomValido e Statista e Statcounter.</vt:lpstr>
      <vt:lpstr>Estratégias de Desenvolvimento</vt:lpstr>
      <vt:lpstr>Nativo</vt:lpstr>
      <vt:lpstr>Google Play Store</vt:lpstr>
      <vt:lpstr>IOS</vt:lpstr>
      <vt:lpstr>Apple Store</vt:lpstr>
      <vt:lpstr>Desenvolvimento Web</vt:lpstr>
      <vt:lpstr>Desenvolvimento Hibrido</vt:lpstr>
      <vt:lpstr>Frameworks para abordagem  Híbrida</vt:lpstr>
      <vt:lpstr>Desenvolvimento Hibrido</vt:lpstr>
      <vt:lpstr>Desenvolvimento Hibrido</vt:lpstr>
      <vt:lpstr>Desenvolvimento Hibrido</vt:lpstr>
      <vt:lpstr>Qual abordagem escolher?</vt:lpstr>
      <vt:lpstr>Referências Bibliográficas</vt:lpstr>
      <vt:lpstr>Obrigado pela atenção.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Circuitos lógicos combinacionais e sequenciais</dc:title>
  <dc:creator>Matheus</dc:creator>
  <cp:lastModifiedBy>matheus raffael simon</cp:lastModifiedBy>
  <cp:revision>68</cp:revision>
  <dcterms:created xsi:type="dcterms:W3CDTF">2023-01-24T23:29:32Z</dcterms:created>
  <dcterms:modified xsi:type="dcterms:W3CDTF">2025-02-17T20:04:53Z</dcterms:modified>
</cp:coreProperties>
</file>